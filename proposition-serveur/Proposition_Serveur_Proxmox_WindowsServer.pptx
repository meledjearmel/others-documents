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78fa788-620f-d113-e2f6-27b5c0aefe19}">
          <p14:sldIdLst>
            <p14:sldId id="256"/>
          </p14:sldIdLst>
        </p14:section>
        <p14:section name="Le constat" id="{aab7c0ec-7080-9838-a30e-f1e952b5ad93}">
          <p14:sldIdLst>
            <p14:sldId id="257"/>
            <p14:sldId id="258"/>
          </p14:sldIdLst>
        </p14:section>
        <p14:section name="La solution" id="{ed561382-a84a-f0d1-a383-6ca209c1974d}">
          <p14:sldIdLst>
            <p14:sldId id="259"/>
            <p14:sldId id="260"/>
            <p14:sldId id="261"/>
            <p14:sldId id="262"/>
          </p14:sldIdLst>
        </p14:section>
        <p14:section name="Investissement" id="{1ec9e9c8-3687-caa9-d9a1-edb5aae6dbcd}">
          <p14:sldIdLst>
            <p14:sldId id="263"/>
            <p14:sldId id="264"/>
            <p14:sldId id="265"/>
            <p14:sldId id="266"/>
          </p14:sldIdLst>
        </p14:section>
        <p14:section name="Option sécurité" id="{d0b2e7f0-ab01-ea36-de6d-339caa2173cc}">
          <p14:sldIdLst>
            <p14:sldId id="267"/>
            <p14:sldId id="268"/>
            <p14:sldId id="269"/>
          </p14:sldIdLst>
        </p14:section>
        <p14:section name="Conclusion" id="{9a758952-758d-a95b-df93-031b521bab07}">
          <p14:sldIdLst>
            <p14:sldId id="270"/>
          </p14:sldIdLst>
        </p14:section>
        <p14:section name="Annexe" id="{b8bba9e3-2ffd-1eef-a866-a91b11f4747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Aujourd'hui, chaque ordinateur de l'entreprise vit sa vie de son côté. On vous propose de tout relier à un ordinateur central, le serveur, pour que tout soit organisé, protégé et facile à gérer. Et en cadeau, on vous fait votre site internet.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Plus il y a d'ordinateurs et d'employés, plus c'est difficile de savoir qui fait quoi. Les mots de passe circulent, chacun installe ce qu'il veut, et le jour où un virus arrive ou qu'un ordinateur tombe en panne, tout s'arrête. Vous vous reconnaissez dans une de ces étapes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Notre idée est simple : que vos ordinateurs soient bien rangés, protégés, et qu'on puisse vous aider à distance, sans se déplacer. » Faire une petite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de bas en haut : « En bas, le serveur : c'est un ordinateur central qui reste allumé. Dessus, Proxmox, un logiciel gratuit qui nous laisse de la place pour ajouter d'autres outils plus tard. Ensuite Windows Server : c'est le chef d'orchestre. Il crée un compte pour chaque employé et applique automatiquement les mêmes règles sur tous les ordinateurs. Tout en haut : vos 15 postes, bien réglés. » Image utile : le serveur est comme le gardien d'un immeuble qui a toutes les clés.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Voici ce qui change pour vous au quotidien. » Insister sur le départ d'un employé : « Aujourd'hui, un ancien employé peut encore ouvrir vos fichiers. Demain, on désactive son compte en un clic et c'est terminé.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L'administrateur peut s'occuper de vos ordinateurs depuis chez lui ou en déplacement, grâce à une connexion privée et protégée qui s'appelle Tailscale. C'est comme un couloir secret que lui seul peut emprunter. Un problème ? Il le règle en quelques minutes, sans venir sur place.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On a choisi des outils connus et fiables. Et surtout, pas d'abonnement : une fois installé, tout vous appartient.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Vous n'avez rien à faire : on installe le serveur, on crée les comptes, on règle la sécurité, on relie les 15 ordinateurs et on prépare l'accès à distance. Tout est compris dans ce prix.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Le total est de 1 150 000 FCFA, payé une seule fois. Ramené à vos 15 ordinateurs, c'est environ 77 000 FCFA par poste. C'est souvent moins cher qu'une seule journée de travail perdue à cause d'une panne.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On ne vous laisse pas seul. Les 3 premiers mois, on surveille et on corrige gratuitement. Ensuite, si vous voulez, on continue avec un suivi à partir de 100 000 FCFA tous les 3 mois, à discuter ensemble.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Et pour vous remercier de votre confiance, on vous offre votre site internet, d'une valeur de 365 000 FCFA. Vos clients pourront vous trouver sur Google et vous contacter facilement.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Organiser vos ordinateurs, c'est bien. Les protéger, c'est indispensable. Il existe des virus qui verrouillent tous vos fichiers et demandent de l'argent pour les débloquer. » C'est une option à part : le client peut la prendre maintenant ou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L'administrateur surveille la sécurité de tous vos appareils, ordinateurs et téléphones, depuis un seul écran. S'il y a un danger, il est prévenu tout de suite.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Je ne vous donne pas de prix aujourd'hui. Posez-vous juste cette question : combien vous coûterait une journée où plus personne ne peut travailler ? » Proposer ensuite une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dire : « Si cela vous convient, on peut commencer tout de suite. Quelle semaine vous arrange pour l'installation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secours : à montrer si quelqu'un demande ce que veut dire un mot. Lire simplement la définition.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uvertu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air-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eu-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85216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548640" y="4069080"/>
            <a:ext cx="539496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i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400" b="1"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chemeClr val="accent6"/>
                </a:solidFill>
              </a:rPr>
              <a:t>Proposition commerciale · Infrastructure informatique · Prix HT en FCFA</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eu">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slideLayout" Target="../slideLayouts/slideLayout3.xml"/><Relationship Id="rId2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_0"/>
          <p:cNvSpPr/>
          <p:nvPr/>
        </p:nvSpPr>
        <p:spPr>
          <a:xfrm>
            <a:off x="548640" y="548640"/>
            <a:ext cx="548640" cy="548640"/>
          </a:xfrm>
          <a:prstGeom prst="ellipse">
            <a:avLst/>
          </a:prstGeom>
          <a:solidFill>
            <a:schemeClr val="accent1"/>
          </a:solidFill>
          <a:ln w="12700">
            <a:solidFill>
              <a:schemeClr val="accent1"/>
            </a:solidFill>
            <a:prstDash val="solid"/>
          </a:ln>
        </p:spPr>
      </p:sp>
      <p:pic>
        <p:nvPicPr>
          <p:cNvPr id="3" name="a1_1" descr="preencoded.png">    </p:cNvPr>
          <p:cNvPicPr>
            <a:picLocks noChangeAspect="1"/>
          </p:cNvPicPr>
          <p:nvPr/>
        </p:nvPicPr>
        <p:blipFill>
          <a:blip r:embed="rId1"/>
          <a:stretch>
            <a:fillRect/>
          </a:stretch>
        </p:blipFill>
        <p:spPr>
          <a:xfrm>
            <a:off x="691286" y="691286"/>
            <a:ext cx="263347" cy="263347"/>
          </a:xfrm>
          <a:prstGeom prst="rect">
            <a:avLst/>
          </a:prstGeom>
        </p:spPr>
      </p:pic>
      <p:sp>
        <p:nvSpPr>
          <p:cNvPr id="4" name="a1_2"/>
          <p:cNvSpPr txBox="1"/>
          <p:nvPr/>
        </p:nvSpPr>
        <p:spPr>
          <a:xfrm>
            <a:off x="1234440" y="548640"/>
            <a:ext cx="4572000" cy="548640"/>
          </a:xfrm>
          <a:prstGeom prst="rect">
            <a:avLst/>
          </a:prstGeom>
          <a:noFill/>
          <a:ln/>
        </p:spPr>
        <p:txBody>
          <a:bodyPr wrap="square" lIns="0" tIns="0" rIns="0" bIns="0" rtlCol="0" anchor="ctr"/>
          <a:lstStyle/>
          <a:p>
            <a:pPr indent="0" marL="0">
              <a:buNone/>
            </a:pPr>
            <a:r>
              <a:rPr lang="en-US" sz="1400" b="1" spc="200" kern="0" dirty="0">
                <a:solidFill>
                  <a:schemeClr val="accent1"/>
                </a:solidFill>
              </a:rPr>
              <a:t>PROPOSITION COMMERCIALE</a:t>
            </a:r>
            <a:endParaRPr lang="en-US" sz="1400" dirty="0"/>
          </a:p>
        </p:txBody>
      </p:sp>
      <p:sp>
        <p:nvSpPr>
          <p:cNvPr id="5" name="Text 0"/>
          <p:cNvSpPr/>
          <p:nvPr>
            <p:ph idx="100" type="title" hasCustomPrompt="1"/>
          </p:nvPr>
        </p:nvSpPr>
        <p:spPr>
          <a:xfrm>
            <a:off x="548640" y="1920240"/>
            <a:ext cx="5852160" cy="2011680"/>
          </a:xfrm>
          <a:prstGeom prst="rect">
            <a:avLst/>
          </a:prstGeom>
          <a:noFill/>
          <a:ln/>
        </p:spPr>
        <p:txBody>
          <a:bodyPr wrap="square" rtlCol="0" anchor="b"/>
          <a:lstStyle/>
          <a:p>
            <a:pPr algn="l" indent="0" marL="0">
              <a:buNone/>
            </a:pPr>
            <a:r>
              <a:rPr lang="en-US" sz="4400" b="1" dirty="0">
                <a:solidFill>
                  <a:schemeClr val="tx1"/>
                </a:solidFill>
              </a:rPr>
              <a:t>Reprenez le </a:t>
            </a:r>
            <a:pPr algn="l" indent="0" marL="0">
              <a:buNone/>
            </a:pPr>
            <a:r>
              <a:rPr lang="en-US" sz="4400" b="1" dirty="0">
                <a:solidFill>
                  <a:schemeClr val="accent1"/>
                </a:solidFill>
              </a:rPr>
              <a:t>contrôle</a:t>
            </a:r>
            <a:pPr algn="l" indent="0" marL="0">
              <a:buNone/>
            </a:pPr>
            <a:r>
              <a:rPr lang="en-US" sz="4400" b="1" dirty="0">
                <a:solidFill>
                  <a:schemeClr val="tx1"/>
                </a:solidFill>
              </a:rPr>
              <a:t> de votre parc informatique</a:t>
            </a:r>
            <a:endParaRPr lang="en-US" sz="4400" dirty="0"/>
          </a:p>
        </p:txBody>
      </p:sp>
      <p:sp>
        <p:nvSpPr>
          <p:cNvPr id="6" name="Text 0"/>
          <p:cNvSpPr/>
          <p:nvPr>
            <p:ph idx="101" type="body" hasCustomPrompt="1"/>
          </p:nvPr>
        </p:nvSpPr>
        <p:spPr>
          <a:xfrm>
            <a:off x="548640" y="4069080"/>
            <a:ext cx="5394960" cy="914400"/>
          </a:xfrm>
          <a:prstGeom prst="rect">
            <a:avLst/>
          </a:prstGeom>
          <a:noFill/>
          <a:ln/>
        </p:spPr>
        <p:txBody>
          <a:bodyPr wrap="square" rtlCol="0" anchor="t"/>
          <a:lstStyle/>
          <a:p>
            <a:pPr indent="0" marL="0">
              <a:buNone/>
            </a:pPr>
            <a:r>
              <a:rPr lang="en-US" sz="1800" dirty="0">
                <a:solidFill>
                  <a:schemeClr val="accent6"/>
                </a:solidFill>
              </a:rPr>
              <a:t>Un serveur, une administration centralisée, 15 postes sous contrôle — et votre site web offert.</a:t>
            </a:r>
            <a:endParaRPr lang="en-US" sz="1800" dirty="0"/>
          </a:p>
        </p:txBody>
      </p:sp>
      <p:sp>
        <p:nvSpPr>
          <p:cNvPr id="7" name="a2_3"/>
          <p:cNvSpPr/>
          <p:nvPr/>
        </p:nvSpPr>
        <p:spPr>
          <a:xfrm>
            <a:off x="548640" y="5074920"/>
            <a:ext cx="1463040" cy="384048"/>
          </a:xfrm>
          <a:prstGeom prst="roundRect">
            <a:avLst>
              <a:gd name="adj" fmla="val 50000"/>
            </a:avLst>
          </a:prstGeom>
          <a:solidFill>
            <a:schemeClr val="bg2"/>
          </a:solidFill>
          <a:ln w="12700">
            <a:solidFill>
              <a:schemeClr val="accent4"/>
            </a:solidFill>
            <a:prstDash val="solid"/>
          </a:ln>
        </p:spPr>
      </p:sp>
      <p:sp>
        <p:nvSpPr>
          <p:cNvPr id="8" name="a2_4"/>
          <p:cNvSpPr txBox="1"/>
          <p:nvPr/>
        </p:nvSpPr>
        <p:spPr>
          <a:xfrm>
            <a:off x="548640" y="5074920"/>
            <a:ext cx="1463040" cy="384048"/>
          </a:xfrm>
          <a:prstGeom prst="rect">
            <a:avLst/>
          </a:prstGeom>
          <a:noFill/>
          <a:ln/>
        </p:spPr>
        <p:txBody>
          <a:bodyPr wrap="square" lIns="0" tIns="0" rIns="0" bIns="0" rtlCol="0" anchor="ctr"/>
          <a:lstStyle/>
          <a:p>
            <a:pPr algn="ctr" indent="0" marL="0">
              <a:buNone/>
            </a:pPr>
            <a:r>
              <a:rPr lang="en-US" sz="1300" b="1" dirty="0">
                <a:solidFill>
                  <a:schemeClr val="tx2"/>
                </a:solidFill>
              </a:rPr>
              <a:t>Proxmox VE</a:t>
            </a:r>
            <a:endParaRPr lang="en-US" sz="1300" dirty="0"/>
          </a:p>
        </p:txBody>
      </p:sp>
      <p:sp>
        <p:nvSpPr>
          <p:cNvPr id="9" name="a2_5"/>
          <p:cNvSpPr/>
          <p:nvPr/>
        </p:nvSpPr>
        <p:spPr>
          <a:xfrm>
            <a:off x="2148840" y="5074920"/>
            <a:ext cx="1828800" cy="384048"/>
          </a:xfrm>
          <a:prstGeom prst="roundRect">
            <a:avLst>
              <a:gd name="adj" fmla="val 50000"/>
            </a:avLst>
          </a:prstGeom>
          <a:solidFill>
            <a:schemeClr val="bg2"/>
          </a:solidFill>
          <a:ln w="12700">
            <a:solidFill>
              <a:schemeClr val="accent4"/>
            </a:solidFill>
            <a:prstDash val="solid"/>
          </a:ln>
        </p:spPr>
      </p:sp>
      <p:sp>
        <p:nvSpPr>
          <p:cNvPr id="10" name="a2_6"/>
          <p:cNvSpPr txBox="1"/>
          <p:nvPr/>
        </p:nvSpPr>
        <p:spPr>
          <a:xfrm>
            <a:off x="2148840" y="5074920"/>
            <a:ext cx="1828800" cy="384048"/>
          </a:xfrm>
          <a:prstGeom prst="rect">
            <a:avLst/>
          </a:prstGeom>
          <a:noFill/>
          <a:ln/>
        </p:spPr>
        <p:txBody>
          <a:bodyPr wrap="square" lIns="0" tIns="0" rIns="0" bIns="0" rtlCol="0" anchor="ctr"/>
          <a:lstStyle/>
          <a:p>
            <a:pPr algn="ctr" indent="0" marL="0">
              <a:buNone/>
            </a:pPr>
            <a:r>
              <a:rPr lang="en-US" sz="1300" b="1" dirty="0">
                <a:solidFill>
                  <a:schemeClr val="tx2"/>
                </a:solidFill>
              </a:rPr>
              <a:t>Windows Server</a:t>
            </a:r>
            <a:endParaRPr lang="en-US" sz="1300" dirty="0"/>
          </a:p>
        </p:txBody>
      </p:sp>
      <p:sp>
        <p:nvSpPr>
          <p:cNvPr id="11" name="a2_7"/>
          <p:cNvSpPr/>
          <p:nvPr/>
        </p:nvSpPr>
        <p:spPr>
          <a:xfrm>
            <a:off x="4114800" y="5074920"/>
            <a:ext cx="2194560" cy="384048"/>
          </a:xfrm>
          <a:prstGeom prst="roundRect">
            <a:avLst>
              <a:gd name="adj" fmla="val 50000"/>
            </a:avLst>
          </a:prstGeom>
          <a:solidFill>
            <a:schemeClr val="bg2"/>
          </a:solidFill>
          <a:ln w="12700">
            <a:solidFill>
              <a:schemeClr val="accent4"/>
            </a:solidFill>
            <a:prstDash val="solid"/>
          </a:ln>
        </p:spPr>
      </p:sp>
      <p:sp>
        <p:nvSpPr>
          <p:cNvPr id="12" name="a2_8"/>
          <p:cNvSpPr txBox="1"/>
          <p:nvPr/>
        </p:nvSpPr>
        <p:spPr>
          <a:xfrm>
            <a:off x="4114800" y="5074920"/>
            <a:ext cx="2194560" cy="384048"/>
          </a:xfrm>
          <a:prstGeom prst="rect">
            <a:avLst/>
          </a:prstGeom>
          <a:noFill/>
          <a:ln/>
        </p:spPr>
        <p:txBody>
          <a:bodyPr wrap="square" lIns="0" tIns="0" rIns="0" bIns="0" rtlCol="0" anchor="ctr"/>
          <a:lstStyle/>
          <a:p>
            <a:pPr algn="ctr" indent="0" marL="0">
              <a:buNone/>
            </a:pPr>
            <a:r>
              <a:rPr lang="en-US" sz="1300" b="1" dirty="0">
                <a:solidFill>
                  <a:schemeClr val="tx2"/>
                </a:solidFill>
              </a:rPr>
              <a:t>Gestion à distance</a:t>
            </a:r>
            <a:endParaRPr lang="en-US" sz="1300" dirty="0"/>
          </a:p>
        </p:txBody>
      </p:sp>
      <p:sp>
        <p:nvSpPr>
          <p:cNvPr id="13" name="a3_9"/>
          <p:cNvSpPr txBox="1"/>
          <p:nvPr/>
        </p:nvSpPr>
        <p:spPr>
          <a:xfrm>
            <a:off x="548640" y="5806440"/>
            <a:ext cx="5943600" cy="594360"/>
          </a:xfrm>
          <a:prstGeom prst="rect">
            <a:avLst/>
          </a:prstGeom>
          <a:noFill/>
          <a:ln/>
        </p:spPr>
        <p:txBody>
          <a:bodyPr wrap="square" lIns="0" tIns="0" rIns="0" bIns="0" rtlCol="0" anchor="t"/>
          <a:lstStyle/>
          <a:p>
            <a:pPr indent="0" marL="0">
              <a:buNone/>
            </a:pPr>
            <a:r>
              <a:rPr lang="en-US" sz="1400" b="1" dirty="0">
                <a:solidFill>
                  <a:schemeClr val="tx1"/>
                </a:solidFill>
              </a:rPr>
              <a:t>Armel Meledje</a:t>
            </a:r>
            <a:endParaRPr lang="en-US" sz="1400" dirty="0"/>
          </a:p>
          <a:p>
            <a:pPr indent="0" marL="0">
              <a:buNone/>
            </a:pPr>
            <a:r>
              <a:rPr lang="en-US" sz="1400" dirty="0">
                <a:solidFill>
                  <a:schemeClr val="accent6"/>
                </a:solidFill>
              </a:rPr>
              <a:t>Développeur Senior · Ingénieur de conception</a:t>
            </a:r>
            <a:endParaRPr lang="en-US" sz="1400" dirty="0"/>
          </a:p>
        </p:txBody>
      </p:sp>
      <p:sp>
        <p:nvSpPr>
          <p:cNvPr id="14" name="a3_10"/>
          <p:cNvSpPr txBox="1"/>
          <p:nvPr/>
        </p:nvSpPr>
        <p:spPr>
          <a:xfrm>
            <a:off x="8412480" y="6035040"/>
            <a:ext cx="3200400" cy="365760"/>
          </a:xfrm>
          <a:prstGeom prst="rect">
            <a:avLst/>
          </a:prstGeom>
          <a:noFill/>
          <a:ln/>
        </p:spPr>
        <p:txBody>
          <a:bodyPr wrap="square" lIns="0" tIns="0" rIns="0" bIns="0" rtlCol="0" anchor="ctr"/>
          <a:lstStyle/>
          <a:p>
            <a:pPr algn="r" indent="0" marL="0">
              <a:buNone/>
            </a:pPr>
            <a:r>
              <a:rPr lang="en-US" sz="1400" dirty="0">
                <a:solidFill>
                  <a:schemeClr val="accent6"/>
                </a:solidFill>
              </a:rPr>
              <a:t>Vendredi 30 octobre 2026</a:t>
            </a:r>
            <a:endParaRPr lang="en-US" sz="1400" dirty="0"/>
          </a:p>
        </p:txBody>
      </p:sp>
      <p:pic>
        <p:nvPicPr>
          <p:cNvPr id="15" name="a1_11" descr="preencoded.png">    </p:cNvPr>
          <p:cNvPicPr>
            <a:picLocks noChangeAspect="1"/>
          </p:cNvPicPr>
          <p:nvPr/>
        </p:nvPicPr>
        <p:blipFill>
          <a:blip r:embed="rId2"/>
          <a:stretch>
            <a:fillRect/>
          </a:stretch>
        </p:blipFill>
        <p:spPr>
          <a:xfrm>
            <a:off x="6309360" y="685800"/>
            <a:ext cx="5760720" cy="4608576"/>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anim calcmode="lin" valueType="num">
                                <p:cBhvr>
                                  <p:cTn id="11" dur="600" decel="100000" fill="hold"/>
                                  <p:tgtEl>
                                    <p:spTgt spid="3"/>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decel="100000" fill="hold"/>
                                  <p:tgtEl>
                                    <p:spTgt spid="4"/>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600"/>
                                  <p:tgtEl>
                                    <p:spTgt spid="15"/>
                                  </p:tgtEl>
                                </p:cBhvr>
                              </p:animEffect>
                              <p:anim calcmode="lin" valueType="num">
                                <p:cBhvr>
                                  <p:cTn id="19" dur="600" decel="100000" fill="hold"/>
                                  <p:tgtEl>
                                    <p:spTgt spid="15"/>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anim calcmode="lin" valueType="num">
                                <p:cBhvr>
                                  <p:cTn id="27" dur="600" decel="100000" fill="hold"/>
                                  <p:tgtEl>
                                    <p:spTgt spid="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decel="100000" fill="hold"/>
                                  <p:tgtEl>
                                    <p:spTgt spid="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600"/>
                                  <p:tgtEl>
                                    <p:spTgt spid="10"/>
                                  </p:tgtEl>
                                </p:cBhvr>
                              </p:animEffect>
                              <p:anim calcmode="lin" valueType="num">
                                <p:cBhvr>
                                  <p:cTn id="35" dur="600" decel="100000" fill="hold"/>
                                  <p:tgtEl>
                                    <p:spTgt spid="10"/>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anim calcmode="lin" valueType="num">
                                <p:cBhvr>
                                  <p:cTn id="39" dur="600" decel="100000" fill="hold"/>
                                  <p:tgtEl>
                                    <p:spTgt spid="11"/>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p:cTn id="43" dur="600" decel="100000" fill="hold"/>
                                  <p:tgtEl>
                                    <p:spTgt spid="12"/>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9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00"/>
                                  <p:tgtEl>
                                    <p:spTgt spid="13"/>
                                  </p:tgtEl>
                                </p:cBhvr>
                              </p:animEffect>
                              <p:anim calcmode="lin" valueType="num">
                                <p:cBhvr>
                                  <p:cTn id="47" dur="600" decel="100000" fill="hold"/>
                                  <p:tgtEl>
                                    <p:spTgt spid="13"/>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00"/>
                                  <p:tgtEl>
                                    <p:spTgt spid="14"/>
                                  </p:tgtEl>
                                </p:cBhvr>
                              </p:animEffect>
                              <p:anim calcmode="lin" valueType="num">
                                <p:cBhvr>
                                  <p:cTn id="51" dur="600" decel="100000" fill="hold"/>
                                  <p:tgtEl>
                                    <p:spTgt spid="1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constat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Plus l'entreprise grandit, plus le </a:t>
            </a:r>
            <a:pPr algn="l" indent="0" marL="0">
              <a:buNone/>
            </a:pPr>
            <a:r>
              <a:rPr lang="en-US" sz="3200" b="1" dirty="0">
                <a:solidFill>
                  <a:schemeClr val="accent1"/>
                </a:solidFill>
              </a:rPr>
              <a:t>désordre coûte cher</a:t>
            </a:r>
            <a:endParaRPr lang="en-US" sz="3200" dirty="0"/>
          </a:p>
        </p:txBody>
      </p:sp>
      <p:pic>
        <p:nvPicPr>
          <p:cNvPr id="4" name="a1_12" descr="preencoded.png">    </p:cNvPr>
          <p:cNvPicPr>
            <a:picLocks noChangeAspect="1"/>
          </p:cNvPicPr>
          <p:nvPr/>
        </p:nvPicPr>
        <p:blipFill>
          <a:blip r:embed="rId1"/>
          <a:stretch>
            <a:fillRect/>
          </a:stretch>
        </p:blipFill>
        <p:spPr>
          <a:xfrm>
            <a:off x="0" y="0"/>
            <a:ext cx="12191695" cy="6858000"/>
          </a:xfrm>
          <a:prstGeom prst="rect">
            <a:avLst/>
          </a:prstGeom>
        </p:spPr>
      </p:pic>
      <p:sp>
        <p:nvSpPr>
          <p:cNvPr id="5" name="a2_13"/>
          <p:cNvSpPr/>
          <p:nvPr/>
        </p:nvSpPr>
        <p:spPr>
          <a:xfrm>
            <a:off x="2854604" y="5454999"/>
            <a:ext cx="256032" cy="256032"/>
          </a:xfrm>
          <a:prstGeom prst="ellipse">
            <a:avLst/>
          </a:prstGeom>
          <a:solidFill>
            <a:schemeClr val="accent1"/>
          </a:solidFill>
          <a:ln w="38100">
            <a:solidFill>
              <a:srgbClr val="FFFFFF"/>
            </a:solidFill>
            <a:prstDash val="solid"/>
          </a:ln>
        </p:spPr>
      </p:sp>
      <p:sp>
        <p:nvSpPr>
          <p:cNvPr id="6" name="a2_14"/>
          <p:cNvSpPr txBox="1"/>
          <p:nvPr/>
        </p:nvSpPr>
        <p:spPr>
          <a:xfrm>
            <a:off x="548640" y="4805775"/>
            <a:ext cx="3931920" cy="457200"/>
          </a:xfrm>
          <a:prstGeom prst="rect">
            <a:avLst/>
          </a:prstGeom>
          <a:noFill/>
          <a:ln/>
        </p:spPr>
        <p:txBody>
          <a:bodyPr wrap="square" lIns="0" tIns="0" rIns="0" bIns="0" rtlCol="0" anchor="b"/>
          <a:lstStyle/>
          <a:p>
            <a:pPr algn="l" indent="0" marL="0">
              <a:buNone/>
            </a:pPr>
            <a:r>
              <a:rPr lang="en-US" sz="1500" dirty="0">
                <a:solidFill>
                  <a:schemeClr val="tx1"/>
                </a:solidFill>
              </a:rPr>
              <a:t>Quelques postes : tout se règle « à la main »</a:t>
            </a:r>
            <a:endParaRPr lang="en-US" sz="1500" dirty="0"/>
          </a:p>
        </p:txBody>
      </p:sp>
      <p:sp>
        <p:nvSpPr>
          <p:cNvPr id="7" name="a3_15"/>
          <p:cNvSpPr/>
          <p:nvPr/>
        </p:nvSpPr>
        <p:spPr>
          <a:xfrm>
            <a:off x="5375442" y="4202744"/>
            <a:ext cx="256032" cy="256032"/>
          </a:xfrm>
          <a:prstGeom prst="ellipse">
            <a:avLst/>
          </a:prstGeom>
          <a:solidFill>
            <a:schemeClr val="accent1"/>
          </a:solidFill>
          <a:ln w="38100">
            <a:solidFill>
              <a:srgbClr val="FFFFFF"/>
            </a:solidFill>
            <a:prstDash val="solid"/>
          </a:ln>
        </p:spPr>
      </p:sp>
      <p:sp>
        <p:nvSpPr>
          <p:cNvPr id="8" name="a3_16"/>
          <p:cNvSpPr txBox="1"/>
          <p:nvPr/>
        </p:nvSpPr>
        <p:spPr>
          <a:xfrm>
            <a:off x="1342938" y="3782120"/>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Les mots de passe circulent, chacun installe ce qu'il veut</a:t>
            </a:r>
            <a:endParaRPr lang="en-US" sz="1500" dirty="0"/>
          </a:p>
        </p:txBody>
      </p:sp>
      <p:sp>
        <p:nvSpPr>
          <p:cNvPr id="9" name="a4_17"/>
          <p:cNvSpPr/>
          <p:nvPr/>
        </p:nvSpPr>
        <p:spPr>
          <a:xfrm>
            <a:off x="7617554" y="2697991"/>
            <a:ext cx="256032" cy="256032"/>
          </a:xfrm>
          <a:prstGeom prst="ellipse">
            <a:avLst/>
          </a:prstGeom>
          <a:solidFill>
            <a:schemeClr val="accent1"/>
          </a:solidFill>
          <a:ln w="38100">
            <a:solidFill>
              <a:srgbClr val="FFFFFF"/>
            </a:solidFill>
            <a:prstDash val="solid"/>
          </a:ln>
        </p:spPr>
      </p:sp>
      <p:sp>
        <p:nvSpPr>
          <p:cNvPr id="10" name="a4_18"/>
          <p:cNvSpPr txBox="1"/>
          <p:nvPr/>
        </p:nvSpPr>
        <p:spPr>
          <a:xfrm>
            <a:off x="3585050" y="2277367"/>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Personne ne sait plus qui a accès à quoi</a:t>
            </a:r>
            <a:endParaRPr lang="en-US" sz="1500" dirty="0"/>
          </a:p>
        </p:txBody>
      </p:sp>
      <p:sp>
        <p:nvSpPr>
          <p:cNvPr id="11" name="a5_19"/>
          <p:cNvSpPr/>
          <p:nvPr/>
        </p:nvSpPr>
        <p:spPr>
          <a:xfrm>
            <a:off x="10180107" y="1627129"/>
            <a:ext cx="256032" cy="256032"/>
          </a:xfrm>
          <a:prstGeom prst="ellipse">
            <a:avLst/>
          </a:prstGeom>
          <a:solidFill>
            <a:srgbClr val="E5484D"/>
          </a:solidFill>
          <a:ln w="38100">
            <a:solidFill>
              <a:srgbClr val="FFFFFF"/>
            </a:solidFill>
            <a:prstDash val="solid"/>
          </a:ln>
        </p:spPr>
      </p:sp>
      <p:sp>
        <p:nvSpPr>
          <p:cNvPr id="12" name="a5_20"/>
          <p:cNvSpPr txBox="1"/>
          <p:nvPr/>
        </p:nvSpPr>
        <p:spPr>
          <a:xfrm>
            <a:off x="5644683" y="1526545"/>
            <a:ext cx="4389120" cy="457200"/>
          </a:xfrm>
          <a:prstGeom prst="rect">
            <a:avLst/>
          </a:prstGeom>
          <a:noFill/>
          <a:ln/>
        </p:spPr>
        <p:txBody>
          <a:bodyPr wrap="square" lIns="0" tIns="0" rIns="0" bIns="0" rtlCol="0" anchor="ctr"/>
          <a:lstStyle/>
          <a:p>
            <a:pPr algn="r" indent="0" marL="0">
              <a:buNone/>
            </a:pPr>
            <a:r>
              <a:rPr lang="en-US" sz="1500" b="1" dirty="0">
                <a:solidFill>
                  <a:srgbClr val="C62828"/>
                </a:solidFill>
              </a:rPr>
              <a:t>Une panne ou une fuite de données peut tout arrêter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9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6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13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4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8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Notre réponse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Des ordinateurs bien gérés, protégés et suivis à distance.</a:t>
            </a:r>
            <a:endParaRPr lang="en-US" sz="4000" dirty="0"/>
          </a:p>
        </p:txBody>
      </p:sp>
      <p:sp>
        <p:nvSpPr>
          <p:cNvPr id="4" name="a1_21"/>
          <p:cNvSpPr txBox="1"/>
          <p:nvPr/>
        </p:nvSpPr>
        <p:spPr>
          <a:xfrm>
            <a:off x="731520" y="4572000"/>
            <a:ext cx="6766560" cy="548640"/>
          </a:xfrm>
          <a:prstGeom prst="rect">
            <a:avLst/>
          </a:prstGeom>
          <a:noFill/>
          <a:ln/>
        </p:spPr>
        <p:txBody>
          <a:bodyPr wrap="square" lIns="0" tIns="0" rIns="0" bIns="0" rtlCol="0" anchor="ctr"/>
          <a:lstStyle/>
          <a:p>
            <a:pPr indent="0" marL="0">
              <a:buNone/>
            </a:pPr>
            <a:r>
              <a:rPr lang="en-US" sz="2000" i="1" dirty="0">
                <a:solidFill>
                  <a:schemeClr val="accent4"/>
                </a:solidFill>
              </a:rPr>
              <a:t>Comme dans une grande entreprise — au budget d'une PME.</a:t>
            </a:r>
            <a:endParaRPr lang="en-US"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La solution</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Comment ça marche, </a:t>
            </a:r>
            <a:pPr algn="l" indent="0" marL="0">
              <a:buNone/>
            </a:pPr>
            <a:r>
              <a:rPr lang="en-US" sz="3200" b="1" dirty="0">
                <a:solidFill>
                  <a:schemeClr val="accent1"/>
                </a:solidFill>
              </a:rPr>
              <a:t>étage par étage</a:t>
            </a:r>
            <a:endParaRPr lang="en-US" sz="3200" dirty="0"/>
          </a:p>
        </p:txBody>
      </p:sp>
      <p:pic>
        <p:nvPicPr>
          <p:cNvPr id="4" name="a1_22" descr="preencoded.png">    </p:cNvPr>
          <p:cNvPicPr>
            <a:picLocks noChangeAspect="1"/>
          </p:cNvPicPr>
          <p:nvPr/>
        </p:nvPicPr>
        <p:blipFill>
          <a:blip r:embed="rId1"/>
          <a:stretch>
            <a:fillRect/>
          </a:stretch>
        </p:blipFill>
        <p:spPr>
          <a:xfrm>
            <a:off x="4733097" y="1325880"/>
            <a:ext cx="2725502" cy="5029200"/>
          </a:xfrm>
          <a:prstGeom prst="rect">
            <a:avLst/>
          </a:prstGeom>
        </p:spPr>
      </p:pic>
      <p:sp>
        <p:nvSpPr>
          <p:cNvPr id="5" name="a7_23"/>
          <p:cNvSpPr txBox="1"/>
          <p:nvPr/>
        </p:nvSpPr>
        <p:spPr>
          <a:xfrm>
            <a:off x="548640" y="5556897"/>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Le serveur</a:t>
            </a:r>
            <a:endParaRPr lang="en-US" sz="1600" dirty="0"/>
          </a:p>
        </p:txBody>
      </p:sp>
      <p:sp>
        <p:nvSpPr>
          <p:cNvPr id="6" name="a7_24"/>
          <p:cNvSpPr/>
          <p:nvPr/>
        </p:nvSpPr>
        <p:spPr>
          <a:xfrm>
            <a:off x="2926080" y="5758065"/>
            <a:ext cx="2624667" cy="0"/>
          </a:xfrm>
          <a:prstGeom prst="line">
            <a:avLst/>
          </a:prstGeom>
          <a:noFill/>
          <a:ln w="15875">
            <a:solidFill>
              <a:schemeClr val="accent4"/>
            </a:solidFill>
            <a:prstDash val="dash"/>
          </a:ln>
        </p:spPr>
      </p:sp>
      <p:sp>
        <p:nvSpPr>
          <p:cNvPr id="7" name="a7_25"/>
          <p:cNvSpPr txBox="1"/>
          <p:nvPr/>
        </p:nvSpPr>
        <p:spPr>
          <a:xfrm>
            <a:off x="7641479" y="5529465"/>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Un ordinateur central, allumé en permanence, dans vos locaux</a:t>
            </a:r>
            <a:endParaRPr lang="en-US" sz="1400" dirty="0"/>
          </a:p>
        </p:txBody>
      </p:sp>
      <p:sp>
        <p:nvSpPr>
          <p:cNvPr id="8" name="a6_26"/>
          <p:cNvSpPr txBox="1"/>
          <p:nvPr/>
        </p:nvSpPr>
        <p:spPr>
          <a:xfrm>
            <a:off x="548640" y="4875522"/>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Proxmox</a:t>
            </a:r>
            <a:endParaRPr lang="en-US" sz="1600" dirty="0"/>
          </a:p>
        </p:txBody>
      </p:sp>
      <p:sp>
        <p:nvSpPr>
          <p:cNvPr id="9" name="a6_27"/>
          <p:cNvSpPr/>
          <p:nvPr/>
        </p:nvSpPr>
        <p:spPr>
          <a:xfrm>
            <a:off x="2926080" y="5076690"/>
            <a:ext cx="2624667" cy="0"/>
          </a:xfrm>
          <a:prstGeom prst="line">
            <a:avLst/>
          </a:prstGeom>
          <a:noFill/>
          <a:ln w="15875">
            <a:solidFill>
              <a:schemeClr val="accent4"/>
            </a:solidFill>
            <a:prstDash val="dash"/>
          </a:ln>
        </p:spPr>
      </p:sp>
      <p:sp>
        <p:nvSpPr>
          <p:cNvPr id="10" name="a6_28"/>
          <p:cNvSpPr txBox="1"/>
          <p:nvPr/>
        </p:nvSpPr>
        <p:spPr>
          <a:xfrm>
            <a:off x="7641479" y="4848090"/>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Un logiciel gratuit qui permet d'ajouter des outils plus tard</a:t>
            </a:r>
            <a:endParaRPr lang="en-US" sz="1400" dirty="0"/>
          </a:p>
        </p:txBody>
      </p:sp>
      <p:sp>
        <p:nvSpPr>
          <p:cNvPr id="11" name="a5_29"/>
          <p:cNvSpPr txBox="1"/>
          <p:nvPr/>
        </p:nvSpPr>
        <p:spPr>
          <a:xfrm>
            <a:off x="548640" y="4194146"/>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Windows Server</a:t>
            </a:r>
            <a:endParaRPr lang="en-US" sz="1600" dirty="0"/>
          </a:p>
        </p:txBody>
      </p:sp>
      <p:sp>
        <p:nvSpPr>
          <p:cNvPr id="12" name="a5_30"/>
          <p:cNvSpPr/>
          <p:nvPr/>
        </p:nvSpPr>
        <p:spPr>
          <a:xfrm>
            <a:off x="2926080" y="4395314"/>
            <a:ext cx="2624667" cy="0"/>
          </a:xfrm>
          <a:prstGeom prst="line">
            <a:avLst/>
          </a:prstGeom>
          <a:noFill/>
          <a:ln w="15875">
            <a:solidFill>
              <a:schemeClr val="accent4"/>
            </a:solidFill>
            <a:prstDash val="dash"/>
          </a:ln>
        </p:spPr>
      </p:sp>
      <p:sp>
        <p:nvSpPr>
          <p:cNvPr id="13" name="a5_31"/>
          <p:cNvSpPr txBox="1"/>
          <p:nvPr/>
        </p:nvSpPr>
        <p:spPr>
          <a:xfrm>
            <a:off x="7641479" y="4166714"/>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Le « chef d'orchestre » qui gère tous les ordinateurs</a:t>
            </a:r>
            <a:endParaRPr lang="en-US" sz="1400" dirty="0"/>
          </a:p>
        </p:txBody>
      </p:sp>
      <p:sp>
        <p:nvSpPr>
          <p:cNvPr id="14" name="a4_32"/>
          <p:cNvSpPr txBox="1"/>
          <p:nvPr/>
        </p:nvSpPr>
        <p:spPr>
          <a:xfrm>
            <a:off x="548640" y="3512771"/>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Comptes employés</a:t>
            </a:r>
            <a:endParaRPr lang="en-US" sz="1600" dirty="0"/>
          </a:p>
        </p:txBody>
      </p:sp>
      <p:sp>
        <p:nvSpPr>
          <p:cNvPr id="15" name="a4_33"/>
          <p:cNvSpPr/>
          <p:nvPr/>
        </p:nvSpPr>
        <p:spPr>
          <a:xfrm>
            <a:off x="2926080" y="3713939"/>
            <a:ext cx="2624667" cy="0"/>
          </a:xfrm>
          <a:prstGeom prst="line">
            <a:avLst/>
          </a:prstGeom>
          <a:noFill/>
          <a:ln w="15875">
            <a:solidFill>
              <a:schemeClr val="accent4"/>
            </a:solidFill>
            <a:prstDash val="dash"/>
          </a:ln>
        </p:spPr>
      </p:sp>
      <p:sp>
        <p:nvSpPr>
          <p:cNvPr id="16" name="a4_34"/>
          <p:cNvSpPr txBox="1"/>
          <p:nvPr/>
        </p:nvSpPr>
        <p:spPr>
          <a:xfrm>
            <a:off x="7641479" y="3485339"/>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Un identifiant et un mot de passe personnels pour chacun</a:t>
            </a:r>
            <a:endParaRPr lang="en-US" sz="1400" dirty="0"/>
          </a:p>
        </p:txBody>
      </p:sp>
      <p:sp>
        <p:nvSpPr>
          <p:cNvPr id="17" name="a3_35"/>
          <p:cNvSpPr txBox="1"/>
          <p:nvPr/>
        </p:nvSpPr>
        <p:spPr>
          <a:xfrm>
            <a:off x="548640" y="2831395"/>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Règles automatiques</a:t>
            </a:r>
            <a:endParaRPr lang="en-US" sz="1600" dirty="0"/>
          </a:p>
        </p:txBody>
      </p:sp>
      <p:sp>
        <p:nvSpPr>
          <p:cNvPr id="18" name="a3_36"/>
          <p:cNvSpPr/>
          <p:nvPr/>
        </p:nvSpPr>
        <p:spPr>
          <a:xfrm>
            <a:off x="2926080" y="3032563"/>
            <a:ext cx="2624667" cy="0"/>
          </a:xfrm>
          <a:prstGeom prst="line">
            <a:avLst/>
          </a:prstGeom>
          <a:noFill/>
          <a:ln w="15875">
            <a:solidFill>
              <a:schemeClr val="accent4"/>
            </a:solidFill>
            <a:prstDash val="dash"/>
          </a:ln>
        </p:spPr>
      </p:sp>
      <p:sp>
        <p:nvSpPr>
          <p:cNvPr id="19" name="a3_37"/>
          <p:cNvSpPr txBox="1"/>
          <p:nvPr/>
        </p:nvSpPr>
        <p:spPr>
          <a:xfrm>
            <a:off x="7641479" y="2803963"/>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Les mêmes réglages de sécurité sur tous les postes</a:t>
            </a:r>
            <a:endParaRPr lang="en-US" sz="1400" dirty="0"/>
          </a:p>
        </p:txBody>
      </p:sp>
      <p:sp>
        <p:nvSpPr>
          <p:cNvPr id="20" name="a2_38"/>
          <p:cNvSpPr txBox="1"/>
          <p:nvPr/>
        </p:nvSpPr>
        <p:spPr>
          <a:xfrm>
            <a:off x="548640" y="2150020"/>
            <a:ext cx="2377440" cy="402336"/>
          </a:xfrm>
          <a:prstGeom prst="rect">
            <a:avLst/>
          </a:prstGeom>
          <a:noFill/>
          <a:ln/>
        </p:spPr>
        <p:txBody>
          <a:bodyPr wrap="square" lIns="0" tIns="0" rIns="0" bIns="0" rtlCol="0" anchor="ctr"/>
          <a:lstStyle/>
          <a:p>
            <a:pPr indent="0" marL="0">
              <a:buNone/>
            </a:pPr>
            <a:r>
              <a:rPr lang="en-US" sz="1600" b="1" dirty="0">
                <a:solidFill>
                  <a:schemeClr val="accent1"/>
                </a:solidFill>
              </a:rPr>
              <a:t>15 postes</a:t>
            </a:r>
            <a:endParaRPr lang="en-US" sz="1600" dirty="0"/>
          </a:p>
        </p:txBody>
      </p:sp>
      <p:sp>
        <p:nvSpPr>
          <p:cNvPr id="21" name="a2_39"/>
          <p:cNvSpPr/>
          <p:nvPr/>
        </p:nvSpPr>
        <p:spPr>
          <a:xfrm>
            <a:off x="2926080" y="2351188"/>
            <a:ext cx="2624667" cy="0"/>
          </a:xfrm>
          <a:prstGeom prst="line">
            <a:avLst/>
          </a:prstGeom>
          <a:noFill/>
          <a:ln w="15875">
            <a:solidFill>
              <a:schemeClr val="accent4"/>
            </a:solidFill>
            <a:prstDash val="dash"/>
          </a:ln>
        </p:spPr>
      </p:sp>
      <p:sp>
        <p:nvSpPr>
          <p:cNvPr id="22" name="a2_40"/>
          <p:cNvSpPr txBox="1"/>
          <p:nvPr/>
        </p:nvSpPr>
        <p:spPr>
          <a:xfrm>
            <a:off x="7641479" y="2122588"/>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Chaque employé travaille sur un poste bien réglé</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600"/>
                                  <p:tgtEl>
                                    <p:spTgt spid="20"/>
                                  </p:tgtEl>
                                </p:cBhvr>
                              </p:animEffect>
                              <p:anim calcmode="lin" valueType="num">
                                <p:cBhvr>
                                  <p:cTn id="11" dur="600" decel="100000" fill="hold"/>
                                  <p:tgtEl>
                                    <p:spTgt spid="20"/>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600"/>
                                  <p:tgtEl>
                                    <p:spTgt spid="21"/>
                                  </p:tgtEl>
                                </p:cBhvr>
                              </p:animEffect>
                              <p:anim calcmode="lin" valueType="num">
                                <p:cBhvr>
                                  <p:cTn id="15" dur="600" decel="100000" fill="hold"/>
                                  <p:tgtEl>
                                    <p:spTgt spid="21"/>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600"/>
                                  <p:tgtEl>
                                    <p:spTgt spid="22"/>
                                  </p:tgtEl>
                                </p:cBhvr>
                              </p:animEffect>
                              <p:anim calcmode="lin" valueType="num">
                                <p:cBhvr>
                                  <p:cTn id="19" dur="600" decel="100000" fill="hold"/>
                                  <p:tgtEl>
                                    <p:spTgt spid="22"/>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anim calcmode="lin" valueType="num">
                                <p:cBhvr>
                                  <p:cTn id="23" dur="600" decel="100000" fill="hold"/>
                                  <p:tgtEl>
                                    <p:spTgt spid="1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anim calcmode="lin" valueType="num">
                                <p:cBhvr>
                                  <p:cTn id="27" dur="600" decel="100000" fill="hold"/>
                                  <p:tgtEl>
                                    <p:spTgt spid="1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02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anim calcmode="lin" valueType="num">
                                <p:cBhvr>
                                  <p:cTn id="31" dur="600" decel="100000" fill="hold"/>
                                  <p:tgtEl>
                                    <p:spTgt spid="1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3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anim calcmode="lin" valueType="num">
                                <p:cBhvr>
                                  <p:cTn id="35" dur="600" decel="100000" fill="hold"/>
                                  <p:tgtEl>
                                    <p:spTgt spid="14"/>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41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600"/>
                                  <p:tgtEl>
                                    <p:spTgt spid="15"/>
                                  </p:tgtEl>
                                </p:cBhvr>
                              </p:animEffect>
                              <p:anim calcmode="lin" valueType="num">
                                <p:cBhvr>
                                  <p:cTn id="39" dur="600" decel="100000" fill="hold"/>
                                  <p:tgtEl>
                                    <p:spTgt spid="15"/>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47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600"/>
                                  <p:tgtEl>
                                    <p:spTgt spid="16"/>
                                  </p:tgtEl>
                                </p:cBhvr>
                              </p:animEffect>
                              <p:anim calcmode="lin" valueType="num">
                                <p:cBhvr>
                                  <p:cTn id="43" dur="600" decel="100000" fill="hold"/>
                                  <p:tgtEl>
                                    <p:spTgt spid="16"/>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8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p:cTn id="47" dur="600" decel="100000" fill="hold"/>
                                  <p:tgtEl>
                                    <p:spTgt spid="11"/>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86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600"/>
                                  <p:tgtEl>
                                    <p:spTgt spid="12"/>
                                  </p:tgtEl>
                                </p:cBhvr>
                              </p:animEffect>
                              <p:anim calcmode="lin" valueType="num">
                                <p:cBhvr>
                                  <p:cTn id="51" dur="600" decel="100000" fill="hold"/>
                                  <p:tgtEl>
                                    <p:spTgt spid="12"/>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92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225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600"/>
                                  <p:tgtEl>
                                    <p:spTgt spid="8"/>
                                  </p:tgtEl>
                                </p:cBhvr>
                              </p:animEffect>
                              <p:anim calcmode="lin" valueType="num">
                                <p:cBhvr>
                                  <p:cTn id="59" dur="600" decel="100000" fill="hold"/>
                                  <p:tgtEl>
                                    <p:spTgt spid="8"/>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2310"/>
                            </p:stCondLst>
                            <p:childTnLst>
                              <p:set>
                                <p:cBhvr>
                                  <p:cTn id="61" dur="1" fill="hold">
                                    <p:stCondLst>
                                      <p:cond delay="0"/>
                                    </p:stCondLst>
                                  </p:cTn>
                                  <p:tgtEl>
                                    <p:spTgt spid="9"/>
                                  </p:tgtEl>
                                  <p:attrNameLst>
                                    <p:attrName>style.visibility</p:attrName>
                                  </p:attrNameLst>
                                </p:cBhvr>
                                <p:to>
                                  <p:strVal val="visible"/>
                                </p:to>
                              </p:set>
                              <p:animEffect transition="in" filter="fade">
                                <p:cBhvr>
                                  <p:cTn id="62" dur="600"/>
                                  <p:tgtEl>
                                    <p:spTgt spid="9"/>
                                  </p:tgtEl>
                                </p:cBhvr>
                              </p:animEffect>
                              <p:anim calcmode="lin" valueType="num">
                                <p:cBhvr>
                                  <p:cTn id="63" dur="600" decel="100000" fill="hold"/>
                                  <p:tgtEl>
                                    <p:spTgt spid="9"/>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2370"/>
                            </p:stCondLst>
                            <p:childTnLst>
                              <p:set>
                                <p:cBhvr>
                                  <p:cTn id="65" dur="1" fill="hold">
                                    <p:stCondLst>
                                      <p:cond delay="0"/>
                                    </p:stCondLst>
                                  </p:cTn>
                                  <p:tgtEl>
                                    <p:spTgt spid="10"/>
                                  </p:tgtEl>
                                  <p:attrNameLst>
                                    <p:attrName>style.visibility</p:attrName>
                                  </p:attrNameLst>
                                </p:cBhvr>
                                <p:to>
                                  <p:strVal val="visible"/>
                                </p:to>
                              </p:set>
                              <p:animEffect transition="in" filter="fade">
                                <p:cBhvr>
                                  <p:cTn id="66" dur="600"/>
                                  <p:tgtEl>
                                    <p:spTgt spid="10"/>
                                  </p:tgtEl>
                                </p:cBhvr>
                              </p:animEffect>
                              <p:anim calcmode="lin" valueType="num">
                                <p:cBhvr>
                                  <p:cTn id="67" dur="600" decel="100000" fill="hold"/>
                                  <p:tgtEl>
                                    <p:spTgt spid="10"/>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270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600"/>
                                  <p:tgtEl>
                                    <p:spTgt spid="5"/>
                                  </p:tgtEl>
                                </p:cBhvr>
                              </p:animEffect>
                              <p:anim calcmode="lin" valueType="num">
                                <p:cBhvr>
                                  <p:cTn id="71" dur="600" decel="100000" fill="hold"/>
                                  <p:tgtEl>
                                    <p:spTgt spid="5"/>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276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600"/>
                                  <p:tgtEl>
                                    <p:spTgt spid="6"/>
                                  </p:tgtEl>
                                </p:cBhvr>
                              </p:animEffect>
                              <p:anim calcmode="lin" valueType="num">
                                <p:cBhvr>
                                  <p:cTn id="75" dur="600" decel="100000" fill="hold"/>
                                  <p:tgtEl>
                                    <p:spTgt spid="6"/>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2820"/>
                            </p:stCondLst>
                            <p:childTnLst>
                              <p:set>
                                <p:cBhvr>
                                  <p:cTn id="77" dur="1" fill="hold">
                                    <p:stCondLst>
                                      <p:cond delay="0"/>
                                    </p:stCondLst>
                                  </p:cTn>
                                  <p:tgtEl>
                                    <p:spTgt spid="7"/>
                                  </p:tgtEl>
                                  <p:attrNameLst>
                                    <p:attrName>style.visibility</p:attrName>
                                  </p:attrNameLst>
                                </p:cBhvr>
                                <p:to>
                                  <p:strVal val="visible"/>
                                </p:to>
                              </p:set>
                              <p:animEffect transition="in" filter="fade">
                                <p:cBhvr>
                                  <p:cTn id="78" dur="600"/>
                                  <p:tgtEl>
                                    <p:spTgt spid="7"/>
                                  </p:tgtEl>
                                </p:cBhvr>
                              </p:animEffect>
                              <p:anim calcmode="lin" valueType="num">
                                <p:cBhvr>
                                  <p:cTn id="79" dur="600" decel="100000" fill="hold"/>
                                  <p:tgtEl>
                                    <p:spTgt spid="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Ce qui change concrètement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Aujourd'hui vs </a:t>
            </a:r>
            <a:pPr algn="l" indent="0" marL="0">
              <a:buNone/>
            </a:pPr>
            <a:r>
              <a:rPr lang="en-US" sz="3200" b="1" dirty="0">
                <a:solidFill>
                  <a:schemeClr val="accent1"/>
                </a:solidFill>
              </a:rPr>
              <a:t>avec notre solution</a:t>
            </a:r>
            <a:endParaRPr lang="en-US" sz="3200" dirty="0"/>
          </a:p>
        </p:txBody>
      </p:sp>
      <p:sp>
        <p:nvSpPr>
          <p:cNvPr id="4" name="a1_41"/>
          <p:cNvSpPr/>
          <p:nvPr/>
        </p:nvSpPr>
        <p:spPr>
          <a:xfrm>
            <a:off x="3017520" y="1600200"/>
            <a:ext cx="4114800" cy="457200"/>
          </a:xfrm>
          <a:prstGeom prst="roundRect">
            <a:avLst>
              <a:gd name="adj" fmla="val 28000"/>
            </a:avLst>
          </a:prstGeom>
          <a:solidFill>
            <a:srgbClr val="E2E8F0"/>
          </a:solidFill>
          <a:ln w="12700">
            <a:solidFill>
              <a:srgbClr val="E2E8F0"/>
            </a:solidFill>
            <a:prstDash val="solid"/>
          </a:ln>
        </p:spPr>
      </p:sp>
      <p:sp>
        <p:nvSpPr>
          <p:cNvPr id="5" name="a1_42"/>
          <p:cNvSpPr txBox="1"/>
          <p:nvPr/>
        </p:nvSpPr>
        <p:spPr>
          <a:xfrm>
            <a:off x="3017520" y="1600200"/>
            <a:ext cx="4114800" cy="457200"/>
          </a:xfrm>
          <a:prstGeom prst="rect">
            <a:avLst/>
          </a:prstGeom>
          <a:noFill/>
          <a:ln/>
        </p:spPr>
        <p:txBody>
          <a:bodyPr wrap="square" lIns="0" tIns="0" rIns="0" bIns="0" rtlCol="0" anchor="ctr"/>
          <a:lstStyle/>
          <a:p>
            <a:pPr algn="ctr" indent="0" marL="0">
              <a:buNone/>
            </a:pPr>
            <a:r>
              <a:rPr lang="en-US" sz="1500" b="1" dirty="0">
                <a:solidFill>
                  <a:schemeClr val="accent6"/>
                </a:solidFill>
              </a:rPr>
              <a:t>Aujourd'hui</a:t>
            </a:r>
            <a:endParaRPr lang="en-US" sz="1500" dirty="0"/>
          </a:p>
        </p:txBody>
      </p:sp>
      <p:sp>
        <p:nvSpPr>
          <p:cNvPr id="6" name="a1_43"/>
          <p:cNvSpPr/>
          <p:nvPr/>
        </p:nvSpPr>
        <p:spPr>
          <a:xfrm>
            <a:off x="7315200" y="1600200"/>
            <a:ext cx="4297680" cy="457200"/>
          </a:xfrm>
          <a:prstGeom prst="roundRect">
            <a:avLst>
              <a:gd name="adj" fmla="val 28000"/>
            </a:avLst>
          </a:prstGeom>
          <a:solidFill>
            <a:schemeClr val="accent1"/>
          </a:solidFill>
          <a:ln w="12700">
            <a:solidFill>
              <a:schemeClr val="accent1"/>
            </a:solidFill>
            <a:prstDash val="solid"/>
          </a:ln>
        </p:spPr>
      </p:sp>
      <p:sp>
        <p:nvSpPr>
          <p:cNvPr id="7" name="a1_44"/>
          <p:cNvSpPr txBox="1"/>
          <p:nvPr/>
        </p:nvSpPr>
        <p:spPr>
          <a:xfrm>
            <a:off x="7315200" y="1600200"/>
            <a:ext cx="4297680" cy="457200"/>
          </a:xfrm>
          <a:prstGeom prst="rect">
            <a:avLst/>
          </a:prstGeom>
          <a:noFill/>
          <a:ln/>
        </p:spPr>
        <p:txBody>
          <a:bodyPr wrap="square" lIns="0" tIns="0" rIns="0" bIns="0" rtlCol="0" anchor="ctr"/>
          <a:lstStyle/>
          <a:p>
            <a:pPr algn="ctr" indent="0" marL="0">
              <a:buNone/>
            </a:pPr>
            <a:r>
              <a:rPr lang="en-US" sz="1500" b="1" dirty="0">
                <a:solidFill>
                  <a:schemeClr val="bg1"/>
                </a:solidFill>
              </a:rPr>
              <a:t>Avec notre solution</a:t>
            </a:r>
            <a:endParaRPr lang="en-US" sz="1500" dirty="0"/>
          </a:p>
        </p:txBody>
      </p:sp>
      <p:sp>
        <p:nvSpPr>
          <p:cNvPr id="8" name="a2_45"/>
          <p:cNvSpPr txBox="1"/>
          <p:nvPr/>
        </p:nvSpPr>
        <p:spPr>
          <a:xfrm>
            <a:off x="548640" y="224028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Comptes</a:t>
            </a:r>
            <a:endParaRPr lang="en-US" sz="1600" dirty="0"/>
          </a:p>
        </p:txBody>
      </p:sp>
      <p:sp>
        <p:nvSpPr>
          <p:cNvPr id="9" name="a2_46"/>
          <p:cNvSpPr/>
          <p:nvPr/>
        </p:nvSpPr>
        <p:spPr>
          <a:xfrm>
            <a:off x="3017520" y="2240280"/>
            <a:ext cx="4114800" cy="640080"/>
          </a:xfrm>
          <a:prstGeom prst="roundRect">
            <a:avLst>
              <a:gd name="adj" fmla="val 20000"/>
            </a:avLst>
          </a:prstGeom>
          <a:solidFill>
            <a:srgbClr val="F1F5F9"/>
          </a:solidFill>
          <a:ln w="12700">
            <a:solidFill>
              <a:srgbClr val="F1F5F9"/>
            </a:solidFill>
            <a:prstDash val="solid"/>
          </a:ln>
        </p:spPr>
      </p:sp>
      <p:pic>
        <p:nvPicPr>
          <p:cNvPr id="10" name="a2_47" descr="preencoded.png">    </p:cNvPr>
          <p:cNvPicPr>
            <a:picLocks noChangeAspect="1"/>
          </p:cNvPicPr>
          <p:nvPr/>
        </p:nvPicPr>
        <p:blipFill>
          <a:blip r:embed="rId1"/>
          <a:stretch>
            <a:fillRect/>
          </a:stretch>
        </p:blipFill>
        <p:spPr>
          <a:xfrm>
            <a:off x="3200400" y="2423160"/>
            <a:ext cx="274320" cy="274320"/>
          </a:xfrm>
          <a:prstGeom prst="rect">
            <a:avLst/>
          </a:prstGeom>
        </p:spPr>
      </p:pic>
      <p:sp>
        <p:nvSpPr>
          <p:cNvPr id="11" name="a2_48"/>
          <p:cNvSpPr txBox="1"/>
          <p:nvPr/>
        </p:nvSpPr>
        <p:spPr>
          <a:xfrm>
            <a:off x="3611880" y="224028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Mots de passe partagés ou notés sur un papier</a:t>
            </a:r>
            <a:endParaRPr lang="en-US" sz="1400" dirty="0"/>
          </a:p>
        </p:txBody>
      </p:sp>
      <p:sp>
        <p:nvSpPr>
          <p:cNvPr id="12" name="a2_49"/>
          <p:cNvSpPr/>
          <p:nvPr/>
        </p:nvSpPr>
        <p:spPr>
          <a:xfrm>
            <a:off x="7315200" y="224028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13" name="a2_50" descr="preencoded.png">    </p:cNvPr>
          <p:cNvPicPr>
            <a:picLocks noChangeAspect="1"/>
          </p:cNvPicPr>
          <p:nvPr/>
        </p:nvPicPr>
        <p:blipFill>
          <a:blip r:embed="rId2"/>
          <a:stretch>
            <a:fillRect/>
          </a:stretch>
        </p:blipFill>
        <p:spPr>
          <a:xfrm>
            <a:off x="7498080" y="2423160"/>
            <a:ext cx="274320" cy="274320"/>
          </a:xfrm>
          <a:prstGeom prst="rect">
            <a:avLst/>
          </a:prstGeom>
        </p:spPr>
      </p:pic>
      <p:sp>
        <p:nvSpPr>
          <p:cNvPr id="14" name="a2_51"/>
          <p:cNvSpPr txBox="1"/>
          <p:nvPr/>
        </p:nvSpPr>
        <p:spPr>
          <a:xfrm>
            <a:off x="7909560" y="224028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Un compte personnel et sécurisé par employé</a:t>
            </a:r>
            <a:endParaRPr lang="en-US" sz="1400" dirty="0"/>
          </a:p>
        </p:txBody>
      </p:sp>
      <p:sp>
        <p:nvSpPr>
          <p:cNvPr id="15" name="a3_52"/>
          <p:cNvSpPr txBox="1"/>
          <p:nvPr/>
        </p:nvSpPr>
        <p:spPr>
          <a:xfrm>
            <a:off x="548640" y="301752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Départ d'un employé</a:t>
            </a:r>
            <a:endParaRPr lang="en-US" sz="1600" dirty="0"/>
          </a:p>
        </p:txBody>
      </p:sp>
      <p:sp>
        <p:nvSpPr>
          <p:cNvPr id="16" name="a3_53"/>
          <p:cNvSpPr/>
          <p:nvPr/>
        </p:nvSpPr>
        <p:spPr>
          <a:xfrm>
            <a:off x="3017520" y="3017520"/>
            <a:ext cx="4114800" cy="640080"/>
          </a:xfrm>
          <a:prstGeom prst="roundRect">
            <a:avLst>
              <a:gd name="adj" fmla="val 20000"/>
            </a:avLst>
          </a:prstGeom>
          <a:solidFill>
            <a:srgbClr val="F1F5F9"/>
          </a:solidFill>
          <a:ln w="12700">
            <a:solidFill>
              <a:srgbClr val="F1F5F9"/>
            </a:solidFill>
            <a:prstDash val="solid"/>
          </a:ln>
        </p:spPr>
      </p:sp>
      <p:pic>
        <p:nvPicPr>
          <p:cNvPr id="17" name="a3_54" descr="preencoded.png">    </p:cNvPr>
          <p:cNvPicPr>
            <a:picLocks noChangeAspect="1"/>
          </p:cNvPicPr>
          <p:nvPr/>
        </p:nvPicPr>
        <p:blipFill>
          <a:blip r:embed="rId3"/>
          <a:stretch>
            <a:fillRect/>
          </a:stretch>
        </p:blipFill>
        <p:spPr>
          <a:xfrm>
            <a:off x="3200400" y="3200400"/>
            <a:ext cx="274320" cy="274320"/>
          </a:xfrm>
          <a:prstGeom prst="rect">
            <a:avLst/>
          </a:prstGeom>
        </p:spPr>
      </p:pic>
      <p:sp>
        <p:nvSpPr>
          <p:cNvPr id="18" name="a3_55"/>
          <p:cNvSpPr txBox="1"/>
          <p:nvPr/>
        </p:nvSpPr>
        <p:spPr>
          <a:xfrm>
            <a:off x="3611880" y="301752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Ses accès restent ouverts</a:t>
            </a:r>
            <a:endParaRPr lang="en-US" sz="1400" dirty="0"/>
          </a:p>
        </p:txBody>
      </p:sp>
      <p:sp>
        <p:nvSpPr>
          <p:cNvPr id="19" name="a3_56"/>
          <p:cNvSpPr/>
          <p:nvPr/>
        </p:nvSpPr>
        <p:spPr>
          <a:xfrm>
            <a:off x="7315200" y="301752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0" name="a3_57" descr="preencoded.png">    </p:cNvPr>
          <p:cNvPicPr>
            <a:picLocks noChangeAspect="1"/>
          </p:cNvPicPr>
          <p:nvPr/>
        </p:nvPicPr>
        <p:blipFill>
          <a:blip r:embed="rId4"/>
          <a:stretch>
            <a:fillRect/>
          </a:stretch>
        </p:blipFill>
        <p:spPr>
          <a:xfrm>
            <a:off x="7498080" y="3200400"/>
            <a:ext cx="274320" cy="274320"/>
          </a:xfrm>
          <a:prstGeom prst="rect">
            <a:avLst/>
          </a:prstGeom>
        </p:spPr>
      </p:pic>
      <p:sp>
        <p:nvSpPr>
          <p:cNvPr id="21" name="a3_58"/>
          <p:cNvSpPr txBox="1"/>
          <p:nvPr/>
        </p:nvSpPr>
        <p:spPr>
          <a:xfrm>
            <a:off x="7909560" y="301752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Compte désactivé en un clic</a:t>
            </a:r>
            <a:endParaRPr lang="en-US" sz="1400" dirty="0"/>
          </a:p>
        </p:txBody>
      </p:sp>
      <p:sp>
        <p:nvSpPr>
          <p:cNvPr id="22" name="a4_59"/>
          <p:cNvSpPr txBox="1"/>
          <p:nvPr/>
        </p:nvSpPr>
        <p:spPr>
          <a:xfrm>
            <a:off x="548640" y="379476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Logiciels</a:t>
            </a:r>
            <a:endParaRPr lang="en-US" sz="1600" dirty="0"/>
          </a:p>
        </p:txBody>
      </p:sp>
      <p:sp>
        <p:nvSpPr>
          <p:cNvPr id="23" name="a4_60"/>
          <p:cNvSpPr/>
          <p:nvPr/>
        </p:nvSpPr>
        <p:spPr>
          <a:xfrm>
            <a:off x="3017520" y="3794760"/>
            <a:ext cx="4114800" cy="640080"/>
          </a:xfrm>
          <a:prstGeom prst="roundRect">
            <a:avLst>
              <a:gd name="adj" fmla="val 20000"/>
            </a:avLst>
          </a:prstGeom>
          <a:solidFill>
            <a:srgbClr val="F1F5F9"/>
          </a:solidFill>
          <a:ln w="12700">
            <a:solidFill>
              <a:srgbClr val="F1F5F9"/>
            </a:solidFill>
            <a:prstDash val="solid"/>
          </a:ln>
        </p:spPr>
      </p:sp>
      <p:pic>
        <p:nvPicPr>
          <p:cNvPr id="24" name="a4_61" descr="preencoded.png">    </p:cNvPr>
          <p:cNvPicPr>
            <a:picLocks noChangeAspect="1"/>
          </p:cNvPicPr>
          <p:nvPr/>
        </p:nvPicPr>
        <p:blipFill>
          <a:blip r:embed="rId5"/>
          <a:stretch>
            <a:fillRect/>
          </a:stretch>
        </p:blipFill>
        <p:spPr>
          <a:xfrm>
            <a:off x="3200400" y="3977640"/>
            <a:ext cx="274320" cy="274320"/>
          </a:xfrm>
          <a:prstGeom prst="rect">
            <a:avLst/>
          </a:prstGeom>
        </p:spPr>
      </p:pic>
      <p:sp>
        <p:nvSpPr>
          <p:cNvPr id="25" name="a4_62"/>
          <p:cNvSpPr txBox="1"/>
          <p:nvPr/>
        </p:nvSpPr>
        <p:spPr>
          <a:xfrm>
            <a:off x="3611880" y="379476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Chacun installe ce qu'il veut</a:t>
            </a:r>
            <a:endParaRPr lang="en-US" sz="1400" dirty="0"/>
          </a:p>
        </p:txBody>
      </p:sp>
      <p:sp>
        <p:nvSpPr>
          <p:cNvPr id="26" name="a4_63"/>
          <p:cNvSpPr/>
          <p:nvPr/>
        </p:nvSpPr>
        <p:spPr>
          <a:xfrm>
            <a:off x="7315200" y="379476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7" name="a4_64" descr="preencoded.png">    </p:cNvPr>
          <p:cNvPicPr>
            <a:picLocks noChangeAspect="1"/>
          </p:cNvPicPr>
          <p:nvPr/>
        </p:nvPicPr>
        <p:blipFill>
          <a:blip r:embed="rId6"/>
          <a:stretch>
            <a:fillRect/>
          </a:stretch>
        </p:blipFill>
        <p:spPr>
          <a:xfrm>
            <a:off x="7498080" y="3977640"/>
            <a:ext cx="274320" cy="274320"/>
          </a:xfrm>
          <a:prstGeom prst="rect">
            <a:avLst/>
          </a:prstGeom>
        </p:spPr>
      </p:pic>
      <p:sp>
        <p:nvSpPr>
          <p:cNvPr id="28" name="a4_65"/>
          <p:cNvSpPr txBox="1"/>
          <p:nvPr/>
        </p:nvSpPr>
        <p:spPr>
          <a:xfrm>
            <a:off x="7909560" y="379476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Seuls les logiciels autorisés sont installés</a:t>
            </a:r>
            <a:endParaRPr lang="en-US" sz="1400" dirty="0"/>
          </a:p>
        </p:txBody>
      </p:sp>
      <p:sp>
        <p:nvSpPr>
          <p:cNvPr id="29" name="a5_66"/>
          <p:cNvSpPr txBox="1"/>
          <p:nvPr/>
        </p:nvSpPr>
        <p:spPr>
          <a:xfrm>
            <a:off x="548640" y="457200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Mises à jour</a:t>
            </a:r>
            <a:endParaRPr lang="en-US" sz="1600" dirty="0"/>
          </a:p>
        </p:txBody>
      </p:sp>
      <p:sp>
        <p:nvSpPr>
          <p:cNvPr id="30" name="a5_67"/>
          <p:cNvSpPr/>
          <p:nvPr/>
        </p:nvSpPr>
        <p:spPr>
          <a:xfrm>
            <a:off x="3017520" y="4572000"/>
            <a:ext cx="4114800" cy="640080"/>
          </a:xfrm>
          <a:prstGeom prst="roundRect">
            <a:avLst>
              <a:gd name="adj" fmla="val 20000"/>
            </a:avLst>
          </a:prstGeom>
          <a:solidFill>
            <a:srgbClr val="F1F5F9"/>
          </a:solidFill>
          <a:ln w="12700">
            <a:solidFill>
              <a:srgbClr val="F1F5F9"/>
            </a:solidFill>
            <a:prstDash val="solid"/>
          </a:ln>
        </p:spPr>
      </p:sp>
      <p:pic>
        <p:nvPicPr>
          <p:cNvPr id="31" name="a5_68" descr="preencoded.png">    </p:cNvPr>
          <p:cNvPicPr>
            <a:picLocks noChangeAspect="1"/>
          </p:cNvPicPr>
          <p:nvPr/>
        </p:nvPicPr>
        <p:blipFill>
          <a:blip r:embed="rId7"/>
          <a:stretch>
            <a:fillRect/>
          </a:stretch>
        </p:blipFill>
        <p:spPr>
          <a:xfrm>
            <a:off x="3200400" y="4754880"/>
            <a:ext cx="274320" cy="274320"/>
          </a:xfrm>
          <a:prstGeom prst="rect">
            <a:avLst/>
          </a:prstGeom>
        </p:spPr>
      </p:pic>
      <p:sp>
        <p:nvSpPr>
          <p:cNvPr id="32" name="a5_69"/>
          <p:cNvSpPr txBox="1"/>
          <p:nvPr/>
        </p:nvSpPr>
        <p:spPr>
          <a:xfrm>
            <a:off x="3611880" y="457200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Faites… quand on y pense</a:t>
            </a:r>
            <a:endParaRPr lang="en-US" sz="1400" dirty="0"/>
          </a:p>
        </p:txBody>
      </p:sp>
      <p:sp>
        <p:nvSpPr>
          <p:cNvPr id="33" name="a5_70"/>
          <p:cNvSpPr/>
          <p:nvPr/>
        </p:nvSpPr>
        <p:spPr>
          <a:xfrm>
            <a:off x="7315200" y="457200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34" name="a5_71" descr="preencoded.png">    </p:cNvPr>
          <p:cNvPicPr>
            <a:picLocks noChangeAspect="1"/>
          </p:cNvPicPr>
          <p:nvPr/>
        </p:nvPicPr>
        <p:blipFill>
          <a:blip r:embed="rId8"/>
          <a:stretch>
            <a:fillRect/>
          </a:stretch>
        </p:blipFill>
        <p:spPr>
          <a:xfrm>
            <a:off x="7498080" y="4754880"/>
            <a:ext cx="274320" cy="274320"/>
          </a:xfrm>
          <a:prstGeom prst="rect">
            <a:avLst/>
          </a:prstGeom>
        </p:spPr>
      </p:pic>
      <p:sp>
        <p:nvSpPr>
          <p:cNvPr id="35" name="a5_72"/>
          <p:cNvSpPr txBox="1"/>
          <p:nvPr/>
        </p:nvSpPr>
        <p:spPr>
          <a:xfrm>
            <a:off x="7909560" y="457200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Appliquées automatiquement</a:t>
            </a:r>
            <a:endParaRPr lang="en-US" sz="1400" dirty="0"/>
          </a:p>
        </p:txBody>
      </p:sp>
      <p:sp>
        <p:nvSpPr>
          <p:cNvPr id="36" name="a6_73"/>
          <p:cNvSpPr txBox="1"/>
          <p:nvPr/>
        </p:nvSpPr>
        <p:spPr>
          <a:xfrm>
            <a:off x="548640" y="534924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Dépannage</a:t>
            </a:r>
            <a:endParaRPr lang="en-US" sz="1600" dirty="0"/>
          </a:p>
        </p:txBody>
      </p:sp>
      <p:sp>
        <p:nvSpPr>
          <p:cNvPr id="37" name="a6_74"/>
          <p:cNvSpPr/>
          <p:nvPr/>
        </p:nvSpPr>
        <p:spPr>
          <a:xfrm>
            <a:off x="3017520" y="5349240"/>
            <a:ext cx="4114800" cy="640080"/>
          </a:xfrm>
          <a:prstGeom prst="roundRect">
            <a:avLst>
              <a:gd name="adj" fmla="val 20000"/>
            </a:avLst>
          </a:prstGeom>
          <a:solidFill>
            <a:srgbClr val="F1F5F9"/>
          </a:solidFill>
          <a:ln w="12700">
            <a:solidFill>
              <a:srgbClr val="F1F5F9"/>
            </a:solidFill>
            <a:prstDash val="solid"/>
          </a:ln>
        </p:spPr>
      </p:sp>
      <p:pic>
        <p:nvPicPr>
          <p:cNvPr id="38" name="a6_75" descr="preencoded.png">    </p:cNvPr>
          <p:cNvPicPr>
            <a:picLocks noChangeAspect="1"/>
          </p:cNvPicPr>
          <p:nvPr/>
        </p:nvPicPr>
        <p:blipFill>
          <a:blip r:embed="rId9"/>
          <a:stretch>
            <a:fillRect/>
          </a:stretch>
        </p:blipFill>
        <p:spPr>
          <a:xfrm>
            <a:off x="3200400" y="5532120"/>
            <a:ext cx="274320" cy="274320"/>
          </a:xfrm>
          <a:prstGeom prst="rect">
            <a:avLst/>
          </a:prstGeom>
        </p:spPr>
      </p:pic>
      <p:sp>
        <p:nvSpPr>
          <p:cNvPr id="39" name="a6_76"/>
          <p:cNvSpPr txBox="1"/>
          <p:nvPr/>
        </p:nvSpPr>
        <p:spPr>
          <a:xfrm>
            <a:off x="3611880" y="534924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Déplacement sur site, attente</a:t>
            </a:r>
            <a:endParaRPr lang="en-US" sz="1400" dirty="0"/>
          </a:p>
        </p:txBody>
      </p:sp>
      <p:sp>
        <p:nvSpPr>
          <p:cNvPr id="40" name="a6_77"/>
          <p:cNvSpPr/>
          <p:nvPr/>
        </p:nvSpPr>
        <p:spPr>
          <a:xfrm>
            <a:off x="7315200" y="534924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41" name="a6_78" descr="preencoded.png">    </p:cNvPr>
          <p:cNvPicPr>
            <a:picLocks noChangeAspect="1"/>
          </p:cNvPicPr>
          <p:nvPr/>
        </p:nvPicPr>
        <p:blipFill>
          <a:blip r:embed="rId10"/>
          <a:stretch>
            <a:fillRect/>
          </a:stretch>
        </p:blipFill>
        <p:spPr>
          <a:xfrm>
            <a:off x="7498080" y="5532120"/>
            <a:ext cx="274320" cy="274320"/>
          </a:xfrm>
          <a:prstGeom prst="rect">
            <a:avLst/>
          </a:prstGeom>
        </p:spPr>
      </p:pic>
      <p:sp>
        <p:nvSpPr>
          <p:cNvPr id="42" name="a6_79"/>
          <p:cNvSpPr txBox="1"/>
          <p:nvPr/>
        </p:nvSpPr>
        <p:spPr>
          <a:xfrm>
            <a:off x="7909560" y="534924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Intervention immédiate à distance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8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96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02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08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14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20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26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41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47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53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5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65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7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8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8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9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9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0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1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1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25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31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7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43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49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55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261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Administration à distance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administrateur, </a:t>
            </a:r>
            <a:pPr algn="l" indent="0" marL="0">
              <a:buNone/>
            </a:pPr>
            <a:r>
              <a:rPr lang="en-US" sz="3200" b="1" dirty="0">
                <a:solidFill>
                  <a:schemeClr val="accent1"/>
                </a:solidFill>
              </a:rPr>
              <a:t>où qu'il soit</a:t>
            </a:r>
            <a:endParaRPr lang="en-US" sz="3200" dirty="0"/>
          </a:p>
        </p:txBody>
      </p:sp>
      <p:sp>
        <p:nvSpPr>
          <p:cNvPr id="4" name="a1_80"/>
          <p:cNvSpPr/>
          <p:nvPr/>
        </p:nvSpPr>
        <p:spPr>
          <a:xfrm>
            <a:off x="822960" y="2286000"/>
            <a:ext cx="1371600" cy="1371600"/>
          </a:xfrm>
          <a:prstGeom prst="ellipse">
            <a:avLst/>
          </a:prstGeom>
          <a:solidFill>
            <a:schemeClr val="accent1"/>
          </a:solidFill>
          <a:ln w="12700">
            <a:solidFill>
              <a:schemeClr val="accent1"/>
            </a:solidFill>
            <a:prstDash val="solid"/>
          </a:ln>
        </p:spPr>
      </p:sp>
      <p:pic>
        <p:nvPicPr>
          <p:cNvPr id="5" name="a1_81" descr="preencoded.png">    </p:cNvPr>
          <p:cNvPicPr>
            <a:picLocks noChangeAspect="1"/>
          </p:cNvPicPr>
          <p:nvPr/>
        </p:nvPicPr>
        <p:blipFill>
          <a:blip r:embed="rId1"/>
          <a:stretch>
            <a:fillRect/>
          </a:stretch>
        </p:blipFill>
        <p:spPr>
          <a:xfrm>
            <a:off x="1179576" y="2642616"/>
            <a:ext cx="658368" cy="658368"/>
          </a:xfrm>
          <a:prstGeom prst="rect">
            <a:avLst/>
          </a:prstGeom>
        </p:spPr>
      </p:pic>
      <p:sp>
        <p:nvSpPr>
          <p:cNvPr id="6" name="a1_82"/>
          <p:cNvSpPr txBox="1"/>
          <p:nvPr/>
        </p:nvSpPr>
        <p:spPr>
          <a:xfrm>
            <a:off x="365760" y="3794760"/>
            <a:ext cx="2286000" cy="365760"/>
          </a:xfrm>
          <a:prstGeom prst="rect">
            <a:avLst/>
          </a:prstGeom>
          <a:noFill/>
          <a:ln/>
        </p:spPr>
        <p:txBody>
          <a:bodyPr wrap="square" lIns="0" tIns="0" rIns="0" bIns="0" rtlCol="0" anchor="ctr"/>
          <a:lstStyle/>
          <a:p>
            <a:pPr algn="ctr" indent="0" marL="0">
              <a:buNone/>
            </a:pPr>
            <a:r>
              <a:rPr lang="en-US" sz="1600" b="1" dirty="0">
                <a:solidFill>
                  <a:schemeClr val="tx2"/>
                </a:solidFill>
              </a:rPr>
              <a:t>Administrateur</a:t>
            </a:r>
            <a:endParaRPr lang="en-US" sz="1600" dirty="0"/>
          </a:p>
        </p:txBody>
      </p:sp>
      <p:sp>
        <p:nvSpPr>
          <p:cNvPr id="7" name="a1_83"/>
          <p:cNvSpPr txBox="1"/>
          <p:nvPr/>
        </p:nvSpPr>
        <p:spPr>
          <a:xfrm>
            <a:off x="365760" y="4160520"/>
            <a:ext cx="2286000" cy="640080"/>
          </a:xfrm>
          <a:prstGeom prst="rect">
            <a:avLst/>
          </a:prstGeom>
          <a:noFill/>
          <a:ln/>
        </p:spPr>
        <p:txBody>
          <a:bodyPr wrap="square" lIns="0" tIns="0" rIns="0" bIns="0" rtlCol="0" anchor="ctr"/>
          <a:lstStyle/>
          <a:p>
            <a:pPr algn="ctr" indent="0" marL="0">
              <a:buNone/>
            </a:pPr>
            <a:r>
              <a:rPr lang="en-US" sz="1300" dirty="0">
                <a:solidFill>
                  <a:schemeClr val="accent6"/>
                </a:solidFill>
              </a:rPr>
              <a:t>Depuis le bureau, la maison ou en déplacement</a:t>
            </a:r>
            <a:endParaRPr lang="en-US" sz="1300" dirty="0"/>
          </a:p>
        </p:txBody>
      </p:sp>
      <p:sp>
        <p:nvSpPr>
          <p:cNvPr id="8" name="a2_84"/>
          <p:cNvSpPr/>
          <p:nvPr/>
        </p:nvSpPr>
        <p:spPr>
          <a:xfrm>
            <a:off x="2377440" y="2971800"/>
            <a:ext cx="2377440" cy="0"/>
          </a:xfrm>
          <a:prstGeom prst="line">
            <a:avLst/>
          </a:prstGeom>
          <a:noFill/>
          <a:ln w="38100">
            <a:solidFill>
              <a:schemeClr val="accent2"/>
            </a:solidFill>
            <a:prstDash val="dash"/>
          </a:ln>
        </p:spPr>
      </p:sp>
      <p:sp>
        <p:nvSpPr>
          <p:cNvPr id="9" name="a2_85"/>
          <p:cNvSpPr/>
          <p:nvPr/>
        </p:nvSpPr>
        <p:spPr>
          <a:xfrm>
            <a:off x="3246120" y="2651760"/>
            <a:ext cx="640080" cy="640080"/>
          </a:xfrm>
          <a:prstGeom prst="ellipse">
            <a:avLst/>
          </a:prstGeom>
          <a:solidFill>
            <a:schemeClr val="accent2"/>
          </a:solidFill>
          <a:ln w="12700">
            <a:solidFill>
              <a:schemeClr val="accent2"/>
            </a:solidFill>
            <a:prstDash val="solid"/>
          </a:ln>
        </p:spPr>
      </p:sp>
      <p:pic>
        <p:nvPicPr>
          <p:cNvPr id="10" name="a2_86" descr="preencoded.png">    </p:cNvPr>
          <p:cNvPicPr>
            <a:picLocks noChangeAspect="1"/>
          </p:cNvPicPr>
          <p:nvPr/>
        </p:nvPicPr>
        <p:blipFill>
          <a:blip r:embed="rId2"/>
          <a:stretch>
            <a:fillRect/>
          </a:stretch>
        </p:blipFill>
        <p:spPr>
          <a:xfrm>
            <a:off x="3412541" y="2818181"/>
            <a:ext cx="307238" cy="307238"/>
          </a:xfrm>
          <a:prstGeom prst="rect">
            <a:avLst/>
          </a:prstGeom>
        </p:spPr>
      </p:pic>
      <p:sp>
        <p:nvSpPr>
          <p:cNvPr id="11" name="a2_87"/>
          <p:cNvSpPr txBox="1"/>
          <p:nvPr/>
        </p:nvSpPr>
        <p:spPr>
          <a:xfrm>
            <a:off x="2377440" y="3429000"/>
            <a:ext cx="2377440" cy="365760"/>
          </a:xfrm>
          <a:prstGeom prst="rect">
            <a:avLst/>
          </a:prstGeom>
          <a:noFill/>
          <a:ln/>
        </p:spPr>
        <p:txBody>
          <a:bodyPr wrap="square" lIns="0" tIns="0" rIns="0" bIns="0" rtlCol="0" anchor="ctr"/>
          <a:lstStyle/>
          <a:p>
            <a:pPr algn="ctr" indent="0" marL="0">
              <a:buNone/>
            </a:pPr>
            <a:r>
              <a:rPr lang="en-US" sz="1300" b="1" dirty="0">
                <a:solidFill>
                  <a:schemeClr val="accent2"/>
                </a:solidFill>
              </a:rPr>
              <a:t>Connexion sécurisée (Tailscale)</a:t>
            </a:r>
            <a:endParaRPr lang="en-US" sz="1300" dirty="0"/>
          </a:p>
        </p:txBody>
      </p:sp>
      <p:pic>
        <p:nvPicPr>
          <p:cNvPr id="12" name="a3_88" descr="preencoded.png">    </p:cNvPr>
          <p:cNvPicPr>
            <a:picLocks noChangeAspect="1"/>
          </p:cNvPicPr>
          <p:nvPr/>
        </p:nvPicPr>
        <p:blipFill>
          <a:blip r:embed="rId3"/>
          <a:stretch>
            <a:fillRect/>
          </a:stretch>
        </p:blipFill>
        <p:spPr>
          <a:xfrm>
            <a:off x="4663440" y="1600200"/>
            <a:ext cx="2651760" cy="2651760"/>
          </a:xfrm>
          <a:prstGeom prst="rect">
            <a:avLst/>
          </a:prstGeom>
        </p:spPr>
      </p:pic>
      <p:sp>
        <p:nvSpPr>
          <p:cNvPr id="13" name="a3_89"/>
          <p:cNvSpPr txBox="1"/>
          <p:nvPr/>
        </p:nvSpPr>
        <p:spPr>
          <a:xfrm>
            <a:off x="4572000" y="4160520"/>
            <a:ext cx="2834640" cy="365760"/>
          </a:xfrm>
          <a:prstGeom prst="rect">
            <a:avLst/>
          </a:prstGeom>
          <a:noFill/>
          <a:ln/>
        </p:spPr>
        <p:txBody>
          <a:bodyPr wrap="square" lIns="0" tIns="0" rIns="0" bIns="0" rtlCol="0" anchor="ctr"/>
          <a:lstStyle/>
          <a:p>
            <a:pPr algn="ctr" indent="0" marL="0">
              <a:buNone/>
            </a:pPr>
            <a:r>
              <a:rPr lang="en-US" sz="1600" b="1" dirty="0">
                <a:solidFill>
                  <a:schemeClr val="tx2"/>
                </a:solidFill>
              </a:rPr>
              <a:t>Serveur de l'entreprise</a:t>
            </a:r>
            <a:endParaRPr lang="en-US" sz="1600" dirty="0"/>
          </a:p>
        </p:txBody>
      </p:sp>
      <p:sp>
        <p:nvSpPr>
          <p:cNvPr id="14" name="a4_90"/>
          <p:cNvSpPr/>
          <p:nvPr/>
        </p:nvSpPr>
        <p:spPr>
          <a:xfrm>
            <a:off x="7315200" y="2971800"/>
            <a:ext cx="822960" cy="0"/>
          </a:xfrm>
          <a:prstGeom prst="line">
            <a:avLst/>
          </a:prstGeom>
          <a:noFill/>
          <a:ln w="38100">
            <a:solidFill>
              <a:schemeClr val="accent1"/>
            </a:solidFill>
            <a:prstDash val="solid"/>
            <a:tailEnd type="triangle"/>
          </a:ln>
        </p:spPr>
      </p:sp>
      <p:sp>
        <p:nvSpPr>
          <p:cNvPr id="15" name="a4_91"/>
          <p:cNvSpPr/>
          <p:nvPr/>
        </p:nvSpPr>
        <p:spPr>
          <a:xfrm>
            <a:off x="8321040" y="1920240"/>
            <a:ext cx="548640" cy="548640"/>
          </a:xfrm>
          <a:prstGeom prst="roundRect">
            <a:avLst>
              <a:gd name="adj" fmla="val 23333"/>
            </a:avLst>
          </a:prstGeom>
          <a:solidFill>
            <a:schemeClr val="bg2"/>
          </a:solidFill>
          <a:ln w="12700">
            <a:solidFill>
              <a:schemeClr val="bg2"/>
            </a:solidFill>
            <a:prstDash val="solid"/>
          </a:ln>
        </p:spPr>
      </p:sp>
      <p:pic>
        <p:nvPicPr>
          <p:cNvPr id="16" name="a4_92" descr="preencoded.png">    </p:cNvPr>
          <p:cNvPicPr>
            <a:picLocks noChangeAspect="1"/>
          </p:cNvPicPr>
          <p:nvPr/>
        </p:nvPicPr>
        <p:blipFill>
          <a:blip r:embed="rId4"/>
          <a:stretch>
            <a:fillRect/>
          </a:stretch>
        </p:blipFill>
        <p:spPr>
          <a:xfrm>
            <a:off x="8458200" y="2057400"/>
            <a:ext cx="274320" cy="274320"/>
          </a:xfrm>
          <a:prstGeom prst="rect">
            <a:avLst/>
          </a:prstGeom>
        </p:spPr>
      </p:pic>
      <p:sp>
        <p:nvSpPr>
          <p:cNvPr id="17" name="a4_93"/>
          <p:cNvSpPr/>
          <p:nvPr/>
        </p:nvSpPr>
        <p:spPr>
          <a:xfrm>
            <a:off x="8979408" y="1920240"/>
            <a:ext cx="548640" cy="548640"/>
          </a:xfrm>
          <a:prstGeom prst="roundRect">
            <a:avLst>
              <a:gd name="adj" fmla="val 23333"/>
            </a:avLst>
          </a:prstGeom>
          <a:solidFill>
            <a:schemeClr val="bg2"/>
          </a:solidFill>
          <a:ln w="12700">
            <a:solidFill>
              <a:schemeClr val="bg2"/>
            </a:solidFill>
            <a:prstDash val="solid"/>
          </a:ln>
        </p:spPr>
      </p:sp>
      <p:pic>
        <p:nvPicPr>
          <p:cNvPr id="18" name="a4_94" descr="preencoded.png">    </p:cNvPr>
          <p:cNvPicPr>
            <a:picLocks noChangeAspect="1"/>
          </p:cNvPicPr>
          <p:nvPr/>
        </p:nvPicPr>
        <p:blipFill>
          <a:blip r:embed="rId5"/>
          <a:stretch>
            <a:fillRect/>
          </a:stretch>
        </p:blipFill>
        <p:spPr>
          <a:xfrm>
            <a:off x="9116568" y="2057400"/>
            <a:ext cx="274320" cy="274320"/>
          </a:xfrm>
          <a:prstGeom prst="rect">
            <a:avLst/>
          </a:prstGeom>
        </p:spPr>
      </p:pic>
      <p:sp>
        <p:nvSpPr>
          <p:cNvPr id="19" name="a4_95"/>
          <p:cNvSpPr/>
          <p:nvPr/>
        </p:nvSpPr>
        <p:spPr>
          <a:xfrm>
            <a:off x="9637776" y="1920240"/>
            <a:ext cx="548640" cy="548640"/>
          </a:xfrm>
          <a:prstGeom prst="roundRect">
            <a:avLst>
              <a:gd name="adj" fmla="val 23333"/>
            </a:avLst>
          </a:prstGeom>
          <a:solidFill>
            <a:schemeClr val="bg2"/>
          </a:solidFill>
          <a:ln w="12700">
            <a:solidFill>
              <a:schemeClr val="bg2"/>
            </a:solidFill>
            <a:prstDash val="solid"/>
          </a:ln>
        </p:spPr>
      </p:sp>
      <p:pic>
        <p:nvPicPr>
          <p:cNvPr id="20" name="a4_96" descr="preencoded.png">    </p:cNvPr>
          <p:cNvPicPr>
            <a:picLocks noChangeAspect="1"/>
          </p:cNvPicPr>
          <p:nvPr/>
        </p:nvPicPr>
        <p:blipFill>
          <a:blip r:embed="rId6"/>
          <a:stretch>
            <a:fillRect/>
          </a:stretch>
        </p:blipFill>
        <p:spPr>
          <a:xfrm>
            <a:off x="9774936" y="2057400"/>
            <a:ext cx="274320" cy="274320"/>
          </a:xfrm>
          <a:prstGeom prst="rect">
            <a:avLst/>
          </a:prstGeom>
        </p:spPr>
      </p:pic>
      <p:sp>
        <p:nvSpPr>
          <p:cNvPr id="21" name="a4_97"/>
          <p:cNvSpPr/>
          <p:nvPr/>
        </p:nvSpPr>
        <p:spPr>
          <a:xfrm>
            <a:off x="10296144" y="1920240"/>
            <a:ext cx="548640" cy="548640"/>
          </a:xfrm>
          <a:prstGeom prst="roundRect">
            <a:avLst>
              <a:gd name="adj" fmla="val 23333"/>
            </a:avLst>
          </a:prstGeom>
          <a:solidFill>
            <a:schemeClr val="bg2"/>
          </a:solidFill>
          <a:ln w="12700">
            <a:solidFill>
              <a:schemeClr val="bg2"/>
            </a:solidFill>
            <a:prstDash val="solid"/>
          </a:ln>
        </p:spPr>
      </p:sp>
      <p:pic>
        <p:nvPicPr>
          <p:cNvPr id="22" name="a4_98" descr="preencoded.png">    </p:cNvPr>
          <p:cNvPicPr>
            <a:picLocks noChangeAspect="1"/>
          </p:cNvPicPr>
          <p:nvPr/>
        </p:nvPicPr>
        <p:blipFill>
          <a:blip r:embed="rId7"/>
          <a:stretch>
            <a:fillRect/>
          </a:stretch>
        </p:blipFill>
        <p:spPr>
          <a:xfrm>
            <a:off x="10433304" y="2057400"/>
            <a:ext cx="274320" cy="274320"/>
          </a:xfrm>
          <a:prstGeom prst="rect">
            <a:avLst/>
          </a:prstGeom>
        </p:spPr>
      </p:pic>
      <p:sp>
        <p:nvSpPr>
          <p:cNvPr id="23" name="a4_99"/>
          <p:cNvSpPr/>
          <p:nvPr/>
        </p:nvSpPr>
        <p:spPr>
          <a:xfrm>
            <a:off x="10954512" y="1920240"/>
            <a:ext cx="548640" cy="548640"/>
          </a:xfrm>
          <a:prstGeom prst="roundRect">
            <a:avLst>
              <a:gd name="adj" fmla="val 23333"/>
            </a:avLst>
          </a:prstGeom>
          <a:solidFill>
            <a:schemeClr val="bg2"/>
          </a:solidFill>
          <a:ln w="12700">
            <a:solidFill>
              <a:schemeClr val="bg2"/>
            </a:solidFill>
            <a:prstDash val="solid"/>
          </a:ln>
        </p:spPr>
      </p:sp>
      <p:pic>
        <p:nvPicPr>
          <p:cNvPr id="24" name="a4_100" descr="preencoded.png">    </p:cNvPr>
          <p:cNvPicPr>
            <a:picLocks noChangeAspect="1"/>
          </p:cNvPicPr>
          <p:nvPr/>
        </p:nvPicPr>
        <p:blipFill>
          <a:blip r:embed="rId8"/>
          <a:stretch>
            <a:fillRect/>
          </a:stretch>
        </p:blipFill>
        <p:spPr>
          <a:xfrm>
            <a:off x="11091672" y="2057400"/>
            <a:ext cx="274320" cy="274320"/>
          </a:xfrm>
          <a:prstGeom prst="rect">
            <a:avLst/>
          </a:prstGeom>
        </p:spPr>
      </p:pic>
      <p:sp>
        <p:nvSpPr>
          <p:cNvPr id="25" name="a4_101"/>
          <p:cNvSpPr/>
          <p:nvPr/>
        </p:nvSpPr>
        <p:spPr>
          <a:xfrm>
            <a:off x="8321040" y="2651760"/>
            <a:ext cx="548640" cy="548640"/>
          </a:xfrm>
          <a:prstGeom prst="roundRect">
            <a:avLst>
              <a:gd name="adj" fmla="val 23333"/>
            </a:avLst>
          </a:prstGeom>
          <a:solidFill>
            <a:schemeClr val="bg2"/>
          </a:solidFill>
          <a:ln w="12700">
            <a:solidFill>
              <a:schemeClr val="bg2"/>
            </a:solidFill>
            <a:prstDash val="solid"/>
          </a:ln>
        </p:spPr>
      </p:sp>
      <p:pic>
        <p:nvPicPr>
          <p:cNvPr id="26" name="a4_102" descr="preencoded.png">    </p:cNvPr>
          <p:cNvPicPr>
            <a:picLocks noChangeAspect="1"/>
          </p:cNvPicPr>
          <p:nvPr/>
        </p:nvPicPr>
        <p:blipFill>
          <a:blip r:embed="rId9"/>
          <a:stretch>
            <a:fillRect/>
          </a:stretch>
        </p:blipFill>
        <p:spPr>
          <a:xfrm>
            <a:off x="8458200" y="2788920"/>
            <a:ext cx="274320" cy="274320"/>
          </a:xfrm>
          <a:prstGeom prst="rect">
            <a:avLst/>
          </a:prstGeom>
        </p:spPr>
      </p:pic>
      <p:sp>
        <p:nvSpPr>
          <p:cNvPr id="27" name="a4_103"/>
          <p:cNvSpPr/>
          <p:nvPr/>
        </p:nvSpPr>
        <p:spPr>
          <a:xfrm>
            <a:off x="8979408" y="2651760"/>
            <a:ext cx="548640" cy="548640"/>
          </a:xfrm>
          <a:prstGeom prst="roundRect">
            <a:avLst>
              <a:gd name="adj" fmla="val 23333"/>
            </a:avLst>
          </a:prstGeom>
          <a:solidFill>
            <a:schemeClr val="bg2"/>
          </a:solidFill>
          <a:ln w="12700">
            <a:solidFill>
              <a:schemeClr val="bg2"/>
            </a:solidFill>
            <a:prstDash val="solid"/>
          </a:ln>
        </p:spPr>
      </p:sp>
      <p:pic>
        <p:nvPicPr>
          <p:cNvPr id="28" name="a4_104" descr="preencoded.png">    </p:cNvPr>
          <p:cNvPicPr>
            <a:picLocks noChangeAspect="1"/>
          </p:cNvPicPr>
          <p:nvPr/>
        </p:nvPicPr>
        <p:blipFill>
          <a:blip r:embed="rId10"/>
          <a:stretch>
            <a:fillRect/>
          </a:stretch>
        </p:blipFill>
        <p:spPr>
          <a:xfrm>
            <a:off x="9116568" y="2788920"/>
            <a:ext cx="274320" cy="274320"/>
          </a:xfrm>
          <a:prstGeom prst="rect">
            <a:avLst/>
          </a:prstGeom>
        </p:spPr>
      </p:pic>
      <p:sp>
        <p:nvSpPr>
          <p:cNvPr id="29" name="a4_105"/>
          <p:cNvSpPr/>
          <p:nvPr/>
        </p:nvSpPr>
        <p:spPr>
          <a:xfrm>
            <a:off x="9637776" y="2651760"/>
            <a:ext cx="548640" cy="548640"/>
          </a:xfrm>
          <a:prstGeom prst="roundRect">
            <a:avLst>
              <a:gd name="adj" fmla="val 23333"/>
            </a:avLst>
          </a:prstGeom>
          <a:solidFill>
            <a:schemeClr val="bg2"/>
          </a:solidFill>
          <a:ln w="12700">
            <a:solidFill>
              <a:schemeClr val="bg2"/>
            </a:solidFill>
            <a:prstDash val="solid"/>
          </a:ln>
        </p:spPr>
      </p:sp>
      <p:pic>
        <p:nvPicPr>
          <p:cNvPr id="30" name="a4_106" descr="preencoded.png">    </p:cNvPr>
          <p:cNvPicPr>
            <a:picLocks noChangeAspect="1"/>
          </p:cNvPicPr>
          <p:nvPr/>
        </p:nvPicPr>
        <p:blipFill>
          <a:blip r:embed="rId11"/>
          <a:stretch>
            <a:fillRect/>
          </a:stretch>
        </p:blipFill>
        <p:spPr>
          <a:xfrm>
            <a:off x="9774936" y="2788920"/>
            <a:ext cx="274320" cy="274320"/>
          </a:xfrm>
          <a:prstGeom prst="rect">
            <a:avLst/>
          </a:prstGeom>
        </p:spPr>
      </p:pic>
      <p:sp>
        <p:nvSpPr>
          <p:cNvPr id="31" name="a4_107"/>
          <p:cNvSpPr/>
          <p:nvPr/>
        </p:nvSpPr>
        <p:spPr>
          <a:xfrm>
            <a:off x="10296144" y="2651760"/>
            <a:ext cx="548640" cy="548640"/>
          </a:xfrm>
          <a:prstGeom prst="roundRect">
            <a:avLst>
              <a:gd name="adj" fmla="val 23333"/>
            </a:avLst>
          </a:prstGeom>
          <a:solidFill>
            <a:schemeClr val="bg2"/>
          </a:solidFill>
          <a:ln w="12700">
            <a:solidFill>
              <a:schemeClr val="bg2"/>
            </a:solidFill>
            <a:prstDash val="solid"/>
          </a:ln>
        </p:spPr>
      </p:sp>
      <p:pic>
        <p:nvPicPr>
          <p:cNvPr id="32" name="a4_108" descr="preencoded.png">    </p:cNvPr>
          <p:cNvPicPr>
            <a:picLocks noChangeAspect="1"/>
          </p:cNvPicPr>
          <p:nvPr/>
        </p:nvPicPr>
        <p:blipFill>
          <a:blip r:embed="rId12"/>
          <a:stretch>
            <a:fillRect/>
          </a:stretch>
        </p:blipFill>
        <p:spPr>
          <a:xfrm>
            <a:off x="10433304" y="2788920"/>
            <a:ext cx="274320" cy="274320"/>
          </a:xfrm>
          <a:prstGeom prst="rect">
            <a:avLst/>
          </a:prstGeom>
        </p:spPr>
      </p:pic>
      <p:sp>
        <p:nvSpPr>
          <p:cNvPr id="33" name="a4_109"/>
          <p:cNvSpPr/>
          <p:nvPr/>
        </p:nvSpPr>
        <p:spPr>
          <a:xfrm>
            <a:off x="10954512" y="2651760"/>
            <a:ext cx="548640" cy="548640"/>
          </a:xfrm>
          <a:prstGeom prst="roundRect">
            <a:avLst>
              <a:gd name="adj" fmla="val 23333"/>
            </a:avLst>
          </a:prstGeom>
          <a:solidFill>
            <a:schemeClr val="bg2"/>
          </a:solidFill>
          <a:ln w="12700">
            <a:solidFill>
              <a:schemeClr val="bg2"/>
            </a:solidFill>
            <a:prstDash val="solid"/>
          </a:ln>
        </p:spPr>
      </p:sp>
      <p:pic>
        <p:nvPicPr>
          <p:cNvPr id="34" name="a4_110" descr="preencoded.png">    </p:cNvPr>
          <p:cNvPicPr>
            <a:picLocks noChangeAspect="1"/>
          </p:cNvPicPr>
          <p:nvPr/>
        </p:nvPicPr>
        <p:blipFill>
          <a:blip r:embed="rId13"/>
          <a:stretch>
            <a:fillRect/>
          </a:stretch>
        </p:blipFill>
        <p:spPr>
          <a:xfrm>
            <a:off x="11091672" y="2788920"/>
            <a:ext cx="274320" cy="274320"/>
          </a:xfrm>
          <a:prstGeom prst="rect">
            <a:avLst/>
          </a:prstGeom>
        </p:spPr>
      </p:pic>
      <p:sp>
        <p:nvSpPr>
          <p:cNvPr id="35" name="a4_111"/>
          <p:cNvSpPr/>
          <p:nvPr/>
        </p:nvSpPr>
        <p:spPr>
          <a:xfrm>
            <a:off x="8321040" y="3383280"/>
            <a:ext cx="548640" cy="548640"/>
          </a:xfrm>
          <a:prstGeom prst="roundRect">
            <a:avLst>
              <a:gd name="adj" fmla="val 23333"/>
            </a:avLst>
          </a:prstGeom>
          <a:solidFill>
            <a:schemeClr val="bg2"/>
          </a:solidFill>
          <a:ln w="12700">
            <a:solidFill>
              <a:schemeClr val="bg2"/>
            </a:solidFill>
            <a:prstDash val="solid"/>
          </a:ln>
        </p:spPr>
      </p:sp>
      <p:pic>
        <p:nvPicPr>
          <p:cNvPr id="36" name="a4_112" descr="preencoded.png">    </p:cNvPr>
          <p:cNvPicPr>
            <a:picLocks noChangeAspect="1"/>
          </p:cNvPicPr>
          <p:nvPr/>
        </p:nvPicPr>
        <p:blipFill>
          <a:blip r:embed="rId14"/>
          <a:stretch>
            <a:fillRect/>
          </a:stretch>
        </p:blipFill>
        <p:spPr>
          <a:xfrm>
            <a:off x="8458200" y="3520440"/>
            <a:ext cx="274320" cy="274320"/>
          </a:xfrm>
          <a:prstGeom prst="rect">
            <a:avLst/>
          </a:prstGeom>
        </p:spPr>
      </p:pic>
      <p:sp>
        <p:nvSpPr>
          <p:cNvPr id="37" name="a4_113"/>
          <p:cNvSpPr/>
          <p:nvPr/>
        </p:nvSpPr>
        <p:spPr>
          <a:xfrm>
            <a:off x="8979408" y="3383280"/>
            <a:ext cx="548640" cy="548640"/>
          </a:xfrm>
          <a:prstGeom prst="roundRect">
            <a:avLst>
              <a:gd name="adj" fmla="val 23333"/>
            </a:avLst>
          </a:prstGeom>
          <a:solidFill>
            <a:schemeClr val="bg2"/>
          </a:solidFill>
          <a:ln w="12700">
            <a:solidFill>
              <a:schemeClr val="bg2"/>
            </a:solidFill>
            <a:prstDash val="solid"/>
          </a:ln>
        </p:spPr>
      </p:sp>
      <p:pic>
        <p:nvPicPr>
          <p:cNvPr id="38" name="a4_114" descr="preencoded.png">    </p:cNvPr>
          <p:cNvPicPr>
            <a:picLocks noChangeAspect="1"/>
          </p:cNvPicPr>
          <p:nvPr/>
        </p:nvPicPr>
        <p:blipFill>
          <a:blip r:embed="rId15"/>
          <a:stretch>
            <a:fillRect/>
          </a:stretch>
        </p:blipFill>
        <p:spPr>
          <a:xfrm>
            <a:off x="9116568" y="3520440"/>
            <a:ext cx="274320" cy="274320"/>
          </a:xfrm>
          <a:prstGeom prst="rect">
            <a:avLst/>
          </a:prstGeom>
        </p:spPr>
      </p:pic>
      <p:sp>
        <p:nvSpPr>
          <p:cNvPr id="39" name="a4_115"/>
          <p:cNvSpPr/>
          <p:nvPr/>
        </p:nvSpPr>
        <p:spPr>
          <a:xfrm>
            <a:off x="9637776" y="3383280"/>
            <a:ext cx="548640" cy="548640"/>
          </a:xfrm>
          <a:prstGeom prst="roundRect">
            <a:avLst>
              <a:gd name="adj" fmla="val 23333"/>
            </a:avLst>
          </a:prstGeom>
          <a:solidFill>
            <a:schemeClr val="bg2"/>
          </a:solidFill>
          <a:ln w="12700">
            <a:solidFill>
              <a:schemeClr val="bg2"/>
            </a:solidFill>
            <a:prstDash val="solid"/>
          </a:ln>
        </p:spPr>
      </p:sp>
      <p:pic>
        <p:nvPicPr>
          <p:cNvPr id="40" name="a4_116" descr="preencoded.png">    </p:cNvPr>
          <p:cNvPicPr>
            <a:picLocks noChangeAspect="1"/>
          </p:cNvPicPr>
          <p:nvPr/>
        </p:nvPicPr>
        <p:blipFill>
          <a:blip r:embed="rId16"/>
          <a:stretch>
            <a:fillRect/>
          </a:stretch>
        </p:blipFill>
        <p:spPr>
          <a:xfrm>
            <a:off x="9774936" y="3520440"/>
            <a:ext cx="274320" cy="274320"/>
          </a:xfrm>
          <a:prstGeom prst="rect">
            <a:avLst/>
          </a:prstGeom>
        </p:spPr>
      </p:pic>
      <p:sp>
        <p:nvSpPr>
          <p:cNvPr id="41" name="a4_117"/>
          <p:cNvSpPr/>
          <p:nvPr/>
        </p:nvSpPr>
        <p:spPr>
          <a:xfrm>
            <a:off x="10296144" y="3383280"/>
            <a:ext cx="548640" cy="548640"/>
          </a:xfrm>
          <a:prstGeom prst="roundRect">
            <a:avLst>
              <a:gd name="adj" fmla="val 23333"/>
            </a:avLst>
          </a:prstGeom>
          <a:solidFill>
            <a:schemeClr val="bg2"/>
          </a:solidFill>
          <a:ln w="12700">
            <a:solidFill>
              <a:schemeClr val="bg2"/>
            </a:solidFill>
            <a:prstDash val="solid"/>
          </a:ln>
        </p:spPr>
      </p:sp>
      <p:pic>
        <p:nvPicPr>
          <p:cNvPr id="42" name="a4_118" descr="preencoded.png">    </p:cNvPr>
          <p:cNvPicPr>
            <a:picLocks noChangeAspect="1"/>
          </p:cNvPicPr>
          <p:nvPr/>
        </p:nvPicPr>
        <p:blipFill>
          <a:blip r:embed="rId17"/>
          <a:stretch>
            <a:fillRect/>
          </a:stretch>
        </p:blipFill>
        <p:spPr>
          <a:xfrm>
            <a:off x="10433304" y="3520440"/>
            <a:ext cx="274320" cy="274320"/>
          </a:xfrm>
          <a:prstGeom prst="rect">
            <a:avLst/>
          </a:prstGeom>
        </p:spPr>
      </p:pic>
      <p:sp>
        <p:nvSpPr>
          <p:cNvPr id="43" name="a4_119"/>
          <p:cNvSpPr/>
          <p:nvPr/>
        </p:nvSpPr>
        <p:spPr>
          <a:xfrm>
            <a:off x="10954512" y="3383280"/>
            <a:ext cx="548640" cy="548640"/>
          </a:xfrm>
          <a:prstGeom prst="roundRect">
            <a:avLst>
              <a:gd name="adj" fmla="val 23333"/>
            </a:avLst>
          </a:prstGeom>
          <a:solidFill>
            <a:schemeClr val="bg2"/>
          </a:solidFill>
          <a:ln w="12700">
            <a:solidFill>
              <a:schemeClr val="bg2"/>
            </a:solidFill>
            <a:prstDash val="solid"/>
          </a:ln>
        </p:spPr>
      </p:sp>
      <p:pic>
        <p:nvPicPr>
          <p:cNvPr id="44" name="a4_120" descr="preencoded.png">    </p:cNvPr>
          <p:cNvPicPr>
            <a:picLocks noChangeAspect="1"/>
          </p:cNvPicPr>
          <p:nvPr/>
        </p:nvPicPr>
        <p:blipFill>
          <a:blip r:embed="rId18"/>
          <a:stretch>
            <a:fillRect/>
          </a:stretch>
        </p:blipFill>
        <p:spPr>
          <a:xfrm>
            <a:off x="11091672" y="3520440"/>
            <a:ext cx="274320" cy="274320"/>
          </a:xfrm>
          <a:prstGeom prst="rect">
            <a:avLst/>
          </a:prstGeom>
        </p:spPr>
      </p:pic>
      <p:sp>
        <p:nvSpPr>
          <p:cNvPr id="45" name="a4_121"/>
          <p:cNvSpPr txBox="1"/>
          <p:nvPr/>
        </p:nvSpPr>
        <p:spPr>
          <a:xfrm>
            <a:off x="8321040" y="4160520"/>
            <a:ext cx="3200400" cy="365760"/>
          </a:xfrm>
          <a:prstGeom prst="rect">
            <a:avLst/>
          </a:prstGeom>
          <a:noFill/>
          <a:ln/>
        </p:spPr>
        <p:txBody>
          <a:bodyPr wrap="square" lIns="0" tIns="0" rIns="0" bIns="0" rtlCol="0" anchor="ctr"/>
          <a:lstStyle/>
          <a:p>
            <a:pPr algn="ctr" indent="0" marL="0">
              <a:buNone/>
            </a:pPr>
            <a:r>
              <a:rPr lang="en-US" sz="1600" b="1" dirty="0">
                <a:solidFill>
                  <a:schemeClr val="tx2"/>
                </a:solidFill>
              </a:rPr>
              <a:t>15 postes des employés</a:t>
            </a:r>
            <a:endParaRPr lang="en-US" sz="1600" dirty="0"/>
          </a:p>
        </p:txBody>
      </p:sp>
      <p:sp>
        <p:nvSpPr>
          <p:cNvPr id="46" name="a5_122"/>
          <p:cNvSpPr/>
          <p:nvPr/>
        </p:nvSpPr>
        <p:spPr>
          <a:xfrm>
            <a:off x="54864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47" name="a5_123"/>
          <p:cNvSpPr txBox="1"/>
          <p:nvPr/>
        </p:nvSpPr>
        <p:spPr>
          <a:xfrm>
            <a:off x="82296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Sécurisé</a:t>
            </a:r>
            <a:endParaRPr lang="en-US" sz="2800" dirty="0"/>
          </a:p>
        </p:txBody>
      </p:sp>
      <p:sp>
        <p:nvSpPr>
          <p:cNvPr id="48" name="a5_124"/>
          <p:cNvSpPr txBox="1"/>
          <p:nvPr/>
        </p:nvSpPr>
        <p:spPr>
          <a:xfrm>
            <a:off x="82296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connexion privée et protégée</a:t>
            </a:r>
            <a:endParaRPr lang="en-US" sz="1400" dirty="0"/>
          </a:p>
        </p:txBody>
      </p:sp>
      <p:sp>
        <p:nvSpPr>
          <p:cNvPr id="49" name="a5_125"/>
          <p:cNvSpPr/>
          <p:nvPr/>
        </p:nvSpPr>
        <p:spPr>
          <a:xfrm>
            <a:off x="429768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0" name="a5_126"/>
          <p:cNvSpPr txBox="1"/>
          <p:nvPr/>
        </p:nvSpPr>
        <p:spPr>
          <a:xfrm>
            <a:off x="457200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24h/24</a:t>
            </a:r>
            <a:endParaRPr lang="en-US" sz="2800" dirty="0"/>
          </a:p>
        </p:txBody>
      </p:sp>
      <p:sp>
        <p:nvSpPr>
          <p:cNvPr id="51" name="a5_127"/>
          <p:cNvSpPr txBox="1"/>
          <p:nvPr/>
        </p:nvSpPr>
        <p:spPr>
          <a:xfrm>
            <a:off x="457200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accès pour l'administrateur</a:t>
            </a:r>
            <a:endParaRPr lang="en-US" sz="1400" dirty="0"/>
          </a:p>
        </p:txBody>
      </p:sp>
      <p:sp>
        <p:nvSpPr>
          <p:cNvPr id="52" name="a5_128"/>
          <p:cNvSpPr/>
          <p:nvPr/>
        </p:nvSpPr>
        <p:spPr>
          <a:xfrm>
            <a:off x="804672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3" name="a5_129"/>
          <p:cNvSpPr txBox="1"/>
          <p:nvPr/>
        </p:nvSpPr>
        <p:spPr>
          <a:xfrm>
            <a:off x="832104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Minutes</a:t>
            </a:r>
            <a:endParaRPr lang="en-US" sz="2800" dirty="0"/>
          </a:p>
        </p:txBody>
      </p:sp>
      <p:sp>
        <p:nvSpPr>
          <p:cNvPr id="54" name="a5_130"/>
          <p:cNvSpPr txBox="1"/>
          <p:nvPr/>
        </p:nvSpPr>
        <p:spPr>
          <a:xfrm>
            <a:off x="832104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au lieu d'un déplacement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9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13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9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6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67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7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79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8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91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97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303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par>
                          <p:cTn id="160" presetID="10" presetClass="entr" presetSubtype="0" fill="hold" nodeType="withEffect">
                            <p:stCondLst>
                              <p:cond delay="3090"/>
                            </p:stCondLst>
                            <p:childTnLst>
                              <p:set>
                                <p:cBhvr>
                                  <p:cTn id="161" dur="1" fill="hold">
                                    <p:stCondLst>
                                      <p:cond delay="0"/>
                                    </p:stCondLst>
                                  </p:cTn>
                                  <p:tgtEl>
                                    <p:spTgt spid="43"/>
                                  </p:tgtEl>
                                  <p:attrNameLst>
                                    <p:attrName>style.visibility</p:attrName>
                                  </p:attrNameLst>
                                </p:cBhvr>
                                <p:to>
                                  <p:strVal val="visible"/>
                                </p:to>
                              </p:set>
                              <p:animEffect transition="in" filter="fade">
                                <p:cBhvr>
                                  <p:cTn id="162" dur="600"/>
                                  <p:tgtEl>
                                    <p:spTgt spid="43"/>
                                  </p:tgtEl>
                                </p:cBhvr>
                              </p:animEffect>
                              <p:anim calcmode="lin" valueType="num">
                                <p:cBhvr>
                                  <p:cTn id="163" dur="600" decel="100000" fill="hold"/>
                                  <p:tgtEl>
                                    <p:spTgt spid="43"/>
                                  </p:tgtEl>
                                  <p:attrNameLst>
                                    <p:attrName>ppt_y</p:attrName>
                                  </p:attrNameLst>
                                </p:cBhvr>
                                <p:tavLst>
                                  <p:tav tm="0">
                                    <p:val>
                                      <p:strVal val="#ppt_y+0.03"/>
                                    </p:val>
                                  </p:tav>
                                  <p:tav tm="100000">
                                    <p:val>
                                      <p:strVal val="#ppt_y"/>
                                    </p:val>
                                  </p:tav>
                                </p:tavLst>
                              </p:anim>
                            </p:childTnLst>
                          </p:cTn>
                        </p:par>
                        <p:par>
                          <p:cTn id="164" presetID="10" presetClass="entr" presetSubtype="0" fill="hold" nodeType="withEffect">
                            <p:stCondLst>
                              <p:cond delay="315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600"/>
                                  <p:tgtEl>
                                    <p:spTgt spid="44"/>
                                  </p:tgtEl>
                                </p:cBhvr>
                              </p:animEffect>
                              <p:anim calcmode="lin" valueType="num">
                                <p:cBhvr>
                                  <p:cTn id="167" dur="600" decel="100000" fill="hold"/>
                                  <p:tgtEl>
                                    <p:spTgt spid="44"/>
                                  </p:tgtEl>
                                  <p:attrNameLst>
                                    <p:attrName>ppt_y</p:attrName>
                                  </p:attrNameLst>
                                </p:cBhvr>
                                <p:tavLst>
                                  <p:tav tm="0">
                                    <p:val>
                                      <p:strVal val="#ppt_y+0.03"/>
                                    </p:val>
                                  </p:tav>
                                  <p:tav tm="100000">
                                    <p:val>
                                      <p:strVal val="#ppt_y"/>
                                    </p:val>
                                  </p:tav>
                                </p:tavLst>
                              </p:anim>
                            </p:childTnLst>
                          </p:cTn>
                        </p:par>
                        <p:par>
                          <p:cTn id="168" presetID="10" presetClass="entr" presetSubtype="0" fill="hold" nodeType="withEffect">
                            <p:stCondLst>
                              <p:cond delay="321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600"/>
                                  <p:tgtEl>
                                    <p:spTgt spid="45"/>
                                  </p:tgtEl>
                                </p:cBhvr>
                              </p:animEffect>
                              <p:anim calcmode="lin" valueType="num">
                                <p:cBhvr>
                                  <p:cTn id="171" dur="600" decel="1000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fill="hold" nodeType="withEffect">
                            <p:stCondLst>
                              <p:cond delay="180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anim calcmode="lin" valueType="num">
                                <p:cBhvr>
                                  <p:cTn id="175" dur="600" decel="100000" fill="hold"/>
                                  <p:tgtEl>
                                    <p:spTgt spid="46"/>
                                  </p:tgtEl>
                                  <p:attrNameLst>
                                    <p:attrName>ppt_y</p:attrName>
                                  </p:attrNameLst>
                                </p:cBhvr>
                                <p:tavLst>
                                  <p:tav tm="0">
                                    <p:val>
                                      <p:strVal val="#ppt_y+0.03"/>
                                    </p:val>
                                  </p:tav>
                                  <p:tav tm="100000">
                                    <p:val>
                                      <p:strVal val="#ppt_y"/>
                                    </p:val>
                                  </p:tav>
                                </p:tavLst>
                              </p:anim>
                            </p:childTnLst>
                          </p:cTn>
                        </p:par>
                        <p:par>
                          <p:cTn id="176" presetID="10" presetClass="entr" presetSubtype="0" fill="hold" nodeType="withEffect">
                            <p:stCondLst>
                              <p:cond delay="186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anim calcmode="lin" valueType="num">
                                <p:cBhvr>
                                  <p:cTn id="179" dur="600" decel="100000" fill="hold"/>
                                  <p:tgtEl>
                                    <p:spTgt spid="47"/>
                                  </p:tgtEl>
                                  <p:attrNameLst>
                                    <p:attrName>ppt_y</p:attrName>
                                  </p:attrNameLst>
                                </p:cBhvr>
                                <p:tavLst>
                                  <p:tav tm="0">
                                    <p:val>
                                      <p:strVal val="#ppt_y+0.03"/>
                                    </p:val>
                                  </p:tav>
                                  <p:tav tm="100000">
                                    <p:val>
                                      <p:strVal val="#ppt_y"/>
                                    </p:val>
                                  </p:tav>
                                </p:tavLst>
                              </p:anim>
                            </p:childTnLst>
                          </p:cTn>
                        </p:par>
                        <p:par>
                          <p:cTn id="180" presetID="10" presetClass="entr" presetSubtype="0" fill="hold" nodeType="withEffect">
                            <p:stCondLst>
                              <p:cond delay="1920"/>
                            </p:stCondLst>
                            <p:childTnLst>
                              <p:set>
                                <p:cBhvr>
                                  <p:cTn id="181" dur="1" fill="hold">
                                    <p:stCondLst>
                                      <p:cond delay="0"/>
                                    </p:stCondLst>
                                  </p:cTn>
                                  <p:tgtEl>
                                    <p:spTgt spid="48"/>
                                  </p:tgtEl>
                                  <p:attrNameLst>
                                    <p:attrName>style.visibility</p:attrName>
                                  </p:attrNameLst>
                                </p:cBhvr>
                                <p:to>
                                  <p:strVal val="visible"/>
                                </p:to>
                              </p:set>
                              <p:animEffect transition="in" filter="fade">
                                <p:cBhvr>
                                  <p:cTn id="182" dur="600"/>
                                  <p:tgtEl>
                                    <p:spTgt spid="48"/>
                                  </p:tgtEl>
                                </p:cBhvr>
                              </p:animEffect>
                              <p:anim calcmode="lin" valueType="num">
                                <p:cBhvr>
                                  <p:cTn id="183" dur="600" decel="100000" fill="hold"/>
                                  <p:tgtEl>
                                    <p:spTgt spid="48"/>
                                  </p:tgtEl>
                                  <p:attrNameLst>
                                    <p:attrName>ppt_y</p:attrName>
                                  </p:attrNameLst>
                                </p:cBhvr>
                                <p:tavLst>
                                  <p:tav tm="0">
                                    <p:val>
                                      <p:strVal val="#ppt_y+0.03"/>
                                    </p:val>
                                  </p:tav>
                                  <p:tav tm="100000">
                                    <p:val>
                                      <p:strVal val="#ppt_y"/>
                                    </p:val>
                                  </p:tav>
                                </p:tavLst>
                              </p:anim>
                            </p:childTnLst>
                          </p:cTn>
                        </p:par>
                        <p:par>
                          <p:cTn id="184" presetID="10" presetClass="entr" presetSubtype="0" fill="hold" nodeType="withEffect">
                            <p:stCondLst>
                              <p:cond delay="1980"/>
                            </p:stCondLst>
                            <p:childTnLst>
                              <p:set>
                                <p:cBhvr>
                                  <p:cTn id="185" dur="1" fill="hold">
                                    <p:stCondLst>
                                      <p:cond delay="0"/>
                                    </p:stCondLst>
                                  </p:cTn>
                                  <p:tgtEl>
                                    <p:spTgt spid="49"/>
                                  </p:tgtEl>
                                  <p:attrNameLst>
                                    <p:attrName>style.visibility</p:attrName>
                                  </p:attrNameLst>
                                </p:cBhvr>
                                <p:to>
                                  <p:strVal val="visible"/>
                                </p:to>
                              </p:set>
                              <p:animEffect transition="in" filter="fade">
                                <p:cBhvr>
                                  <p:cTn id="186" dur="600"/>
                                  <p:tgtEl>
                                    <p:spTgt spid="49"/>
                                  </p:tgtEl>
                                </p:cBhvr>
                              </p:animEffect>
                              <p:anim calcmode="lin" valueType="num">
                                <p:cBhvr>
                                  <p:cTn id="187" dur="600" decel="100000" fill="hold"/>
                                  <p:tgtEl>
                                    <p:spTgt spid="49"/>
                                  </p:tgtEl>
                                  <p:attrNameLst>
                                    <p:attrName>ppt_y</p:attrName>
                                  </p:attrNameLst>
                                </p:cBhvr>
                                <p:tavLst>
                                  <p:tav tm="0">
                                    <p:val>
                                      <p:strVal val="#ppt_y+0.03"/>
                                    </p:val>
                                  </p:tav>
                                  <p:tav tm="100000">
                                    <p:val>
                                      <p:strVal val="#ppt_y"/>
                                    </p:val>
                                  </p:tav>
                                </p:tavLst>
                              </p:anim>
                            </p:childTnLst>
                          </p:cTn>
                        </p:par>
                        <p:par>
                          <p:cTn id="188" presetID="10" presetClass="entr" presetSubtype="0" fill="hold" nodeType="withEffect">
                            <p:stCondLst>
                              <p:cond delay="2040"/>
                            </p:stCondLst>
                            <p:childTnLst>
                              <p:set>
                                <p:cBhvr>
                                  <p:cTn id="189" dur="1" fill="hold">
                                    <p:stCondLst>
                                      <p:cond delay="0"/>
                                    </p:stCondLst>
                                  </p:cTn>
                                  <p:tgtEl>
                                    <p:spTgt spid="50"/>
                                  </p:tgtEl>
                                  <p:attrNameLst>
                                    <p:attrName>style.visibility</p:attrName>
                                  </p:attrNameLst>
                                </p:cBhvr>
                                <p:to>
                                  <p:strVal val="visible"/>
                                </p:to>
                              </p:set>
                              <p:animEffect transition="in" filter="fade">
                                <p:cBhvr>
                                  <p:cTn id="190" dur="600"/>
                                  <p:tgtEl>
                                    <p:spTgt spid="50"/>
                                  </p:tgtEl>
                                </p:cBhvr>
                              </p:animEffect>
                              <p:anim calcmode="lin" valueType="num">
                                <p:cBhvr>
                                  <p:cTn id="191" dur="600" decel="100000" fill="hold"/>
                                  <p:tgtEl>
                                    <p:spTgt spid="50"/>
                                  </p:tgtEl>
                                  <p:attrNameLst>
                                    <p:attrName>ppt_y</p:attrName>
                                  </p:attrNameLst>
                                </p:cBhvr>
                                <p:tavLst>
                                  <p:tav tm="0">
                                    <p:val>
                                      <p:strVal val="#ppt_y+0.03"/>
                                    </p:val>
                                  </p:tav>
                                  <p:tav tm="100000">
                                    <p:val>
                                      <p:strVal val="#ppt_y"/>
                                    </p:val>
                                  </p:tav>
                                </p:tavLst>
                              </p:anim>
                            </p:childTnLst>
                          </p:cTn>
                        </p:par>
                        <p:par>
                          <p:cTn id="192" presetID="10" presetClass="entr" presetSubtype="0" fill="hold" nodeType="withEffect">
                            <p:stCondLst>
                              <p:cond delay="2100"/>
                            </p:stCondLst>
                            <p:childTnLst>
                              <p:set>
                                <p:cBhvr>
                                  <p:cTn id="193" dur="1" fill="hold">
                                    <p:stCondLst>
                                      <p:cond delay="0"/>
                                    </p:stCondLst>
                                  </p:cTn>
                                  <p:tgtEl>
                                    <p:spTgt spid="51"/>
                                  </p:tgtEl>
                                  <p:attrNameLst>
                                    <p:attrName>style.visibility</p:attrName>
                                  </p:attrNameLst>
                                </p:cBhvr>
                                <p:to>
                                  <p:strVal val="visible"/>
                                </p:to>
                              </p:set>
                              <p:animEffect transition="in" filter="fade">
                                <p:cBhvr>
                                  <p:cTn id="194" dur="600"/>
                                  <p:tgtEl>
                                    <p:spTgt spid="51"/>
                                  </p:tgtEl>
                                </p:cBhvr>
                              </p:animEffect>
                              <p:anim calcmode="lin" valueType="num">
                                <p:cBhvr>
                                  <p:cTn id="195" dur="600" decel="100000" fill="hold"/>
                                  <p:tgtEl>
                                    <p:spTgt spid="51"/>
                                  </p:tgtEl>
                                  <p:attrNameLst>
                                    <p:attrName>ppt_y</p:attrName>
                                  </p:attrNameLst>
                                </p:cBhvr>
                                <p:tavLst>
                                  <p:tav tm="0">
                                    <p:val>
                                      <p:strVal val="#ppt_y+0.03"/>
                                    </p:val>
                                  </p:tav>
                                  <p:tav tm="100000">
                                    <p:val>
                                      <p:strVal val="#ppt_y"/>
                                    </p:val>
                                  </p:tav>
                                </p:tavLst>
                              </p:anim>
                            </p:childTnLst>
                          </p:cTn>
                        </p:par>
                        <p:par>
                          <p:cTn id="196" presetID="10" presetClass="entr" presetSubtype="0" fill="hold" nodeType="withEffect">
                            <p:stCondLst>
                              <p:cond delay="216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600"/>
                                  <p:tgtEl>
                                    <p:spTgt spid="52"/>
                                  </p:tgtEl>
                                </p:cBhvr>
                              </p:animEffect>
                              <p:anim calcmode="lin" valueType="num">
                                <p:cBhvr>
                                  <p:cTn id="199" dur="600" decel="100000" fill="hold"/>
                                  <p:tgtEl>
                                    <p:spTgt spid="52"/>
                                  </p:tgtEl>
                                  <p:attrNameLst>
                                    <p:attrName>ppt_y</p:attrName>
                                  </p:attrNameLst>
                                </p:cBhvr>
                                <p:tavLst>
                                  <p:tav tm="0">
                                    <p:val>
                                      <p:strVal val="#ppt_y+0.03"/>
                                    </p:val>
                                  </p:tav>
                                  <p:tav tm="100000">
                                    <p:val>
                                      <p:strVal val="#ppt_y"/>
                                    </p:val>
                                  </p:tav>
                                </p:tavLst>
                              </p:anim>
                            </p:childTnLst>
                          </p:cTn>
                        </p:par>
                        <p:par>
                          <p:cTn id="200" presetID="10" presetClass="entr" presetSubtype="0" fill="hold" nodeType="withEffect">
                            <p:stCondLst>
                              <p:cond delay="2220"/>
                            </p:stCondLst>
                            <p:childTnLst>
                              <p:set>
                                <p:cBhvr>
                                  <p:cTn id="201" dur="1" fill="hold">
                                    <p:stCondLst>
                                      <p:cond delay="0"/>
                                    </p:stCondLst>
                                  </p:cTn>
                                  <p:tgtEl>
                                    <p:spTgt spid="53"/>
                                  </p:tgtEl>
                                  <p:attrNameLst>
                                    <p:attrName>style.visibility</p:attrName>
                                  </p:attrNameLst>
                                </p:cBhvr>
                                <p:to>
                                  <p:strVal val="visible"/>
                                </p:to>
                              </p:set>
                              <p:animEffect transition="in" filter="fade">
                                <p:cBhvr>
                                  <p:cTn id="202" dur="600"/>
                                  <p:tgtEl>
                                    <p:spTgt spid="53"/>
                                  </p:tgtEl>
                                </p:cBhvr>
                              </p:animEffect>
                              <p:anim calcmode="lin" valueType="num">
                                <p:cBhvr>
                                  <p:cTn id="203" dur="600" decel="100000" fill="hold"/>
                                  <p:tgtEl>
                                    <p:spTgt spid="53"/>
                                  </p:tgtEl>
                                  <p:attrNameLst>
                                    <p:attrName>ppt_y</p:attrName>
                                  </p:attrNameLst>
                                </p:cBhvr>
                                <p:tavLst>
                                  <p:tav tm="0">
                                    <p:val>
                                      <p:strVal val="#ppt_y+0.03"/>
                                    </p:val>
                                  </p:tav>
                                  <p:tav tm="100000">
                                    <p:val>
                                      <p:strVal val="#ppt_y"/>
                                    </p:val>
                                  </p:tav>
                                </p:tavLst>
                              </p:anim>
                            </p:childTnLst>
                          </p:cTn>
                        </p:par>
                        <p:par>
                          <p:cTn id="204" presetID="10" presetClass="entr" presetSubtype="0" fill="hold" nodeType="withEffect">
                            <p:stCondLst>
                              <p:cond delay="228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600"/>
                                  <p:tgtEl>
                                    <p:spTgt spid="54"/>
                                  </p:tgtEl>
                                </p:cBhvr>
                              </p:animEffect>
                              <p:anim calcmode="lin" valueType="num">
                                <p:cBhvr>
                                  <p:cTn id="207" dur="600" decel="100000" fill="hold"/>
                                  <p:tgtEl>
                                    <p:spTgt spid="5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Pourquoi ces choix</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Des technologies </a:t>
            </a:r>
            <a:pPr algn="l" indent="0" marL="0">
              <a:buNone/>
            </a:pPr>
            <a:r>
              <a:rPr lang="en-US" sz="3200" b="1" dirty="0">
                <a:solidFill>
                  <a:schemeClr val="accent1"/>
                </a:solidFill>
              </a:rPr>
              <a:t>fiables</a:t>
            </a:r>
            <a:pPr algn="l" indent="0" marL="0">
              <a:buNone/>
            </a:pPr>
            <a:r>
              <a:rPr lang="en-US" sz="3200" b="1" dirty="0">
                <a:solidFill>
                  <a:schemeClr val="tx1"/>
                </a:solidFill>
              </a:rPr>
              <a:t>, sans abonnement caché</a:t>
            </a:r>
            <a:endParaRPr lang="en-US" sz="3200" dirty="0"/>
          </a:p>
        </p:txBody>
      </p:sp>
      <p:sp>
        <p:nvSpPr>
          <p:cNvPr id="4" name="a1_131"/>
          <p:cNvSpPr/>
          <p:nvPr/>
        </p:nvSpPr>
        <p:spPr>
          <a:xfrm>
            <a:off x="822960" y="1645920"/>
            <a:ext cx="4389120" cy="4389120"/>
          </a:xfrm>
          <a:prstGeom prst="ellipse">
            <a:avLst/>
          </a:prstGeom>
          <a:solidFill>
            <a:schemeClr val="bg2"/>
          </a:solidFill>
          <a:ln w="12700">
            <a:solidFill>
              <a:schemeClr val="bg2"/>
            </a:solidFill>
            <a:prstDash val="solid"/>
          </a:ln>
        </p:spPr>
      </p:sp>
      <p:pic>
        <p:nvPicPr>
          <p:cNvPr id="5" name="a1_132" descr="preencoded.png">    </p:cNvPr>
          <p:cNvPicPr>
            <a:picLocks noChangeAspect="1"/>
          </p:cNvPicPr>
          <p:nvPr/>
        </p:nvPicPr>
        <p:blipFill>
          <a:blip r:embed="rId1"/>
          <a:stretch>
            <a:fillRect/>
          </a:stretch>
        </p:blipFill>
        <p:spPr>
          <a:xfrm>
            <a:off x="914400" y="1737360"/>
            <a:ext cx="4206240" cy="4206240"/>
          </a:xfrm>
          <a:prstGeom prst="rect">
            <a:avLst/>
          </a:prstGeom>
        </p:spPr>
      </p:pic>
      <p:sp>
        <p:nvSpPr>
          <p:cNvPr id="6" name="a2_133"/>
          <p:cNvSpPr/>
          <p:nvPr/>
        </p:nvSpPr>
        <p:spPr>
          <a:xfrm>
            <a:off x="5943600" y="1783080"/>
            <a:ext cx="548640" cy="548640"/>
          </a:xfrm>
          <a:prstGeom prst="ellipse">
            <a:avLst/>
          </a:prstGeom>
          <a:solidFill>
            <a:schemeClr val="accent1"/>
          </a:solidFill>
          <a:ln w="12700">
            <a:solidFill>
              <a:schemeClr val="accent1"/>
            </a:solidFill>
            <a:prstDash val="solid"/>
          </a:ln>
        </p:spPr>
      </p:sp>
      <p:pic>
        <p:nvPicPr>
          <p:cNvPr id="7" name="a2_134" descr="preencoded.png">    </p:cNvPr>
          <p:cNvPicPr>
            <a:picLocks noChangeAspect="1"/>
          </p:cNvPicPr>
          <p:nvPr/>
        </p:nvPicPr>
        <p:blipFill>
          <a:blip r:embed="rId2"/>
          <a:stretch>
            <a:fillRect/>
          </a:stretch>
        </p:blipFill>
        <p:spPr>
          <a:xfrm>
            <a:off x="6086246" y="1925726"/>
            <a:ext cx="263347" cy="263347"/>
          </a:xfrm>
          <a:prstGeom prst="rect">
            <a:avLst/>
          </a:prstGeom>
        </p:spPr>
      </p:pic>
      <p:sp>
        <p:nvSpPr>
          <p:cNvPr id="8" name="a2_135"/>
          <p:cNvSpPr txBox="1"/>
          <p:nvPr/>
        </p:nvSpPr>
        <p:spPr>
          <a:xfrm>
            <a:off x="6720840" y="173736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Évolutif</a:t>
            </a:r>
            <a:endParaRPr lang="en-US" sz="2000" dirty="0"/>
          </a:p>
        </p:txBody>
      </p:sp>
      <p:sp>
        <p:nvSpPr>
          <p:cNvPr id="9" name="a2_136"/>
          <p:cNvSpPr txBox="1"/>
          <p:nvPr/>
        </p:nvSpPr>
        <p:spPr>
          <a:xfrm>
            <a:off x="6720840" y="219456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Plus tard, on pourra ajouter de nouveaux outils sur le même serveur, sans racheter de machine.</a:t>
            </a:r>
            <a:endParaRPr lang="en-US" sz="1500" dirty="0"/>
          </a:p>
        </p:txBody>
      </p:sp>
      <p:sp>
        <p:nvSpPr>
          <p:cNvPr id="10" name="a3_137"/>
          <p:cNvSpPr/>
          <p:nvPr/>
        </p:nvSpPr>
        <p:spPr>
          <a:xfrm>
            <a:off x="5943600" y="3246120"/>
            <a:ext cx="548640" cy="548640"/>
          </a:xfrm>
          <a:prstGeom prst="ellipse">
            <a:avLst/>
          </a:prstGeom>
          <a:solidFill>
            <a:schemeClr val="accent1"/>
          </a:solidFill>
          <a:ln w="12700">
            <a:solidFill>
              <a:schemeClr val="accent1"/>
            </a:solidFill>
            <a:prstDash val="solid"/>
          </a:ln>
        </p:spPr>
      </p:sp>
      <p:pic>
        <p:nvPicPr>
          <p:cNvPr id="11" name="a3_138" descr="preencoded.png">    </p:cNvPr>
          <p:cNvPicPr>
            <a:picLocks noChangeAspect="1"/>
          </p:cNvPicPr>
          <p:nvPr/>
        </p:nvPicPr>
        <p:blipFill>
          <a:blip r:embed="rId3"/>
          <a:stretch>
            <a:fillRect/>
          </a:stretch>
        </p:blipFill>
        <p:spPr>
          <a:xfrm>
            <a:off x="6086246" y="3388766"/>
            <a:ext cx="263347" cy="263347"/>
          </a:xfrm>
          <a:prstGeom prst="rect">
            <a:avLst/>
          </a:prstGeom>
        </p:spPr>
      </p:pic>
      <p:sp>
        <p:nvSpPr>
          <p:cNvPr id="12" name="a3_139"/>
          <p:cNvSpPr txBox="1"/>
          <p:nvPr/>
        </p:nvSpPr>
        <p:spPr>
          <a:xfrm>
            <a:off x="6720840" y="320040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Standard du marché</a:t>
            </a:r>
            <a:endParaRPr lang="en-US" sz="2000" dirty="0"/>
          </a:p>
        </p:txBody>
      </p:sp>
      <p:sp>
        <p:nvSpPr>
          <p:cNvPr id="13" name="a3_140"/>
          <p:cNvSpPr txBox="1"/>
          <p:nvPr/>
        </p:nvSpPr>
        <p:spPr>
          <a:xfrm>
            <a:off x="6720840" y="365760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Windows Server est utilisé par de très nombreuses entreprises : c'est une valeur sûre.</a:t>
            </a:r>
            <a:endParaRPr lang="en-US" sz="1500" dirty="0"/>
          </a:p>
        </p:txBody>
      </p:sp>
      <p:sp>
        <p:nvSpPr>
          <p:cNvPr id="14" name="a4_141"/>
          <p:cNvSpPr/>
          <p:nvPr/>
        </p:nvSpPr>
        <p:spPr>
          <a:xfrm>
            <a:off x="5943600" y="4709160"/>
            <a:ext cx="548640" cy="548640"/>
          </a:xfrm>
          <a:prstGeom prst="ellipse">
            <a:avLst/>
          </a:prstGeom>
          <a:solidFill>
            <a:schemeClr val="accent1"/>
          </a:solidFill>
          <a:ln w="12700">
            <a:solidFill>
              <a:schemeClr val="accent1"/>
            </a:solidFill>
            <a:prstDash val="solid"/>
          </a:ln>
        </p:spPr>
      </p:sp>
      <p:pic>
        <p:nvPicPr>
          <p:cNvPr id="15" name="a4_142" descr="preencoded.png">    </p:cNvPr>
          <p:cNvPicPr>
            <a:picLocks noChangeAspect="1"/>
          </p:cNvPicPr>
          <p:nvPr/>
        </p:nvPicPr>
        <p:blipFill>
          <a:blip r:embed="rId4"/>
          <a:stretch>
            <a:fillRect/>
          </a:stretch>
        </p:blipFill>
        <p:spPr>
          <a:xfrm>
            <a:off x="6086246" y="4851806"/>
            <a:ext cx="263347" cy="263347"/>
          </a:xfrm>
          <a:prstGeom prst="rect">
            <a:avLst/>
          </a:prstGeom>
        </p:spPr>
      </p:pic>
      <p:sp>
        <p:nvSpPr>
          <p:cNvPr id="16" name="a4_143"/>
          <p:cNvSpPr txBox="1"/>
          <p:nvPr/>
        </p:nvSpPr>
        <p:spPr>
          <a:xfrm>
            <a:off x="6720840" y="466344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Économique</a:t>
            </a:r>
            <a:endParaRPr lang="en-US" sz="2000" dirty="0"/>
          </a:p>
        </p:txBody>
      </p:sp>
      <p:sp>
        <p:nvSpPr>
          <p:cNvPr id="17" name="a4_144"/>
          <p:cNvSpPr txBox="1"/>
          <p:nvPr/>
        </p:nvSpPr>
        <p:spPr>
          <a:xfrm>
            <a:off x="6720840" y="512064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et Tailscale sont gratuits : rien à payer chaque mois.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nous occupons de </a:t>
            </a:r>
            <a:pPr algn="l" indent="0" marL="0">
              <a:buNone/>
            </a:pPr>
            <a:r>
              <a:rPr lang="en-US" sz="3200" b="1" dirty="0">
                <a:solidFill>
                  <a:schemeClr val="accent1"/>
                </a:solidFill>
              </a:rPr>
              <a:t>tout</a:t>
            </a:r>
            <a:endParaRPr lang="en-US" sz="3200" dirty="0"/>
          </a:p>
        </p:txBody>
      </p:sp>
      <p:sp>
        <p:nvSpPr>
          <p:cNvPr id="4" name="a1_145"/>
          <p:cNvSpPr/>
          <p:nvPr/>
        </p:nvSpPr>
        <p:spPr>
          <a:xfrm>
            <a:off x="1280160" y="2240280"/>
            <a:ext cx="9601200" cy="0"/>
          </a:xfrm>
          <a:prstGeom prst="line">
            <a:avLst/>
          </a:prstGeom>
          <a:noFill/>
          <a:ln w="25400">
            <a:solidFill>
              <a:schemeClr val="accent4"/>
            </a:solidFill>
            <a:prstDash val="dash"/>
          </a:ln>
        </p:spPr>
      </p:sp>
      <p:sp>
        <p:nvSpPr>
          <p:cNvPr id="5" name="a2_146"/>
          <p:cNvSpPr/>
          <p:nvPr/>
        </p:nvSpPr>
        <p:spPr>
          <a:xfrm>
            <a:off x="960120" y="1828800"/>
            <a:ext cx="822960" cy="822960"/>
          </a:xfrm>
          <a:prstGeom prst="ellipse">
            <a:avLst/>
          </a:prstGeom>
          <a:solidFill>
            <a:schemeClr val="accent1"/>
          </a:solidFill>
          <a:ln w="12700">
            <a:solidFill>
              <a:schemeClr val="accent1"/>
            </a:solidFill>
            <a:prstDash val="solid"/>
          </a:ln>
        </p:spPr>
      </p:sp>
      <p:pic>
        <p:nvPicPr>
          <p:cNvPr id="6" name="a2_147" descr="preencoded.png">    </p:cNvPr>
          <p:cNvPicPr>
            <a:picLocks noChangeAspect="1"/>
          </p:cNvPicPr>
          <p:nvPr/>
        </p:nvPicPr>
        <p:blipFill>
          <a:blip r:embed="rId1"/>
          <a:stretch>
            <a:fillRect/>
          </a:stretch>
        </p:blipFill>
        <p:spPr>
          <a:xfrm>
            <a:off x="1174090" y="2042770"/>
            <a:ext cx="395021" cy="395021"/>
          </a:xfrm>
          <a:prstGeom prst="rect">
            <a:avLst/>
          </a:prstGeom>
        </p:spPr>
      </p:pic>
      <p:sp>
        <p:nvSpPr>
          <p:cNvPr id="7" name="a2_148"/>
          <p:cNvSpPr/>
          <p:nvPr/>
        </p:nvSpPr>
        <p:spPr>
          <a:xfrm>
            <a:off x="54864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8" name="a2_149"/>
          <p:cNvSpPr txBox="1"/>
          <p:nvPr/>
        </p:nvSpPr>
        <p:spPr>
          <a:xfrm>
            <a:off x="73152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1</a:t>
            </a:r>
            <a:endParaRPr lang="en-US" sz="1200" dirty="0"/>
          </a:p>
        </p:txBody>
      </p:sp>
      <p:sp>
        <p:nvSpPr>
          <p:cNvPr id="9" name="a2_150"/>
          <p:cNvSpPr txBox="1"/>
          <p:nvPr/>
        </p:nvSpPr>
        <p:spPr>
          <a:xfrm>
            <a:off x="73152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Serveur</a:t>
            </a:r>
            <a:endParaRPr lang="en-US" sz="1700" dirty="0"/>
          </a:p>
        </p:txBody>
      </p:sp>
      <p:sp>
        <p:nvSpPr>
          <p:cNvPr id="10" name="a2_151"/>
          <p:cNvSpPr txBox="1"/>
          <p:nvPr/>
        </p:nvSpPr>
        <p:spPr>
          <a:xfrm>
            <a:off x="73152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Installation et préparation du serveur</a:t>
            </a:r>
            <a:endParaRPr lang="en-US" sz="1400" dirty="0"/>
          </a:p>
        </p:txBody>
      </p:sp>
      <p:sp>
        <p:nvSpPr>
          <p:cNvPr id="11" name="a3_152"/>
          <p:cNvSpPr/>
          <p:nvPr/>
        </p:nvSpPr>
        <p:spPr>
          <a:xfrm>
            <a:off x="3200400" y="1828800"/>
            <a:ext cx="822960" cy="822960"/>
          </a:xfrm>
          <a:prstGeom prst="ellipse">
            <a:avLst/>
          </a:prstGeom>
          <a:solidFill>
            <a:schemeClr val="accent1"/>
          </a:solidFill>
          <a:ln w="12700">
            <a:solidFill>
              <a:schemeClr val="accent1"/>
            </a:solidFill>
            <a:prstDash val="solid"/>
          </a:ln>
        </p:spPr>
      </p:sp>
      <p:pic>
        <p:nvPicPr>
          <p:cNvPr id="12" name="a3_153" descr="preencoded.png">    </p:cNvPr>
          <p:cNvPicPr>
            <a:picLocks noChangeAspect="1"/>
          </p:cNvPicPr>
          <p:nvPr/>
        </p:nvPicPr>
        <p:blipFill>
          <a:blip r:embed="rId2"/>
          <a:stretch>
            <a:fillRect/>
          </a:stretch>
        </p:blipFill>
        <p:spPr>
          <a:xfrm>
            <a:off x="3414370" y="2042770"/>
            <a:ext cx="395021" cy="395021"/>
          </a:xfrm>
          <a:prstGeom prst="rect">
            <a:avLst/>
          </a:prstGeom>
        </p:spPr>
      </p:pic>
      <p:sp>
        <p:nvSpPr>
          <p:cNvPr id="13" name="a3_154"/>
          <p:cNvSpPr/>
          <p:nvPr/>
        </p:nvSpPr>
        <p:spPr>
          <a:xfrm>
            <a:off x="278892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4" name="a3_155"/>
          <p:cNvSpPr txBox="1"/>
          <p:nvPr/>
        </p:nvSpPr>
        <p:spPr>
          <a:xfrm>
            <a:off x="297180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2</a:t>
            </a:r>
            <a:endParaRPr lang="en-US" sz="1200" dirty="0"/>
          </a:p>
        </p:txBody>
      </p:sp>
      <p:sp>
        <p:nvSpPr>
          <p:cNvPr id="15" name="a3_156"/>
          <p:cNvSpPr txBox="1"/>
          <p:nvPr/>
        </p:nvSpPr>
        <p:spPr>
          <a:xfrm>
            <a:off x="297180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Windows Server</a:t>
            </a:r>
            <a:endParaRPr lang="en-US" sz="1700" dirty="0"/>
          </a:p>
        </p:txBody>
      </p:sp>
      <p:sp>
        <p:nvSpPr>
          <p:cNvPr id="16" name="a3_157"/>
          <p:cNvSpPr txBox="1"/>
          <p:nvPr/>
        </p:nvSpPr>
        <p:spPr>
          <a:xfrm>
            <a:off x="297180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Création des comptes des employés</a:t>
            </a:r>
            <a:endParaRPr lang="en-US" sz="1400" dirty="0"/>
          </a:p>
        </p:txBody>
      </p:sp>
      <p:sp>
        <p:nvSpPr>
          <p:cNvPr id="17" name="a4_158"/>
          <p:cNvSpPr/>
          <p:nvPr/>
        </p:nvSpPr>
        <p:spPr>
          <a:xfrm>
            <a:off x="5440680" y="1828800"/>
            <a:ext cx="822960" cy="822960"/>
          </a:xfrm>
          <a:prstGeom prst="ellipse">
            <a:avLst/>
          </a:prstGeom>
          <a:solidFill>
            <a:schemeClr val="accent1"/>
          </a:solidFill>
          <a:ln w="12700">
            <a:solidFill>
              <a:schemeClr val="accent1"/>
            </a:solidFill>
            <a:prstDash val="solid"/>
          </a:ln>
        </p:spPr>
      </p:sp>
      <p:pic>
        <p:nvPicPr>
          <p:cNvPr id="18" name="a4_159" descr="preencoded.png">    </p:cNvPr>
          <p:cNvPicPr>
            <a:picLocks noChangeAspect="1"/>
          </p:cNvPicPr>
          <p:nvPr/>
        </p:nvPicPr>
        <p:blipFill>
          <a:blip r:embed="rId3"/>
          <a:stretch>
            <a:fillRect/>
          </a:stretch>
        </p:blipFill>
        <p:spPr>
          <a:xfrm>
            <a:off x="5654650" y="2042770"/>
            <a:ext cx="395021" cy="395021"/>
          </a:xfrm>
          <a:prstGeom prst="rect">
            <a:avLst/>
          </a:prstGeom>
        </p:spPr>
      </p:pic>
      <p:sp>
        <p:nvSpPr>
          <p:cNvPr id="19" name="a4_160"/>
          <p:cNvSpPr/>
          <p:nvPr/>
        </p:nvSpPr>
        <p:spPr>
          <a:xfrm>
            <a:off x="502920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4_161"/>
          <p:cNvSpPr txBox="1"/>
          <p:nvPr/>
        </p:nvSpPr>
        <p:spPr>
          <a:xfrm>
            <a:off x="521208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3</a:t>
            </a:r>
            <a:endParaRPr lang="en-US" sz="1200" dirty="0"/>
          </a:p>
        </p:txBody>
      </p:sp>
      <p:sp>
        <p:nvSpPr>
          <p:cNvPr id="21" name="a4_162"/>
          <p:cNvSpPr txBox="1"/>
          <p:nvPr/>
        </p:nvSpPr>
        <p:spPr>
          <a:xfrm>
            <a:off x="521208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Sécurité</a:t>
            </a:r>
            <a:endParaRPr lang="en-US" sz="1700" dirty="0"/>
          </a:p>
        </p:txBody>
      </p:sp>
      <p:sp>
        <p:nvSpPr>
          <p:cNvPr id="22" name="a4_163"/>
          <p:cNvSpPr txBox="1"/>
          <p:nvPr/>
        </p:nvSpPr>
        <p:spPr>
          <a:xfrm>
            <a:off x="521208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Règles automatiques : mots de passe, mises à jour, interdictions</a:t>
            </a:r>
            <a:endParaRPr lang="en-US" sz="1400" dirty="0"/>
          </a:p>
        </p:txBody>
      </p:sp>
      <p:sp>
        <p:nvSpPr>
          <p:cNvPr id="23" name="a5_164"/>
          <p:cNvSpPr/>
          <p:nvPr/>
        </p:nvSpPr>
        <p:spPr>
          <a:xfrm>
            <a:off x="7680960" y="1828800"/>
            <a:ext cx="822960" cy="822960"/>
          </a:xfrm>
          <a:prstGeom prst="ellipse">
            <a:avLst/>
          </a:prstGeom>
          <a:solidFill>
            <a:schemeClr val="accent1"/>
          </a:solidFill>
          <a:ln w="12700">
            <a:solidFill>
              <a:schemeClr val="accent1"/>
            </a:solidFill>
            <a:prstDash val="solid"/>
          </a:ln>
        </p:spPr>
      </p:sp>
      <p:pic>
        <p:nvPicPr>
          <p:cNvPr id="24" name="a5_165" descr="preencoded.png">    </p:cNvPr>
          <p:cNvPicPr>
            <a:picLocks noChangeAspect="1"/>
          </p:cNvPicPr>
          <p:nvPr/>
        </p:nvPicPr>
        <p:blipFill>
          <a:blip r:embed="rId4"/>
          <a:stretch>
            <a:fillRect/>
          </a:stretch>
        </p:blipFill>
        <p:spPr>
          <a:xfrm>
            <a:off x="7894930" y="2042770"/>
            <a:ext cx="395021" cy="395021"/>
          </a:xfrm>
          <a:prstGeom prst="rect">
            <a:avLst/>
          </a:prstGeom>
        </p:spPr>
      </p:pic>
      <p:sp>
        <p:nvSpPr>
          <p:cNvPr id="25" name="a5_166"/>
          <p:cNvSpPr/>
          <p:nvPr/>
        </p:nvSpPr>
        <p:spPr>
          <a:xfrm>
            <a:off x="726948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6" name="a5_167"/>
          <p:cNvSpPr txBox="1"/>
          <p:nvPr/>
        </p:nvSpPr>
        <p:spPr>
          <a:xfrm>
            <a:off x="745236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4</a:t>
            </a:r>
            <a:endParaRPr lang="en-US" sz="1200" dirty="0"/>
          </a:p>
        </p:txBody>
      </p:sp>
      <p:sp>
        <p:nvSpPr>
          <p:cNvPr id="27" name="a5_168"/>
          <p:cNvSpPr txBox="1"/>
          <p:nvPr/>
        </p:nvSpPr>
        <p:spPr>
          <a:xfrm>
            <a:off x="745236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15 postes</a:t>
            </a:r>
            <a:endParaRPr lang="en-US" sz="1700" dirty="0"/>
          </a:p>
        </p:txBody>
      </p:sp>
      <p:sp>
        <p:nvSpPr>
          <p:cNvPr id="28" name="a5_169"/>
          <p:cNvSpPr txBox="1"/>
          <p:nvPr/>
        </p:nvSpPr>
        <p:spPr>
          <a:xfrm>
            <a:off x="745236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Chaque ordinateur relié au serveur</a:t>
            </a:r>
            <a:endParaRPr lang="en-US" sz="1400" dirty="0"/>
          </a:p>
        </p:txBody>
      </p:sp>
      <p:sp>
        <p:nvSpPr>
          <p:cNvPr id="29" name="a6_170"/>
          <p:cNvSpPr/>
          <p:nvPr/>
        </p:nvSpPr>
        <p:spPr>
          <a:xfrm>
            <a:off x="9921240" y="1828800"/>
            <a:ext cx="822960" cy="822960"/>
          </a:xfrm>
          <a:prstGeom prst="ellipse">
            <a:avLst/>
          </a:prstGeom>
          <a:solidFill>
            <a:schemeClr val="accent2"/>
          </a:solidFill>
          <a:ln w="12700">
            <a:solidFill>
              <a:schemeClr val="accent2"/>
            </a:solidFill>
            <a:prstDash val="solid"/>
          </a:ln>
        </p:spPr>
      </p:sp>
      <p:pic>
        <p:nvPicPr>
          <p:cNvPr id="30" name="a6_171" descr="preencoded.png">    </p:cNvPr>
          <p:cNvPicPr>
            <a:picLocks noChangeAspect="1"/>
          </p:cNvPicPr>
          <p:nvPr/>
        </p:nvPicPr>
        <p:blipFill>
          <a:blip r:embed="rId5"/>
          <a:stretch>
            <a:fillRect/>
          </a:stretch>
        </p:blipFill>
        <p:spPr>
          <a:xfrm>
            <a:off x="10135210" y="2042770"/>
            <a:ext cx="395021" cy="395021"/>
          </a:xfrm>
          <a:prstGeom prst="rect">
            <a:avLst/>
          </a:prstGeom>
        </p:spPr>
      </p:pic>
      <p:sp>
        <p:nvSpPr>
          <p:cNvPr id="31" name="a6_172"/>
          <p:cNvSpPr/>
          <p:nvPr/>
        </p:nvSpPr>
        <p:spPr>
          <a:xfrm>
            <a:off x="950976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2" name="a6_173"/>
          <p:cNvSpPr txBox="1"/>
          <p:nvPr/>
        </p:nvSpPr>
        <p:spPr>
          <a:xfrm>
            <a:off x="969264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5</a:t>
            </a:r>
            <a:endParaRPr lang="en-US" sz="1200" dirty="0"/>
          </a:p>
        </p:txBody>
      </p:sp>
      <p:sp>
        <p:nvSpPr>
          <p:cNvPr id="33" name="a6_174"/>
          <p:cNvSpPr txBox="1"/>
          <p:nvPr/>
        </p:nvSpPr>
        <p:spPr>
          <a:xfrm>
            <a:off x="969264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Accès distant</a:t>
            </a:r>
            <a:endParaRPr lang="en-US" sz="1700" dirty="0"/>
          </a:p>
        </p:txBody>
      </p:sp>
      <p:sp>
        <p:nvSpPr>
          <p:cNvPr id="34" name="a6_175"/>
          <p:cNvSpPr txBox="1"/>
          <p:nvPr/>
        </p:nvSpPr>
        <p:spPr>
          <a:xfrm>
            <a:off x="969264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Connexion à distance pour l'administrateur</a:t>
            </a:r>
            <a:endParaRPr lang="en-US" sz="1400" dirty="0"/>
          </a:p>
        </p:txBody>
      </p:sp>
      <p:sp>
        <p:nvSpPr>
          <p:cNvPr id="35" name="a7_176"/>
          <p:cNvSpPr/>
          <p:nvPr/>
        </p:nvSpPr>
        <p:spPr>
          <a:xfrm>
            <a:off x="548640" y="5349240"/>
            <a:ext cx="11064240" cy="777240"/>
          </a:xfrm>
          <a:prstGeom prst="roundRect">
            <a:avLst>
              <a:gd name="adj" fmla="val 16471"/>
            </a:avLst>
          </a:prstGeom>
          <a:solidFill>
            <a:schemeClr val="tx2"/>
          </a:solidFill>
          <a:ln w="12700">
            <a:solidFill>
              <a:schemeClr val="tx2"/>
            </a:solidFill>
            <a:prstDash val="solid"/>
          </a:ln>
        </p:spPr>
      </p:sp>
      <p:sp>
        <p:nvSpPr>
          <p:cNvPr id="36" name="a7_177"/>
          <p:cNvSpPr txBox="1"/>
          <p:nvPr/>
        </p:nvSpPr>
        <p:spPr>
          <a:xfrm>
            <a:off x="822960" y="5349240"/>
            <a:ext cx="10515600" cy="777240"/>
          </a:xfrm>
          <a:prstGeom prst="rect">
            <a:avLst/>
          </a:prstGeom>
          <a:noFill/>
          <a:ln/>
        </p:spPr>
        <p:txBody>
          <a:bodyPr wrap="square" lIns="0" tIns="0" rIns="0" bIns="0" rtlCol="0" anchor="ctr"/>
          <a:lstStyle/>
          <a:p>
            <a:pPr indent="0" marL="0">
              <a:buNone/>
            </a:pPr>
            <a:r>
              <a:rPr lang="en-US" sz="1800" dirty="0">
                <a:solidFill>
                  <a:schemeClr val="accent4"/>
                </a:solidFill>
              </a:rPr>
              <a:t>Installation, configuration et déploiement complet : </a:t>
            </a:r>
            <a:pPr indent="0" marL="0">
              <a:buNone/>
            </a:pPr>
            <a:r>
              <a:rPr lang="en-US" sz="1800" b="1" dirty="0">
                <a:solidFill>
                  <a:schemeClr val="bg1"/>
                </a:solidFill>
              </a:rPr>
              <a:t>450 000 FCFA</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2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0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14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20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35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41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47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53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5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6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0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86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92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98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04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70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76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Votre investissement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investissement unique</a:t>
            </a:r>
            <a:endParaRPr lang="en-US" sz="3200" dirty="0"/>
          </a:p>
        </p:txBody>
      </p:sp>
      <p:sp>
        <p:nvSpPr>
          <p:cNvPr id="4" name="a1_178"/>
          <p:cNvSpPr txBox="1"/>
          <p:nvPr/>
        </p:nvSpPr>
        <p:spPr>
          <a:xfrm>
            <a:off x="548640" y="1737360"/>
            <a:ext cx="6035040" cy="1645920"/>
          </a:xfrm>
          <a:prstGeom prst="rect">
            <a:avLst/>
          </a:prstGeom>
          <a:noFill/>
          <a:ln/>
        </p:spPr>
        <p:txBody>
          <a:bodyPr wrap="square" lIns="0" tIns="0" rIns="0" bIns="0" rtlCol="0" anchor="t"/>
          <a:lstStyle/>
          <a:p>
            <a:pPr indent="0" marL="0">
              <a:buNone/>
            </a:pPr>
            <a:r>
              <a:rPr lang="en-US" sz="2600" dirty="0">
                <a:solidFill>
                  <a:schemeClr val="tx1"/>
                </a:solidFill>
              </a:rPr>
              <a:t>15 postes administrés comme dans une grande entreprise, pour </a:t>
            </a:r>
            <a:pPr indent="0" marL="0">
              <a:buNone/>
            </a:pPr>
            <a:r>
              <a:rPr lang="en-US" sz="2600" b="1" dirty="0">
                <a:solidFill>
                  <a:schemeClr val="accent1"/>
                </a:solidFill>
              </a:rPr>
              <a:t>≈ 76 700 FCFA par poste.</a:t>
            </a:r>
            <a:endParaRPr lang="en-US" sz="2600" dirty="0"/>
          </a:p>
        </p:txBody>
      </p:sp>
      <p:sp>
        <p:nvSpPr>
          <p:cNvPr id="5" name="a1_179"/>
          <p:cNvSpPr txBox="1"/>
          <p:nvPr/>
        </p:nvSpPr>
        <p:spPr>
          <a:xfrm>
            <a:off x="548640" y="3429000"/>
            <a:ext cx="6035040" cy="365760"/>
          </a:xfrm>
          <a:prstGeom prst="rect">
            <a:avLst/>
          </a:prstGeom>
          <a:noFill/>
          <a:ln/>
        </p:spPr>
        <p:txBody>
          <a:bodyPr wrap="square" lIns="0" tIns="0" rIns="0" bIns="0" rtlCol="0" anchor="ctr"/>
          <a:lstStyle/>
          <a:p>
            <a:pPr indent="0" marL="0">
              <a:buNone/>
            </a:pPr>
            <a:r>
              <a:rPr lang="en-US" sz="1500" i="1" dirty="0">
                <a:solidFill>
                  <a:schemeClr val="accent6"/>
                </a:solidFill>
              </a:rPr>
              <a:t>Paiement unique · aucun abonnement obligatoire</a:t>
            </a:r>
            <a:endParaRPr lang="en-US" sz="1500" dirty="0"/>
          </a:p>
        </p:txBody>
      </p:sp>
      <p:sp>
        <p:nvSpPr>
          <p:cNvPr id="6" name="a2_180"/>
          <p:cNvSpPr/>
          <p:nvPr/>
        </p:nvSpPr>
        <p:spPr>
          <a:xfrm>
            <a:off x="7680960" y="1371600"/>
            <a:ext cx="3840480" cy="3840480"/>
          </a:xfrm>
          <a:prstGeom prst="ellipse">
            <a:avLst/>
          </a:prstGeom>
          <a:solidFill>
            <a:schemeClr val="accent1"/>
          </a:solidFill>
          <a:ln w="12700">
            <a:solidFill>
              <a:schemeClr val="accent1"/>
            </a:solidFill>
            <a:prstDash val="solid"/>
          </a:ln>
        </p:spPr>
      </p:sp>
      <p:sp>
        <p:nvSpPr>
          <p:cNvPr id="7" name="a2_181"/>
          <p:cNvSpPr txBox="1"/>
          <p:nvPr/>
        </p:nvSpPr>
        <p:spPr>
          <a:xfrm>
            <a:off x="7818120" y="2139696"/>
            <a:ext cx="3566160" cy="2304288"/>
          </a:xfrm>
          <a:prstGeom prst="rect">
            <a:avLst/>
          </a:prstGeom>
          <a:noFill/>
          <a:ln/>
        </p:spPr>
        <p:txBody>
          <a:bodyPr wrap="square" lIns="0" tIns="0" rIns="0" bIns="0" rtlCol="0" anchor="ctr"/>
          <a:lstStyle/>
          <a:p>
            <a:pPr algn="ctr" indent="0" marL="0">
              <a:buNone/>
            </a:pPr>
            <a:r>
              <a:rPr lang="en-US" sz="4000" b="1" dirty="0">
                <a:solidFill>
                  <a:schemeClr val="bg1"/>
                </a:solidFill>
              </a:rPr>
              <a:t>1 150 000</a:t>
            </a:r>
            <a:endParaRPr lang="en-US" sz="4000" dirty="0"/>
          </a:p>
          <a:p>
            <a:pPr algn="ctr" indent="0" marL="0">
              <a:buNone/>
            </a:pPr>
            <a:r>
              <a:rPr lang="en-US" sz="1600" dirty="0">
                <a:solidFill>
                  <a:schemeClr val="accent4"/>
                </a:solidFill>
              </a:rPr>
              <a:t>FCFA HT · investissement total</a:t>
            </a:r>
            <a:endParaRPr lang="en-US" sz="4000" dirty="0"/>
          </a:p>
        </p:txBody>
      </p:sp>
      <p:sp>
        <p:nvSpPr>
          <p:cNvPr id="8" name="a3_182"/>
          <p:cNvSpPr/>
          <p:nvPr/>
        </p:nvSpPr>
        <p:spPr>
          <a:xfrm>
            <a:off x="4754880" y="3931920"/>
            <a:ext cx="2377440" cy="2377440"/>
          </a:xfrm>
          <a:prstGeom prst="ellipse">
            <a:avLst/>
          </a:prstGeom>
          <a:solidFill>
            <a:schemeClr val="accent3"/>
          </a:solidFill>
          <a:ln w="12700">
            <a:solidFill>
              <a:schemeClr val="accent3"/>
            </a:solidFill>
            <a:prstDash val="solid"/>
          </a:ln>
        </p:spPr>
      </p:sp>
      <p:sp>
        <p:nvSpPr>
          <p:cNvPr id="9" name="a3_183"/>
          <p:cNvSpPr txBox="1"/>
          <p:nvPr/>
        </p:nvSpPr>
        <p:spPr>
          <a:xfrm>
            <a:off x="4892040" y="4407408"/>
            <a:ext cx="2103120" cy="1426464"/>
          </a:xfrm>
          <a:prstGeom prst="rect">
            <a:avLst/>
          </a:prstGeom>
          <a:noFill/>
          <a:ln/>
        </p:spPr>
        <p:txBody>
          <a:bodyPr wrap="square" lIns="0" tIns="0" rIns="0" bIns="0" rtlCol="0" anchor="ctr"/>
          <a:lstStyle/>
          <a:p>
            <a:pPr algn="ctr" indent="0" marL="0">
              <a:buNone/>
            </a:pPr>
            <a:r>
              <a:rPr lang="en-US" sz="2400" b="1" dirty="0">
                <a:solidFill>
                  <a:schemeClr val="bg1"/>
                </a:solidFill>
              </a:rPr>
              <a:t>500 000</a:t>
            </a:r>
            <a:endParaRPr lang="en-US" sz="2400" dirty="0"/>
          </a:p>
          <a:p>
            <a:pPr algn="ctr" indent="0" marL="0">
              <a:buNone/>
            </a:pPr>
            <a:r>
              <a:rPr lang="en-US" sz="1300" dirty="0">
                <a:solidFill>
                  <a:schemeClr val="bg1"/>
                </a:solidFill>
              </a:rPr>
              <a:t>Serveur</a:t>
            </a:r>
            <a:endParaRPr lang="en-US" sz="2400" dirty="0"/>
          </a:p>
        </p:txBody>
      </p:sp>
      <p:sp>
        <p:nvSpPr>
          <p:cNvPr id="10" name="a4_184"/>
          <p:cNvSpPr/>
          <p:nvPr/>
        </p:nvSpPr>
        <p:spPr>
          <a:xfrm>
            <a:off x="6949440" y="4343400"/>
            <a:ext cx="2011680" cy="2011680"/>
          </a:xfrm>
          <a:prstGeom prst="ellipse">
            <a:avLst/>
          </a:prstGeom>
          <a:solidFill>
            <a:schemeClr val="tx2"/>
          </a:solidFill>
          <a:ln w="12700">
            <a:solidFill>
              <a:schemeClr val="tx2"/>
            </a:solidFill>
            <a:prstDash val="solid"/>
          </a:ln>
        </p:spPr>
      </p:sp>
      <p:sp>
        <p:nvSpPr>
          <p:cNvPr id="11" name="a4_185"/>
          <p:cNvSpPr txBox="1"/>
          <p:nvPr/>
        </p:nvSpPr>
        <p:spPr>
          <a:xfrm>
            <a:off x="7086600" y="4745736"/>
            <a:ext cx="1737360" cy="1207008"/>
          </a:xfrm>
          <a:prstGeom prst="rect">
            <a:avLst/>
          </a:prstGeom>
          <a:noFill/>
          <a:ln/>
        </p:spPr>
        <p:txBody>
          <a:bodyPr wrap="square" lIns="0" tIns="0" rIns="0" bIns="0" rtlCol="0" anchor="ctr"/>
          <a:lstStyle/>
          <a:p>
            <a:pPr algn="ctr" indent="0" marL="0">
              <a:buNone/>
            </a:pPr>
            <a:r>
              <a:rPr lang="en-US" sz="2400" b="1" dirty="0">
                <a:solidFill>
                  <a:schemeClr val="bg1"/>
                </a:solidFill>
              </a:rPr>
              <a:t>450 000</a:t>
            </a:r>
            <a:endParaRPr lang="en-US" sz="2400" dirty="0"/>
          </a:p>
          <a:p>
            <a:pPr algn="ctr" indent="0" marL="0">
              <a:buNone/>
            </a:pPr>
            <a:r>
              <a:rPr lang="en-US" sz="1300" dirty="0">
                <a:solidFill>
                  <a:schemeClr val="accent4"/>
                </a:solidFill>
              </a:rPr>
              <a:t>Installation et 15 postes</a:t>
            </a:r>
            <a:endParaRPr lang="en-US" sz="2400" dirty="0"/>
          </a:p>
        </p:txBody>
      </p:sp>
      <p:sp>
        <p:nvSpPr>
          <p:cNvPr id="12" name="a5_186"/>
          <p:cNvSpPr/>
          <p:nvPr/>
        </p:nvSpPr>
        <p:spPr>
          <a:xfrm>
            <a:off x="9966960" y="4846320"/>
            <a:ext cx="1554480" cy="1554480"/>
          </a:xfrm>
          <a:prstGeom prst="ellipse">
            <a:avLst/>
          </a:prstGeom>
          <a:solidFill>
            <a:schemeClr val="bg2"/>
          </a:solidFill>
          <a:ln w="12700">
            <a:solidFill>
              <a:schemeClr val="bg2"/>
            </a:solidFill>
            <a:prstDash val="solid"/>
          </a:ln>
        </p:spPr>
      </p:sp>
      <p:sp>
        <p:nvSpPr>
          <p:cNvPr id="13" name="a5_187"/>
          <p:cNvSpPr txBox="1"/>
          <p:nvPr/>
        </p:nvSpPr>
        <p:spPr>
          <a:xfrm>
            <a:off x="10104120" y="5157216"/>
            <a:ext cx="1280160" cy="932688"/>
          </a:xfrm>
          <a:prstGeom prst="rect">
            <a:avLst/>
          </a:prstGeom>
          <a:noFill/>
          <a:ln/>
        </p:spPr>
        <p:txBody>
          <a:bodyPr wrap="square" lIns="0" tIns="0" rIns="0" bIns="0" rtlCol="0" anchor="ctr"/>
          <a:lstStyle/>
          <a:p>
            <a:pPr algn="ctr" indent="0" marL="0">
              <a:buNone/>
            </a:pPr>
            <a:r>
              <a:rPr lang="en-US" sz="2000" b="1" dirty="0">
                <a:solidFill>
                  <a:schemeClr val="tx2"/>
                </a:solidFill>
              </a:rPr>
              <a:t>200 000</a:t>
            </a:r>
            <a:endParaRPr lang="en-US" sz="2000" dirty="0"/>
          </a:p>
          <a:p>
            <a:pPr algn="ctr" indent="0" marL="0">
              <a:buNone/>
            </a:pPr>
            <a:r>
              <a:rPr lang="en-US" sz="1300" dirty="0">
                <a:solidFill>
                  <a:schemeClr val="accent6"/>
                </a:solidFill>
              </a:rPr>
              <a:t>Licences ×2</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3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4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8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Après 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restons </a:t>
            </a:r>
            <a:pPr algn="l" indent="0" marL="0">
              <a:buNone/>
            </a:pPr>
            <a:r>
              <a:rPr lang="en-US" sz="3200" b="1" dirty="0">
                <a:solidFill>
                  <a:schemeClr val="accent1"/>
                </a:solidFill>
              </a:rPr>
              <a:t>à vos côtés</a:t>
            </a:r>
            <a:endParaRPr lang="en-US" sz="3200" dirty="0"/>
          </a:p>
        </p:txBody>
      </p:sp>
      <p:sp>
        <p:nvSpPr>
          <p:cNvPr id="4" name="a1_188"/>
          <p:cNvSpPr/>
          <p:nvPr/>
        </p:nvSpPr>
        <p:spPr>
          <a:xfrm>
            <a:off x="548640" y="1645920"/>
            <a:ext cx="5394960" cy="4206240"/>
          </a:xfrm>
          <a:prstGeom prst="roundRect">
            <a:avLst>
              <a:gd name="adj" fmla="val 3043"/>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189"/>
          <p:cNvSpPr/>
          <p:nvPr/>
        </p:nvSpPr>
        <p:spPr>
          <a:xfrm>
            <a:off x="868680" y="1965960"/>
            <a:ext cx="822960" cy="822960"/>
          </a:xfrm>
          <a:prstGeom prst="ellipse">
            <a:avLst/>
          </a:prstGeom>
          <a:solidFill>
            <a:schemeClr val="accent1"/>
          </a:solidFill>
          <a:ln w="12700">
            <a:solidFill>
              <a:schemeClr val="accent1"/>
            </a:solidFill>
            <a:prstDash val="solid"/>
          </a:ln>
        </p:spPr>
      </p:sp>
      <p:pic>
        <p:nvPicPr>
          <p:cNvPr id="6" name="a1_19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a1_191"/>
          <p:cNvSpPr txBox="1"/>
          <p:nvPr/>
        </p:nvSpPr>
        <p:spPr>
          <a:xfrm>
            <a:off x="868680" y="2971800"/>
            <a:ext cx="4754880" cy="914400"/>
          </a:xfrm>
          <a:prstGeom prst="rect">
            <a:avLst/>
          </a:prstGeom>
          <a:noFill/>
          <a:ln/>
        </p:spPr>
        <p:txBody>
          <a:bodyPr wrap="square" lIns="0" tIns="0" rIns="0" bIns="0" rtlCol="0" anchor="ctr"/>
          <a:lstStyle/>
          <a:p>
            <a:pPr indent="0" marL="0">
              <a:buNone/>
            </a:pPr>
            <a:r>
              <a:rPr lang="en-US" sz="6000" b="1" dirty="0">
                <a:solidFill>
                  <a:schemeClr val="accent1"/>
                </a:solidFill>
              </a:rPr>
              <a:t>3 mois</a:t>
            </a:r>
            <a:endParaRPr lang="en-US" sz="6000" dirty="0"/>
          </a:p>
        </p:txBody>
      </p:sp>
      <p:sp>
        <p:nvSpPr>
          <p:cNvPr id="8" name="a1_192"/>
          <p:cNvSpPr txBox="1"/>
          <p:nvPr/>
        </p:nvSpPr>
        <p:spPr>
          <a:xfrm>
            <a:off x="868680" y="3886200"/>
            <a:ext cx="4754880" cy="457200"/>
          </a:xfrm>
          <a:prstGeom prst="rect">
            <a:avLst/>
          </a:prstGeom>
          <a:noFill/>
          <a:ln/>
        </p:spPr>
        <p:txBody>
          <a:bodyPr wrap="square" lIns="0" tIns="0" rIns="0" bIns="0" rtlCol="0" anchor="ctr"/>
          <a:lstStyle/>
          <a:p>
            <a:pPr indent="0" marL="0">
              <a:buNone/>
            </a:pPr>
            <a:r>
              <a:rPr lang="en-US" sz="2200" b="1" dirty="0">
                <a:solidFill>
                  <a:schemeClr val="tx2"/>
                </a:solidFill>
              </a:rPr>
              <a:t>de maintenance offerts</a:t>
            </a:r>
            <a:endParaRPr lang="en-US" sz="2200" dirty="0"/>
          </a:p>
        </p:txBody>
      </p:sp>
      <p:sp>
        <p:nvSpPr>
          <p:cNvPr id="9" name="a1_193"/>
          <p:cNvSpPr txBox="1"/>
          <p:nvPr/>
        </p:nvSpPr>
        <p:spPr>
          <a:xfrm>
            <a:off x="868680" y="4434840"/>
            <a:ext cx="4754880" cy="1097280"/>
          </a:xfrm>
          <a:prstGeom prst="rect">
            <a:avLst/>
          </a:prstGeom>
          <a:noFill/>
          <a:ln/>
        </p:spPr>
        <p:txBody>
          <a:bodyPr wrap="square" lIns="0" tIns="0" rIns="0" bIns="0" rtlCol="0" anchor="t"/>
          <a:lstStyle/>
          <a:p>
            <a:pPr indent="0" marL="0">
              <a:buNone/>
            </a:pPr>
            <a:r>
              <a:rPr lang="en-US" sz="1500" dirty="0">
                <a:solidFill>
                  <a:schemeClr val="accent6"/>
                </a:solidFill>
              </a:rPr>
              <a:t>Dès le démarrage : on surveille, on corrige et on ajuste les réglages, sans frais.</a:t>
            </a:r>
            <a:endParaRPr lang="en-US" sz="1500" dirty="0"/>
          </a:p>
        </p:txBody>
      </p:sp>
      <p:sp>
        <p:nvSpPr>
          <p:cNvPr id="10" name="a2_194"/>
          <p:cNvSpPr/>
          <p:nvPr/>
        </p:nvSpPr>
        <p:spPr>
          <a:xfrm>
            <a:off x="6126480" y="3749040"/>
            <a:ext cx="548640" cy="0"/>
          </a:xfrm>
          <a:prstGeom prst="line">
            <a:avLst/>
          </a:prstGeom>
          <a:noFill/>
          <a:ln w="25400">
            <a:solidFill>
              <a:schemeClr val="accent4"/>
            </a:solidFill>
            <a:prstDash val="solid"/>
            <a:tailEnd type="triangle"/>
          </a:ln>
        </p:spPr>
      </p:sp>
      <p:sp>
        <p:nvSpPr>
          <p:cNvPr id="11" name="a2_195"/>
          <p:cNvSpPr/>
          <p:nvPr/>
        </p:nvSpPr>
        <p:spPr>
          <a:xfrm>
            <a:off x="6858000" y="1645920"/>
            <a:ext cx="4754880" cy="4206240"/>
          </a:xfrm>
          <a:prstGeom prst="roundRect">
            <a:avLst>
              <a:gd name="adj" fmla="val 304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12" name="a2_196"/>
          <p:cNvSpPr/>
          <p:nvPr/>
        </p:nvSpPr>
        <p:spPr>
          <a:xfrm>
            <a:off x="7178040" y="1965960"/>
            <a:ext cx="822960" cy="822960"/>
          </a:xfrm>
          <a:prstGeom prst="ellipse">
            <a:avLst/>
          </a:prstGeom>
          <a:solidFill>
            <a:schemeClr val="accent2"/>
          </a:solidFill>
          <a:ln w="12700">
            <a:solidFill>
              <a:schemeClr val="accent2"/>
            </a:solidFill>
            <a:prstDash val="solid"/>
          </a:ln>
        </p:spPr>
      </p:sp>
      <p:pic>
        <p:nvPicPr>
          <p:cNvPr id="13" name="a2_197" descr="preencoded.png">    </p:cNvPr>
          <p:cNvPicPr>
            <a:picLocks noChangeAspect="1"/>
          </p:cNvPicPr>
          <p:nvPr/>
        </p:nvPicPr>
        <p:blipFill>
          <a:blip r:embed="rId2"/>
          <a:stretch>
            <a:fillRect/>
          </a:stretch>
        </p:blipFill>
        <p:spPr>
          <a:xfrm>
            <a:off x="7392010" y="2179930"/>
            <a:ext cx="395021" cy="395021"/>
          </a:xfrm>
          <a:prstGeom prst="rect">
            <a:avLst/>
          </a:prstGeom>
        </p:spPr>
      </p:pic>
      <p:sp>
        <p:nvSpPr>
          <p:cNvPr id="14" name="a2_198"/>
          <p:cNvSpPr txBox="1"/>
          <p:nvPr/>
        </p:nvSpPr>
        <p:spPr>
          <a:xfrm>
            <a:off x="7178040" y="2971800"/>
            <a:ext cx="4206240" cy="365760"/>
          </a:xfrm>
          <a:prstGeom prst="rect">
            <a:avLst/>
          </a:prstGeom>
          <a:noFill/>
          <a:ln/>
        </p:spPr>
        <p:txBody>
          <a:bodyPr wrap="square" lIns="0" tIns="0" rIns="0" bIns="0" rtlCol="0" anchor="ctr"/>
          <a:lstStyle/>
          <a:p>
            <a:pPr indent="0" marL="0">
              <a:buNone/>
            </a:pPr>
            <a:r>
              <a:rPr lang="en-US" sz="1600" dirty="0">
                <a:solidFill>
                  <a:schemeClr val="accent4"/>
                </a:solidFill>
              </a:rPr>
              <a:t>Ensuite, en option</a:t>
            </a:r>
            <a:endParaRPr lang="en-US" sz="1600" dirty="0"/>
          </a:p>
        </p:txBody>
      </p:sp>
      <p:sp>
        <p:nvSpPr>
          <p:cNvPr id="15" name="a2_199"/>
          <p:cNvSpPr txBox="1"/>
          <p:nvPr/>
        </p:nvSpPr>
        <p:spPr>
          <a:xfrm>
            <a:off x="7178040" y="3337560"/>
            <a:ext cx="4206240" cy="548640"/>
          </a:xfrm>
          <a:prstGeom prst="rect">
            <a:avLst/>
          </a:prstGeom>
          <a:noFill/>
          <a:ln/>
        </p:spPr>
        <p:txBody>
          <a:bodyPr wrap="square" lIns="0" tIns="0" rIns="0" bIns="0" rtlCol="0" anchor="ctr"/>
          <a:lstStyle/>
          <a:p>
            <a:pPr indent="0" marL="0">
              <a:buNone/>
            </a:pPr>
            <a:r>
              <a:rPr lang="en-US" sz="2800" b="1" dirty="0">
                <a:solidFill>
                  <a:schemeClr val="bg1"/>
                </a:solidFill>
              </a:rPr>
              <a:t>à partir de 100 000 FCFA</a:t>
            </a:r>
            <a:endParaRPr lang="en-US" sz="2800" dirty="0"/>
          </a:p>
        </p:txBody>
      </p:sp>
      <p:sp>
        <p:nvSpPr>
          <p:cNvPr id="16" name="a2_200"/>
          <p:cNvSpPr txBox="1"/>
          <p:nvPr/>
        </p:nvSpPr>
        <p:spPr>
          <a:xfrm>
            <a:off x="7178040" y="3886200"/>
            <a:ext cx="4206240" cy="365760"/>
          </a:xfrm>
          <a:prstGeom prst="rect">
            <a:avLst/>
          </a:prstGeom>
          <a:noFill/>
          <a:ln/>
        </p:spPr>
        <p:txBody>
          <a:bodyPr wrap="square" lIns="0" tIns="0" rIns="0" bIns="0" rtlCol="0" anchor="ctr"/>
          <a:lstStyle/>
          <a:p>
            <a:pPr indent="0" marL="0">
              <a:buNone/>
            </a:pPr>
            <a:r>
              <a:rPr lang="en-US" sz="1500" dirty="0">
                <a:solidFill>
                  <a:schemeClr val="accent4"/>
                </a:solidFill>
              </a:rPr>
              <a:t>par trimestre · formule à définir ensemble</a:t>
            </a:r>
            <a:endParaRPr lang="en-US" sz="1500" dirty="0"/>
          </a:p>
        </p:txBody>
      </p:sp>
      <p:sp>
        <p:nvSpPr>
          <p:cNvPr id="17" name="a3_201"/>
          <p:cNvSpPr txBox="1"/>
          <p:nvPr/>
        </p:nvSpPr>
        <p:spPr>
          <a:xfrm>
            <a:off x="7178040" y="4389120"/>
            <a:ext cx="420624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Mises à jour et surveillance du serveur</a:t>
            </a:r>
            <a:endParaRPr lang="en-US" sz="1500" dirty="0"/>
          </a:p>
          <a:p>
            <a:pPr marL="342900" indent="-342900">
              <a:spcAft>
                <a:spcPts val="600"/>
              </a:spcAft>
              <a:buSzPct val="100000"/>
              <a:buChar char="•"/>
            </a:pPr>
            <a:r>
              <a:rPr lang="en-US" sz="1500" dirty="0">
                <a:solidFill>
                  <a:schemeClr val="bg1"/>
                </a:solidFill>
              </a:rPr>
              <a:t>Ajout ou retrait d'employés, réglages</a:t>
            </a:r>
            <a:endParaRPr lang="en-US" sz="1500" dirty="0"/>
          </a:p>
          <a:p>
            <a:pPr marL="342900" indent="-342900">
              <a:spcAft>
                <a:spcPts val="600"/>
              </a:spcAft>
              <a:buSzPct val="100000"/>
              <a:buChar char="•"/>
            </a:pPr>
            <a:r>
              <a:rPr lang="en-US" sz="1500" dirty="0">
                <a:solidFill>
                  <a:schemeClr val="bg1"/>
                </a:solidFill>
              </a:rPr>
              <a:t>Assistance à distance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5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5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6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9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75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81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90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Et en cadeau</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Votre site web vitrine </a:t>
            </a:r>
            <a:pPr algn="l" indent="0" marL="0">
              <a:buNone/>
            </a:pPr>
            <a:r>
              <a:rPr lang="en-US" sz="3200" b="1" dirty="0">
                <a:solidFill>
                  <a:schemeClr val="accent1"/>
                </a:solidFill>
              </a:rPr>
              <a:t>offert</a:t>
            </a:r>
            <a:endParaRPr lang="en-US" sz="3200" dirty="0"/>
          </a:p>
        </p:txBody>
      </p:sp>
      <p:sp>
        <p:nvSpPr>
          <p:cNvPr id="4" name="a1_202"/>
          <p:cNvSpPr/>
          <p:nvPr/>
        </p:nvSpPr>
        <p:spPr>
          <a:xfrm>
            <a:off x="548640" y="1600200"/>
            <a:ext cx="5669280" cy="4480560"/>
          </a:xfrm>
          <a:prstGeom prst="roundRect">
            <a:avLst>
              <a:gd name="adj" fmla="val 2857"/>
            </a:avLst>
          </a:prstGeom>
          <a:solidFill>
            <a:srgbClr val="DCE5F7"/>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03"/>
          <p:cNvSpPr/>
          <p:nvPr/>
        </p:nvSpPr>
        <p:spPr>
          <a:xfrm>
            <a:off x="685800" y="2011680"/>
            <a:ext cx="5394960" cy="3931920"/>
          </a:xfrm>
          <a:prstGeom prst="rect">
            <a:avLst/>
          </a:prstGeom>
          <a:solidFill>
            <a:schemeClr val="bg1"/>
          </a:solidFill>
          <a:ln w="12700">
            <a:solidFill>
              <a:schemeClr val="bg1"/>
            </a:solidFill>
            <a:prstDash val="solid"/>
          </a:ln>
        </p:spPr>
      </p:sp>
      <p:sp>
        <p:nvSpPr>
          <p:cNvPr id="6" name="a1_204"/>
          <p:cNvSpPr/>
          <p:nvPr/>
        </p:nvSpPr>
        <p:spPr>
          <a:xfrm>
            <a:off x="822960" y="1737360"/>
            <a:ext cx="146304" cy="146304"/>
          </a:xfrm>
          <a:prstGeom prst="ellipse">
            <a:avLst/>
          </a:prstGeom>
          <a:solidFill>
            <a:srgbClr val="E5484D"/>
          </a:solidFill>
          <a:ln w="12700">
            <a:solidFill>
              <a:srgbClr val="E5484D"/>
            </a:solidFill>
            <a:prstDash val="solid"/>
          </a:ln>
        </p:spPr>
      </p:sp>
      <p:sp>
        <p:nvSpPr>
          <p:cNvPr id="7" name="a1_205"/>
          <p:cNvSpPr/>
          <p:nvPr/>
        </p:nvSpPr>
        <p:spPr>
          <a:xfrm>
            <a:off x="1078992" y="1737360"/>
            <a:ext cx="146304" cy="146304"/>
          </a:xfrm>
          <a:prstGeom prst="ellipse">
            <a:avLst/>
          </a:prstGeom>
          <a:solidFill>
            <a:srgbClr val="F5B700"/>
          </a:solidFill>
          <a:ln w="12700">
            <a:solidFill>
              <a:srgbClr val="F5B700"/>
            </a:solidFill>
            <a:prstDash val="solid"/>
          </a:ln>
        </p:spPr>
      </p:sp>
      <p:sp>
        <p:nvSpPr>
          <p:cNvPr id="8" name="a1_206"/>
          <p:cNvSpPr/>
          <p:nvPr/>
        </p:nvSpPr>
        <p:spPr>
          <a:xfrm>
            <a:off x="1335024" y="1737360"/>
            <a:ext cx="146304" cy="146304"/>
          </a:xfrm>
          <a:prstGeom prst="ellipse">
            <a:avLst/>
          </a:prstGeom>
          <a:solidFill>
            <a:srgbClr val="16B37A"/>
          </a:solidFill>
          <a:ln w="12700">
            <a:solidFill>
              <a:srgbClr val="16B37A"/>
            </a:solidFill>
            <a:prstDash val="solid"/>
          </a:ln>
        </p:spPr>
      </p:sp>
      <p:sp>
        <p:nvSpPr>
          <p:cNvPr id="9" name="a1_207"/>
          <p:cNvSpPr/>
          <p:nvPr/>
        </p:nvSpPr>
        <p:spPr>
          <a:xfrm>
            <a:off x="685800" y="2011680"/>
            <a:ext cx="5394960" cy="1737360"/>
          </a:xfrm>
          <a:prstGeom prst="rect">
            <a:avLst/>
          </a:prstGeom>
          <a:solidFill>
            <a:schemeClr val="accent1"/>
          </a:solidFill>
          <a:ln w="12700">
            <a:solidFill>
              <a:schemeClr val="accent1"/>
            </a:solidFill>
            <a:prstDash val="solid"/>
          </a:ln>
        </p:spPr>
      </p:sp>
      <p:sp>
        <p:nvSpPr>
          <p:cNvPr id="10" name="a1_208"/>
          <p:cNvSpPr txBox="1"/>
          <p:nvPr/>
        </p:nvSpPr>
        <p:spPr>
          <a:xfrm>
            <a:off x="960120" y="2240280"/>
            <a:ext cx="4846320" cy="548640"/>
          </a:xfrm>
          <a:prstGeom prst="rect">
            <a:avLst/>
          </a:prstGeom>
          <a:noFill/>
          <a:ln/>
        </p:spPr>
        <p:txBody>
          <a:bodyPr wrap="square" lIns="0" tIns="0" rIns="0" bIns="0" rtlCol="0" anchor="ctr"/>
          <a:lstStyle/>
          <a:p>
            <a:pPr indent="0" marL="0">
              <a:buNone/>
            </a:pPr>
            <a:r>
              <a:rPr lang="en-US" sz="2600" b="1" dirty="0">
                <a:solidFill>
                  <a:schemeClr val="bg1"/>
                </a:solidFill>
              </a:rPr>
              <a:t>Votre Entreprise</a:t>
            </a:r>
            <a:endParaRPr lang="en-US" sz="2600" dirty="0"/>
          </a:p>
        </p:txBody>
      </p:sp>
      <p:sp>
        <p:nvSpPr>
          <p:cNvPr id="11" name="a1_209"/>
          <p:cNvSpPr txBox="1"/>
          <p:nvPr/>
        </p:nvSpPr>
        <p:spPr>
          <a:xfrm>
            <a:off x="960120" y="2788920"/>
            <a:ext cx="4846320" cy="365760"/>
          </a:xfrm>
          <a:prstGeom prst="rect">
            <a:avLst/>
          </a:prstGeom>
          <a:noFill/>
          <a:ln/>
        </p:spPr>
        <p:txBody>
          <a:bodyPr wrap="square" lIns="0" tIns="0" rIns="0" bIns="0" rtlCol="0" anchor="ctr"/>
          <a:lstStyle/>
          <a:p>
            <a:pPr indent="0" marL="0">
              <a:buNone/>
            </a:pPr>
            <a:r>
              <a:rPr lang="en-US" sz="1400" dirty="0">
                <a:solidFill>
                  <a:schemeClr val="accent4"/>
                </a:solidFill>
              </a:rPr>
              <a:t>Votre savoir-faire, visible partout</a:t>
            </a:r>
            <a:endParaRPr lang="en-US" sz="1400" dirty="0"/>
          </a:p>
        </p:txBody>
      </p:sp>
      <p:sp>
        <p:nvSpPr>
          <p:cNvPr id="12" name="a1_210"/>
          <p:cNvSpPr/>
          <p:nvPr/>
        </p:nvSpPr>
        <p:spPr>
          <a:xfrm>
            <a:off x="960120" y="3246120"/>
            <a:ext cx="1554480" cy="347472"/>
          </a:xfrm>
          <a:prstGeom prst="roundRect">
            <a:avLst>
              <a:gd name="adj" fmla="val 50000"/>
            </a:avLst>
          </a:prstGeom>
          <a:solidFill>
            <a:schemeClr val="bg1"/>
          </a:solidFill>
          <a:ln w="12700">
            <a:solidFill>
              <a:schemeClr val="bg1"/>
            </a:solidFill>
            <a:prstDash val="solid"/>
          </a:ln>
        </p:spPr>
      </p:sp>
      <p:sp>
        <p:nvSpPr>
          <p:cNvPr id="13" name="a1_211"/>
          <p:cNvSpPr txBox="1"/>
          <p:nvPr/>
        </p:nvSpPr>
        <p:spPr>
          <a:xfrm>
            <a:off x="960120" y="3246120"/>
            <a:ext cx="155448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Nous contacter</a:t>
            </a:r>
            <a:endParaRPr lang="en-US" sz="1200" dirty="0"/>
          </a:p>
        </p:txBody>
      </p:sp>
      <p:sp>
        <p:nvSpPr>
          <p:cNvPr id="14" name="a1_212"/>
          <p:cNvSpPr/>
          <p:nvPr/>
        </p:nvSpPr>
        <p:spPr>
          <a:xfrm>
            <a:off x="960120" y="3977640"/>
            <a:ext cx="1463040" cy="1737360"/>
          </a:xfrm>
          <a:prstGeom prst="roundRect">
            <a:avLst>
              <a:gd name="adj" fmla="val 8750"/>
            </a:avLst>
          </a:prstGeom>
          <a:solidFill>
            <a:schemeClr val="bg2"/>
          </a:solidFill>
          <a:ln w="12700">
            <a:solidFill>
              <a:schemeClr val="bg2"/>
            </a:solidFill>
            <a:prstDash val="solid"/>
          </a:ln>
        </p:spPr>
      </p:sp>
      <p:sp>
        <p:nvSpPr>
          <p:cNvPr id="15" name="a1_213"/>
          <p:cNvSpPr/>
          <p:nvPr/>
        </p:nvSpPr>
        <p:spPr>
          <a:xfrm>
            <a:off x="1417320" y="4206240"/>
            <a:ext cx="548640" cy="548640"/>
          </a:xfrm>
          <a:prstGeom prst="ellipse">
            <a:avLst/>
          </a:prstGeom>
          <a:solidFill>
            <a:schemeClr val="accent1"/>
          </a:solidFill>
          <a:ln w="12700">
            <a:solidFill>
              <a:schemeClr val="accent1"/>
            </a:solidFill>
            <a:prstDash val="solid"/>
          </a:ln>
        </p:spPr>
      </p:sp>
      <p:pic>
        <p:nvPicPr>
          <p:cNvPr id="16" name="a1_214" descr="preencoded.png">    </p:cNvPr>
          <p:cNvPicPr>
            <a:picLocks noChangeAspect="1"/>
          </p:cNvPicPr>
          <p:nvPr/>
        </p:nvPicPr>
        <p:blipFill>
          <a:blip r:embed="rId1"/>
          <a:stretch>
            <a:fillRect/>
          </a:stretch>
        </p:blipFill>
        <p:spPr>
          <a:xfrm>
            <a:off x="1559966" y="4348886"/>
            <a:ext cx="263347" cy="263347"/>
          </a:xfrm>
          <a:prstGeom prst="rect">
            <a:avLst/>
          </a:prstGeom>
        </p:spPr>
      </p:pic>
      <p:sp>
        <p:nvSpPr>
          <p:cNvPr id="17" name="a1_215"/>
          <p:cNvSpPr txBox="1"/>
          <p:nvPr/>
        </p:nvSpPr>
        <p:spPr>
          <a:xfrm>
            <a:off x="960120"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Services</a:t>
            </a:r>
            <a:endParaRPr lang="en-US" sz="1400" dirty="0"/>
          </a:p>
        </p:txBody>
      </p:sp>
      <p:sp>
        <p:nvSpPr>
          <p:cNvPr id="18" name="a1_216"/>
          <p:cNvSpPr/>
          <p:nvPr/>
        </p:nvSpPr>
        <p:spPr>
          <a:xfrm>
            <a:off x="2624328" y="3977640"/>
            <a:ext cx="1463040" cy="1737360"/>
          </a:xfrm>
          <a:prstGeom prst="roundRect">
            <a:avLst>
              <a:gd name="adj" fmla="val 8750"/>
            </a:avLst>
          </a:prstGeom>
          <a:solidFill>
            <a:schemeClr val="bg2"/>
          </a:solidFill>
          <a:ln w="12700">
            <a:solidFill>
              <a:schemeClr val="bg2"/>
            </a:solidFill>
            <a:prstDash val="solid"/>
          </a:ln>
        </p:spPr>
      </p:sp>
      <p:sp>
        <p:nvSpPr>
          <p:cNvPr id="19" name="a1_217"/>
          <p:cNvSpPr/>
          <p:nvPr/>
        </p:nvSpPr>
        <p:spPr>
          <a:xfrm>
            <a:off x="3081528" y="4206240"/>
            <a:ext cx="548640" cy="548640"/>
          </a:xfrm>
          <a:prstGeom prst="ellipse">
            <a:avLst/>
          </a:prstGeom>
          <a:solidFill>
            <a:schemeClr val="accent1"/>
          </a:solidFill>
          <a:ln w="12700">
            <a:solidFill>
              <a:schemeClr val="accent1"/>
            </a:solidFill>
            <a:prstDash val="solid"/>
          </a:ln>
        </p:spPr>
      </p:sp>
      <p:pic>
        <p:nvPicPr>
          <p:cNvPr id="20" name="a1_218" descr="preencoded.png">    </p:cNvPr>
          <p:cNvPicPr>
            <a:picLocks noChangeAspect="1"/>
          </p:cNvPicPr>
          <p:nvPr/>
        </p:nvPicPr>
        <p:blipFill>
          <a:blip r:embed="rId2"/>
          <a:stretch>
            <a:fillRect/>
          </a:stretch>
        </p:blipFill>
        <p:spPr>
          <a:xfrm>
            <a:off x="3224174" y="4348886"/>
            <a:ext cx="263347" cy="263347"/>
          </a:xfrm>
          <a:prstGeom prst="rect">
            <a:avLst/>
          </a:prstGeom>
        </p:spPr>
      </p:pic>
      <p:sp>
        <p:nvSpPr>
          <p:cNvPr id="21" name="a1_219"/>
          <p:cNvSpPr txBox="1"/>
          <p:nvPr/>
        </p:nvSpPr>
        <p:spPr>
          <a:xfrm>
            <a:off x="2624328"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Réalisations</a:t>
            </a:r>
            <a:endParaRPr lang="en-US" sz="1400" dirty="0"/>
          </a:p>
        </p:txBody>
      </p:sp>
      <p:sp>
        <p:nvSpPr>
          <p:cNvPr id="22" name="a1_220"/>
          <p:cNvSpPr/>
          <p:nvPr/>
        </p:nvSpPr>
        <p:spPr>
          <a:xfrm>
            <a:off x="4288536" y="3977640"/>
            <a:ext cx="1463040" cy="1737360"/>
          </a:xfrm>
          <a:prstGeom prst="roundRect">
            <a:avLst>
              <a:gd name="adj" fmla="val 8750"/>
            </a:avLst>
          </a:prstGeom>
          <a:solidFill>
            <a:schemeClr val="bg2"/>
          </a:solidFill>
          <a:ln w="12700">
            <a:solidFill>
              <a:schemeClr val="bg2"/>
            </a:solidFill>
            <a:prstDash val="solid"/>
          </a:ln>
        </p:spPr>
      </p:sp>
      <p:sp>
        <p:nvSpPr>
          <p:cNvPr id="23" name="a1_221"/>
          <p:cNvSpPr/>
          <p:nvPr/>
        </p:nvSpPr>
        <p:spPr>
          <a:xfrm>
            <a:off x="4745736" y="4206240"/>
            <a:ext cx="548640" cy="548640"/>
          </a:xfrm>
          <a:prstGeom prst="ellipse">
            <a:avLst/>
          </a:prstGeom>
          <a:solidFill>
            <a:schemeClr val="accent1"/>
          </a:solidFill>
          <a:ln w="12700">
            <a:solidFill>
              <a:schemeClr val="accent1"/>
            </a:solidFill>
            <a:prstDash val="solid"/>
          </a:ln>
        </p:spPr>
      </p:sp>
      <p:pic>
        <p:nvPicPr>
          <p:cNvPr id="24" name="a1_222" descr="preencoded.png">    </p:cNvPr>
          <p:cNvPicPr>
            <a:picLocks noChangeAspect="1"/>
          </p:cNvPicPr>
          <p:nvPr/>
        </p:nvPicPr>
        <p:blipFill>
          <a:blip r:embed="rId3"/>
          <a:stretch>
            <a:fillRect/>
          </a:stretch>
        </p:blipFill>
        <p:spPr>
          <a:xfrm>
            <a:off x="4888382" y="4348886"/>
            <a:ext cx="263347" cy="263347"/>
          </a:xfrm>
          <a:prstGeom prst="rect">
            <a:avLst/>
          </a:prstGeom>
        </p:spPr>
      </p:pic>
      <p:sp>
        <p:nvSpPr>
          <p:cNvPr id="25" name="a1_223"/>
          <p:cNvSpPr txBox="1"/>
          <p:nvPr/>
        </p:nvSpPr>
        <p:spPr>
          <a:xfrm>
            <a:off x="4288536"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Contact</a:t>
            </a:r>
            <a:endParaRPr lang="en-US" sz="1400" dirty="0"/>
          </a:p>
        </p:txBody>
      </p:sp>
      <p:sp>
        <p:nvSpPr>
          <p:cNvPr id="26" name="a2_224"/>
          <p:cNvSpPr txBox="1"/>
          <p:nvPr/>
        </p:nvSpPr>
        <p:spPr>
          <a:xfrm>
            <a:off x="6675120" y="1645920"/>
            <a:ext cx="4937760" cy="411480"/>
          </a:xfrm>
          <a:prstGeom prst="rect">
            <a:avLst/>
          </a:prstGeom>
          <a:noFill/>
          <a:ln/>
        </p:spPr>
        <p:txBody>
          <a:bodyPr wrap="square" lIns="0" tIns="0" rIns="0" bIns="0" rtlCol="0" anchor="ctr"/>
          <a:lstStyle/>
          <a:p>
            <a:pPr indent="0" marL="0">
              <a:buNone/>
            </a:pPr>
            <a:r>
              <a:rPr lang="en-US" sz="1800" strike="sngStrike" dirty="0">
                <a:solidFill>
                  <a:schemeClr val="accent6"/>
                </a:solidFill>
              </a:rPr>
              <a:t>Valeur 365 000 FCFA</a:t>
            </a:r>
            <a:endParaRPr lang="en-US" sz="1800" dirty="0"/>
          </a:p>
        </p:txBody>
      </p:sp>
      <p:sp>
        <p:nvSpPr>
          <p:cNvPr id="27" name="a2_225"/>
          <p:cNvSpPr txBox="1"/>
          <p:nvPr/>
        </p:nvSpPr>
        <p:spPr>
          <a:xfrm>
            <a:off x="6675120" y="2011680"/>
            <a:ext cx="4937760" cy="822960"/>
          </a:xfrm>
          <a:prstGeom prst="rect">
            <a:avLst/>
          </a:prstGeom>
          <a:noFill/>
          <a:ln/>
        </p:spPr>
        <p:txBody>
          <a:bodyPr wrap="square" lIns="0" tIns="0" rIns="0" bIns="0" rtlCol="0" anchor="ctr"/>
          <a:lstStyle/>
          <a:p>
            <a:pPr indent="0" marL="0">
              <a:buNone/>
            </a:pPr>
            <a:r>
              <a:rPr lang="en-US" sz="5400" b="1" dirty="0">
                <a:solidFill>
                  <a:schemeClr val="accent1"/>
                </a:solidFill>
              </a:rPr>
              <a:t>OFFERT</a:t>
            </a:r>
            <a:endParaRPr lang="en-US" sz="5400" dirty="0"/>
          </a:p>
        </p:txBody>
      </p:sp>
      <p:sp>
        <p:nvSpPr>
          <p:cNvPr id="28" name="a3_226"/>
          <p:cNvSpPr/>
          <p:nvPr/>
        </p:nvSpPr>
        <p:spPr>
          <a:xfrm>
            <a:off x="6675120" y="3063240"/>
            <a:ext cx="438912" cy="438912"/>
          </a:xfrm>
          <a:prstGeom prst="ellipse">
            <a:avLst/>
          </a:prstGeom>
          <a:solidFill>
            <a:schemeClr val="bg2"/>
          </a:solidFill>
          <a:ln w="12700">
            <a:solidFill>
              <a:schemeClr val="bg2"/>
            </a:solidFill>
            <a:prstDash val="solid"/>
          </a:ln>
        </p:spPr>
      </p:sp>
      <p:pic>
        <p:nvPicPr>
          <p:cNvPr id="29" name="a3_227" descr="preencoded.png">    </p:cNvPr>
          <p:cNvPicPr>
            <a:picLocks noChangeAspect="1"/>
          </p:cNvPicPr>
          <p:nvPr/>
        </p:nvPicPr>
        <p:blipFill>
          <a:blip r:embed="rId4"/>
          <a:stretch>
            <a:fillRect/>
          </a:stretch>
        </p:blipFill>
        <p:spPr>
          <a:xfrm>
            <a:off x="6789237" y="3177357"/>
            <a:ext cx="210678" cy="210678"/>
          </a:xfrm>
          <a:prstGeom prst="rect">
            <a:avLst/>
          </a:prstGeom>
        </p:spPr>
      </p:pic>
      <p:sp>
        <p:nvSpPr>
          <p:cNvPr id="30" name="a3_228"/>
          <p:cNvSpPr txBox="1"/>
          <p:nvPr/>
        </p:nvSpPr>
        <p:spPr>
          <a:xfrm>
            <a:off x="7269480" y="3063240"/>
            <a:ext cx="4389120" cy="438912"/>
          </a:xfrm>
          <a:prstGeom prst="rect">
            <a:avLst/>
          </a:prstGeom>
          <a:noFill/>
          <a:ln/>
        </p:spPr>
        <p:txBody>
          <a:bodyPr wrap="square" lIns="0" tIns="0" rIns="0" bIns="0" rtlCol="0" anchor="ctr"/>
          <a:lstStyle/>
          <a:p>
            <a:pPr indent="0" marL="0">
              <a:buNone/>
            </a:pPr>
            <a:r>
              <a:rPr lang="en-US" sz="1500" dirty="0">
                <a:solidFill>
                  <a:schemeClr val="tx1"/>
                </a:solidFill>
              </a:rPr>
              <a:t>Adapté au mobile, à la tablette et à l'ordinateur</a:t>
            </a:r>
            <a:endParaRPr lang="en-US" sz="1500" dirty="0"/>
          </a:p>
        </p:txBody>
      </p:sp>
      <p:sp>
        <p:nvSpPr>
          <p:cNvPr id="31" name="a4_229"/>
          <p:cNvSpPr/>
          <p:nvPr/>
        </p:nvSpPr>
        <p:spPr>
          <a:xfrm>
            <a:off x="6675120" y="3630168"/>
            <a:ext cx="438912" cy="438912"/>
          </a:xfrm>
          <a:prstGeom prst="ellipse">
            <a:avLst/>
          </a:prstGeom>
          <a:solidFill>
            <a:schemeClr val="bg2"/>
          </a:solidFill>
          <a:ln w="12700">
            <a:solidFill>
              <a:schemeClr val="bg2"/>
            </a:solidFill>
            <a:prstDash val="solid"/>
          </a:ln>
        </p:spPr>
      </p:sp>
      <p:pic>
        <p:nvPicPr>
          <p:cNvPr id="32" name="a4_230" descr="preencoded.png">    </p:cNvPr>
          <p:cNvPicPr>
            <a:picLocks noChangeAspect="1"/>
          </p:cNvPicPr>
          <p:nvPr/>
        </p:nvPicPr>
        <p:blipFill>
          <a:blip r:embed="rId5"/>
          <a:stretch>
            <a:fillRect/>
          </a:stretch>
        </p:blipFill>
        <p:spPr>
          <a:xfrm>
            <a:off x="6789237" y="3744285"/>
            <a:ext cx="210678" cy="210678"/>
          </a:xfrm>
          <a:prstGeom prst="rect">
            <a:avLst/>
          </a:prstGeom>
        </p:spPr>
      </p:pic>
      <p:sp>
        <p:nvSpPr>
          <p:cNvPr id="33" name="a4_231"/>
          <p:cNvSpPr txBox="1"/>
          <p:nvPr/>
        </p:nvSpPr>
        <p:spPr>
          <a:xfrm>
            <a:off x="7269480" y="3630168"/>
            <a:ext cx="4389120" cy="438912"/>
          </a:xfrm>
          <a:prstGeom prst="rect">
            <a:avLst/>
          </a:prstGeom>
          <a:noFill/>
          <a:ln/>
        </p:spPr>
        <p:txBody>
          <a:bodyPr wrap="square" lIns="0" tIns="0" rIns="0" bIns="0" rtlCol="0" anchor="ctr"/>
          <a:lstStyle/>
          <a:p>
            <a:pPr indent="0" marL="0">
              <a:buNone/>
            </a:pPr>
            <a:r>
              <a:rPr lang="en-US" sz="1500" dirty="0">
                <a:solidFill>
                  <a:schemeClr val="tx1"/>
                </a:solidFill>
              </a:rPr>
              <a:t>Accueil, À propos, Services, Réalisations, Contact</a:t>
            </a:r>
            <a:endParaRPr lang="en-US" sz="1500" dirty="0"/>
          </a:p>
        </p:txBody>
      </p:sp>
      <p:sp>
        <p:nvSpPr>
          <p:cNvPr id="34" name="a5_232"/>
          <p:cNvSpPr/>
          <p:nvPr/>
        </p:nvSpPr>
        <p:spPr>
          <a:xfrm>
            <a:off x="6675120" y="4197096"/>
            <a:ext cx="438912" cy="438912"/>
          </a:xfrm>
          <a:prstGeom prst="ellipse">
            <a:avLst/>
          </a:prstGeom>
          <a:solidFill>
            <a:schemeClr val="bg2"/>
          </a:solidFill>
          <a:ln w="12700">
            <a:solidFill>
              <a:schemeClr val="bg2"/>
            </a:solidFill>
            <a:prstDash val="solid"/>
          </a:ln>
        </p:spPr>
      </p:sp>
      <p:pic>
        <p:nvPicPr>
          <p:cNvPr id="35" name="a5_233" descr="preencoded.png">    </p:cNvPr>
          <p:cNvPicPr>
            <a:picLocks noChangeAspect="1"/>
          </p:cNvPicPr>
          <p:nvPr/>
        </p:nvPicPr>
        <p:blipFill>
          <a:blip r:embed="rId6"/>
          <a:stretch>
            <a:fillRect/>
          </a:stretch>
        </p:blipFill>
        <p:spPr>
          <a:xfrm>
            <a:off x="6789237" y="4311213"/>
            <a:ext cx="210678" cy="210678"/>
          </a:xfrm>
          <a:prstGeom prst="rect">
            <a:avLst/>
          </a:prstGeom>
        </p:spPr>
      </p:pic>
      <p:sp>
        <p:nvSpPr>
          <p:cNvPr id="36" name="a5_234"/>
          <p:cNvSpPr txBox="1"/>
          <p:nvPr/>
        </p:nvSpPr>
        <p:spPr>
          <a:xfrm>
            <a:off x="7269480" y="4197096"/>
            <a:ext cx="4389120" cy="438912"/>
          </a:xfrm>
          <a:prstGeom prst="rect">
            <a:avLst/>
          </a:prstGeom>
          <a:noFill/>
          <a:ln/>
        </p:spPr>
        <p:txBody>
          <a:bodyPr wrap="square" lIns="0" tIns="0" rIns="0" bIns="0" rtlCol="0" anchor="ctr"/>
          <a:lstStyle/>
          <a:p>
            <a:pPr indent="0" marL="0">
              <a:buNone/>
            </a:pPr>
            <a:r>
              <a:rPr lang="en-US" sz="1500" dirty="0">
                <a:solidFill>
                  <a:schemeClr val="tx1"/>
                </a:solidFill>
              </a:rPr>
              <a:t>Formulaire de contact, Google Maps et WhatsApp</a:t>
            </a:r>
            <a:endParaRPr lang="en-US" sz="1500" dirty="0"/>
          </a:p>
        </p:txBody>
      </p:sp>
      <p:sp>
        <p:nvSpPr>
          <p:cNvPr id="37" name="a6_235"/>
          <p:cNvSpPr/>
          <p:nvPr/>
        </p:nvSpPr>
        <p:spPr>
          <a:xfrm>
            <a:off x="6675120" y="4764024"/>
            <a:ext cx="438912" cy="438912"/>
          </a:xfrm>
          <a:prstGeom prst="ellipse">
            <a:avLst/>
          </a:prstGeom>
          <a:solidFill>
            <a:schemeClr val="bg2"/>
          </a:solidFill>
          <a:ln w="12700">
            <a:solidFill>
              <a:schemeClr val="bg2"/>
            </a:solidFill>
            <a:prstDash val="solid"/>
          </a:ln>
        </p:spPr>
      </p:sp>
      <p:pic>
        <p:nvPicPr>
          <p:cNvPr id="38" name="a6_236" descr="preencoded.png">    </p:cNvPr>
          <p:cNvPicPr>
            <a:picLocks noChangeAspect="1"/>
          </p:cNvPicPr>
          <p:nvPr/>
        </p:nvPicPr>
        <p:blipFill>
          <a:blip r:embed="rId7"/>
          <a:stretch>
            <a:fillRect/>
          </a:stretch>
        </p:blipFill>
        <p:spPr>
          <a:xfrm>
            <a:off x="6789237" y="4878141"/>
            <a:ext cx="210678" cy="210678"/>
          </a:xfrm>
          <a:prstGeom prst="rect">
            <a:avLst/>
          </a:prstGeom>
        </p:spPr>
      </p:pic>
      <p:sp>
        <p:nvSpPr>
          <p:cNvPr id="39" name="a6_237"/>
          <p:cNvSpPr txBox="1"/>
          <p:nvPr/>
        </p:nvSpPr>
        <p:spPr>
          <a:xfrm>
            <a:off x="7269480" y="4764024"/>
            <a:ext cx="4389120" cy="438912"/>
          </a:xfrm>
          <a:prstGeom prst="rect">
            <a:avLst/>
          </a:prstGeom>
          <a:noFill/>
          <a:ln/>
        </p:spPr>
        <p:txBody>
          <a:bodyPr wrap="square" lIns="0" tIns="0" rIns="0" bIns="0" rtlCol="0" anchor="ctr"/>
          <a:lstStyle/>
          <a:p>
            <a:pPr indent="0" marL="0">
              <a:buNone/>
            </a:pPr>
            <a:r>
              <a:rPr lang="en-US" sz="1500" dirty="0">
                <a:solidFill>
                  <a:schemeClr val="tx1"/>
                </a:solidFill>
              </a:rPr>
              <a:t>Visible sur Google et sécurisé (cadenas)</a:t>
            </a:r>
            <a:endParaRPr lang="en-US" sz="1500" dirty="0"/>
          </a:p>
        </p:txBody>
      </p:sp>
      <p:sp>
        <p:nvSpPr>
          <p:cNvPr id="40" name="a7_238"/>
          <p:cNvSpPr/>
          <p:nvPr/>
        </p:nvSpPr>
        <p:spPr>
          <a:xfrm>
            <a:off x="6675120" y="5440680"/>
            <a:ext cx="4937760" cy="685800"/>
          </a:xfrm>
          <a:prstGeom prst="roundRect">
            <a:avLst>
              <a:gd name="adj" fmla="val 18667"/>
            </a:avLst>
          </a:prstGeom>
          <a:solidFill>
            <a:schemeClr val="tx2"/>
          </a:solidFill>
          <a:ln w="12700">
            <a:solidFill>
              <a:schemeClr val="tx2"/>
            </a:solidFill>
            <a:prstDash val="solid"/>
          </a:ln>
        </p:spPr>
      </p:sp>
      <p:sp>
        <p:nvSpPr>
          <p:cNvPr id="41" name="a7_239"/>
          <p:cNvSpPr txBox="1"/>
          <p:nvPr/>
        </p:nvSpPr>
        <p:spPr>
          <a:xfrm>
            <a:off x="6858000" y="5440680"/>
            <a:ext cx="4663440" cy="685800"/>
          </a:xfrm>
          <a:prstGeom prst="rect">
            <a:avLst/>
          </a:prstGeom>
          <a:noFill/>
          <a:ln/>
        </p:spPr>
        <p:txBody>
          <a:bodyPr wrap="square" lIns="0" tIns="0" rIns="0" bIns="0" rtlCol="0" anchor="ctr"/>
          <a:lstStyle/>
          <a:p>
            <a:pPr indent="0" marL="0">
              <a:buNone/>
            </a:pPr>
            <a:r>
              <a:rPr lang="en-US" sz="1500" dirty="0">
                <a:solidFill>
                  <a:schemeClr val="accent4"/>
                </a:solidFill>
              </a:rPr>
              <a:t>Valeur totale 1 515 000 FCFA  →  </a:t>
            </a:r>
            <a:pPr indent="0" marL="0">
              <a:buNone/>
            </a:pPr>
            <a:r>
              <a:rPr lang="en-US" sz="1500" b="1" dirty="0">
                <a:solidFill>
                  <a:schemeClr val="bg1"/>
                </a:solidFill>
              </a:rPr>
              <a:t>vous payez 1 150 000 FCFA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66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72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78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8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96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02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08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14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2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2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45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5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9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96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02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5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4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7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25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1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37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0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76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Option · proposition séparée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Et si un virus bloquait tout demain ?</a:t>
            </a:r>
            <a:endParaRPr lang="en-US" sz="4000" dirty="0"/>
          </a:p>
        </p:txBody>
      </p:sp>
      <p:sp>
        <p:nvSpPr>
          <p:cNvPr id="4" name="a1_240"/>
          <p:cNvSpPr txBox="1"/>
          <p:nvPr/>
        </p:nvSpPr>
        <p:spPr>
          <a:xfrm>
            <a:off x="731520" y="4023360"/>
            <a:ext cx="6583680" cy="1097280"/>
          </a:xfrm>
          <a:prstGeom prst="rect">
            <a:avLst/>
          </a:prstGeom>
          <a:noFill/>
          <a:ln/>
        </p:spPr>
        <p:txBody>
          <a:bodyPr wrap="square" lIns="0" tIns="0" rIns="0" bIns="0" rtlCol="0" anchor="t"/>
          <a:lstStyle/>
          <a:p>
            <a:pPr indent="0" marL="0">
              <a:buNone/>
            </a:pPr>
            <a:r>
              <a:rPr lang="en-US" sz="2000" dirty="0">
                <a:solidFill>
                  <a:schemeClr val="accent4"/>
                </a:solidFill>
              </a:rPr>
              <a:t>Un seul ordinateur infecté peut verrouiller tous les fichiers et demander une rançon. Un bon antivirus d'entreprise l'empêche.</a:t>
            </a:r>
            <a:endParaRPr lang="en-US" sz="2000" dirty="0"/>
          </a:p>
        </p:txBody>
      </p:sp>
      <p:sp>
        <p:nvSpPr>
          <p:cNvPr id="5" name="a2_241"/>
          <p:cNvSpPr/>
          <p:nvPr/>
        </p:nvSpPr>
        <p:spPr>
          <a:xfrm>
            <a:off x="8778240" y="2103120"/>
            <a:ext cx="2377440" cy="2377440"/>
          </a:xfrm>
          <a:prstGeom prst="ellipse">
            <a:avLst/>
          </a:prstGeom>
          <a:solidFill>
            <a:schemeClr val="bg1"/>
          </a:solidFill>
          <a:ln w="12700">
            <a:solidFill>
              <a:schemeClr val="bg1"/>
            </a:solidFill>
            <a:prstDash val="solid"/>
          </a:ln>
        </p:spPr>
      </p:sp>
      <p:pic>
        <p:nvPicPr>
          <p:cNvPr id="6" name="a2_242" descr="preencoded.png">    </p:cNvPr>
          <p:cNvPicPr>
            <a:picLocks noChangeAspect="1"/>
          </p:cNvPicPr>
          <p:nvPr/>
        </p:nvPicPr>
        <p:blipFill>
          <a:blip r:embed="rId1"/>
          <a:stretch>
            <a:fillRect/>
          </a:stretch>
        </p:blipFill>
        <p:spPr>
          <a:xfrm>
            <a:off x="9396374" y="2721254"/>
            <a:ext cx="1141171" cy="1141171"/>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Option sécurité · comment ça fonctionne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Une console, </a:t>
            </a:r>
            <a:pPr algn="l" indent="0" marL="0">
              <a:buNone/>
            </a:pPr>
            <a:r>
              <a:rPr lang="en-US" sz="3200" b="1" dirty="0">
                <a:solidFill>
                  <a:schemeClr val="accent1"/>
                </a:solidFill>
              </a:rPr>
              <a:t>tous les appareils protégés</a:t>
            </a:r>
            <a:endParaRPr lang="en-US" sz="3200" dirty="0"/>
          </a:p>
        </p:txBody>
      </p:sp>
      <p:sp>
        <p:nvSpPr>
          <p:cNvPr id="4" name="a1_243"/>
          <p:cNvSpPr/>
          <p:nvPr/>
        </p:nvSpPr>
        <p:spPr>
          <a:xfrm>
            <a:off x="640080" y="3017520"/>
            <a:ext cx="1097280" cy="1097280"/>
          </a:xfrm>
          <a:prstGeom prst="ellipse">
            <a:avLst/>
          </a:prstGeom>
          <a:solidFill>
            <a:schemeClr val="accent2"/>
          </a:solidFill>
          <a:ln w="12700">
            <a:solidFill>
              <a:schemeClr val="accent2"/>
            </a:solidFill>
            <a:prstDash val="solid"/>
          </a:ln>
        </p:spPr>
      </p:sp>
      <p:pic>
        <p:nvPicPr>
          <p:cNvPr id="5" name="a1_244" descr="preencoded.png">    </p:cNvPr>
          <p:cNvPicPr>
            <a:picLocks noChangeAspect="1"/>
          </p:cNvPicPr>
          <p:nvPr/>
        </p:nvPicPr>
        <p:blipFill>
          <a:blip r:embed="rId1"/>
          <a:stretch>
            <a:fillRect/>
          </a:stretch>
        </p:blipFill>
        <p:spPr>
          <a:xfrm>
            <a:off x="925373" y="3302813"/>
            <a:ext cx="526694" cy="526694"/>
          </a:xfrm>
          <a:prstGeom prst="rect">
            <a:avLst/>
          </a:prstGeom>
        </p:spPr>
      </p:pic>
      <p:sp>
        <p:nvSpPr>
          <p:cNvPr id="6" name="a1_245"/>
          <p:cNvSpPr txBox="1"/>
          <p:nvPr/>
        </p:nvSpPr>
        <p:spPr>
          <a:xfrm>
            <a:off x="274320" y="4206240"/>
            <a:ext cx="1828800" cy="365760"/>
          </a:xfrm>
          <a:prstGeom prst="rect">
            <a:avLst/>
          </a:prstGeom>
          <a:noFill/>
          <a:ln/>
        </p:spPr>
        <p:txBody>
          <a:bodyPr wrap="square" lIns="0" tIns="0" rIns="0" bIns="0" rtlCol="0" anchor="ctr"/>
          <a:lstStyle/>
          <a:p>
            <a:pPr algn="ctr" indent="0" marL="0">
              <a:buNone/>
            </a:pPr>
            <a:r>
              <a:rPr lang="en-US" sz="1500" b="1" dirty="0">
                <a:solidFill>
                  <a:schemeClr val="tx2"/>
                </a:solidFill>
              </a:rPr>
              <a:t>Administrateur</a:t>
            </a:r>
            <a:endParaRPr lang="en-US" sz="1500" dirty="0"/>
          </a:p>
        </p:txBody>
      </p:sp>
      <p:sp>
        <p:nvSpPr>
          <p:cNvPr id="7" name="a2_246"/>
          <p:cNvSpPr/>
          <p:nvPr/>
        </p:nvSpPr>
        <p:spPr>
          <a:xfrm>
            <a:off x="1828800" y="3566160"/>
            <a:ext cx="731520" cy="0"/>
          </a:xfrm>
          <a:prstGeom prst="line">
            <a:avLst/>
          </a:prstGeom>
          <a:noFill/>
          <a:ln w="38100">
            <a:solidFill>
              <a:schemeClr val="accent2"/>
            </a:solidFill>
            <a:prstDash val="dash"/>
          </a:ln>
        </p:spPr>
      </p:sp>
      <p:sp>
        <p:nvSpPr>
          <p:cNvPr id="8" name="a2_247"/>
          <p:cNvSpPr/>
          <p:nvPr/>
        </p:nvSpPr>
        <p:spPr>
          <a:xfrm>
            <a:off x="2651760" y="2834640"/>
            <a:ext cx="2103120" cy="1463040"/>
          </a:xfrm>
          <a:prstGeom prst="roundRect">
            <a:avLst>
              <a:gd name="adj" fmla="val 8750"/>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9" name="a2_248"/>
          <p:cNvSpPr txBox="1"/>
          <p:nvPr/>
        </p:nvSpPr>
        <p:spPr>
          <a:xfrm>
            <a:off x="2788920" y="2834640"/>
            <a:ext cx="1828800" cy="1463040"/>
          </a:xfrm>
          <a:prstGeom prst="rect">
            <a:avLst/>
          </a:prstGeom>
          <a:noFill/>
          <a:ln/>
        </p:spPr>
        <p:txBody>
          <a:bodyPr wrap="square" lIns="0" tIns="0" rIns="0" bIns="0" rtlCol="0" anchor="ctr"/>
          <a:lstStyle/>
          <a:p>
            <a:pPr algn="ctr" indent="0" marL="0">
              <a:buNone/>
            </a:pPr>
            <a:r>
              <a:rPr lang="en-US" sz="1600" b="1" dirty="0">
                <a:solidFill>
                  <a:schemeClr val="bg1"/>
                </a:solidFill>
              </a:rPr>
              <a:t>Console de gestion</a:t>
            </a:r>
            <a:endParaRPr lang="en-US" sz="1600" dirty="0"/>
          </a:p>
          <a:p>
            <a:pPr algn="ctr" indent="0" marL="0">
              <a:buNone/>
            </a:pPr>
            <a:r>
              <a:rPr lang="en-US" sz="1300" dirty="0">
                <a:solidFill>
                  <a:schemeClr val="bg1"/>
                </a:solidFill>
              </a:rPr>
              <a:t>accessible par Internet</a:t>
            </a:r>
            <a:endParaRPr lang="en-US" sz="1600" dirty="0"/>
          </a:p>
        </p:txBody>
      </p:sp>
      <p:sp>
        <p:nvSpPr>
          <p:cNvPr id="10" name="a3_249"/>
          <p:cNvSpPr/>
          <p:nvPr/>
        </p:nvSpPr>
        <p:spPr>
          <a:xfrm>
            <a:off x="4846320" y="3566160"/>
            <a:ext cx="822960" cy="0"/>
          </a:xfrm>
          <a:prstGeom prst="line">
            <a:avLst/>
          </a:prstGeom>
          <a:noFill/>
          <a:ln w="38100">
            <a:solidFill>
              <a:schemeClr val="accent1"/>
            </a:solidFill>
            <a:prstDash val="solid"/>
            <a:headEnd type="triangle"/>
            <a:tailEnd type="triangle"/>
          </a:ln>
        </p:spPr>
      </p:sp>
      <p:sp>
        <p:nvSpPr>
          <p:cNvPr id="11" name="a3_250"/>
          <p:cNvSpPr/>
          <p:nvPr/>
        </p:nvSpPr>
        <p:spPr>
          <a:xfrm>
            <a:off x="5852160" y="1600200"/>
            <a:ext cx="3931920" cy="3931920"/>
          </a:xfrm>
          <a:prstGeom prst="ellipse">
            <a:avLst/>
          </a:prstGeom>
          <a:solidFill>
            <a:schemeClr val="bg2"/>
          </a:solidFill>
          <a:ln w="19050">
            <a:solidFill>
              <a:schemeClr val="accent4"/>
            </a:solidFill>
            <a:prstDash val="dash"/>
          </a:ln>
        </p:spPr>
      </p:sp>
      <p:sp>
        <p:nvSpPr>
          <p:cNvPr id="12" name="a3_251"/>
          <p:cNvSpPr/>
          <p:nvPr/>
        </p:nvSpPr>
        <p:spPr>
          <a:xfrm>
            <a:off x="7406640" y="3154680"/>
            <a:ext cx="822960" cy="822960"/>
          </a:xfrm>
          <a:prstGeom prst="ellipse">
            <a:avLst/>
          </a:prstGeom>
          <a:solidFill>
            <a:schemeClr val="accent1"/>
          </a:solidFill>
          <a:ln w="12700">
            <a:solidFill>
              <a:schemeClr val="accent1"/>
            </a:solidFill>
            <a:prstDash val="solid"/>
          </a:ln>
        </p:spPr>
      </p:sp>
      <p:pic>
        <p:nvPicPr>
          <p:cNvPr id="13" name="a3_252" descr="preencoded.png">    </p:cNvPr>
          <p:cNvPicPr>
            <a:picLocks noChangeAspect="1"/>
          </p:cNvPicPr>
          <p:nvPr/>
        </p:nvPicPr>
        <p:blipFill>
          <a:blip r:embed="rId2"/>
          <a:stretch>
            <a:fillRect/>
          </a:stretch>
        </p:blipFill>
        <p:spPr>
          <a:xfrm>
            <a:off x="7620610" y="3368650"/>
            <a:ext cx="395021" cy="395021"/>
          </a:xfrm>
          <a:prstGeom prst="rect">
            <a:avLst/>
          </a:prstGeom>
        </p:spPr>
      </p:pic>
      <p:sp>
        <p:nvSpPr>
          <p:cNvPr id="14" name="a4_253"/>
          <p:cNvSpPr/>
          <p:nvPr/>
        </p:nvSpPr>
        <p:spPr>
          <a:xfrm>
            <a:off x="7498080" y="1737360"/>
            <a:ext cx="640080" cy="640080"/>
          </a:xfrm>
          <a:prstGeom prst="ellipse">
            <a:avLst/>
          </a:prstGeom>
          <a:solidFill>
            <a:schemeClr val="bg1"/>
          </a:solidFill>
          <a:ln w="12700">
            <a:solidFill>
              <a:schemeClr val="bg1"/>
            </a:solidFill>
            <a:prstDash val="solid"/>
          </a:ln>
        </p:spPr>
      </p:sp>
      <p:pic>
        <p:nvPicPr>
          <p:cNvPr id="15" name="a4_254" descr="preencoded.png">    </p:cNvPr>
          <p:cNvPicPr>
            <a:picLocks noChangeAspect="1"/>
          </p:cNvPicPr>
          <p:nvPr/>
        </p:nvPicPr>
        <p:blipFill>
          <a:blip r:embed="rId3"/>
          <a:stretch>
            <a:fillRect/>
          </a:stretch>
        </p:blipFill>
        <p:spPr>
          <a:xfrm>
            <a:off x="7664501" y="1903781"/>
            <a:ext cx="307238" cy="307238"/>
          </a:xfrm>
          <a:prstGeom prst="rect">
            <a:avLst/>
          </a:prstGeom>
        </p:spPr>
      </p:pic>
      <p:sp>
        <p:nvSpPr>
          <p:cNvPr id="16" name="a4_255"/>
          <p:cNvSpPr/>
          <p:nvPr/>
        </p:nvSpPr>
        <p:spPr>
          <a:xfrm>
            <a:off x="8804704" y="2491740"/>
            <a:ext cx="640080" cy="640080"/>
          </a:xfrm>
          <a:prstGeom prst="ellipse">
            <a:avLst/>
          </a:prstGeom>
          <a:solidFill>
            <a:schemeClr val="bg1"/>
          </a:solidFill>
          <a:ln w="12700">
            <a:solidFill>
              <a:schemeClr val="bg1"/>
            </a:solidFill>
            <a:prstDash val="solid"/>
          </a:ln>
        </p:spPr>
      </p:sp>
      <p:pic>
        <p:nvPicPr>
          <p:cNvPr id="17" name="a4_256" descr="preencoded.png">    </p:cNvPr>
          <p:cNvPicPr>
            <a:picLocks noChangeAspect="1"/>
          </p:cNvPicPr>
          <p:nvPr/>
        </p:nvPicPr>
        <p:blipFill>
          <a:blip r:embed="rId4"/>
          <a:stretch>
            <a:fillRect/>
          </a:stretch>
        </p:blipFill>
        <p:spPr>
          <a:xfrm>
            <a:off x="8971125" y="2658161"/>
            <a:ext cx="307238" cy="307238"/>
          </a:xfrm>
          <a:prstGeom prst="rect">
            <a:avLst/>
          </a:prstGeom>
        </p:spPr>
      </p:pic>
      <p:sp>
        <p:nvSpPr>
          <p:cNvPr id="18" name="a4_257"/>
          <p:cNvSpPr/>
          <p:nvPr/>
        </p:nvSpPr>
        <p:spPr>
          <a:xfrm>
            <a:off x="8804704" y="4000500"/>
            <a:ext cx="640080" cy="640080"/>
          </a:xfrm>
          <a:prstGeom prst="ellipse">
            <a:avLst/>
          </a:prstGeom>
          <a:solidFill>
            <a:schemeClr val="bg1"/>
          </a:solidFill>
          <a:ln w="12700">
            <a:solidFill>
              <a:schemeClr val="bg1"/>
            </a:solidFill>
            <a:prstDash val="solid"/>
          </a:ln>
        </p:spPr>
      </p:sp>
      <p:pic>
        <p:nvPicPr>
          <p:cNvPr id="19" name="a4_258" descr="preencoded.png">    </p:cNvPr>
          <p:cNvPicPr>
            <a:picLocks noChangeAspect="1"/>
          </p:cNvPicPr>
          <p:nvPr/>
        </p:nvPicPr>
        <p:blipFill>
          <a:blip r:embed="rId5"/>
          <a:stretch>
            <a:fillRect/>
          </a:stretch>
        </p:blipFill>
        <p:spPr>
          <a:xfrm>
            <a:off x="8971125" y="4166921"/>
            <a:ext cx="307238" cy="307238"/>
          </a:xfrm>
          <a:prstGeom prst="rect">
            <a:avLst/>
          </a:prstGeom>
        </p:spPr>
      </p:pic>
      <p:sp>
        <p:nvSpPr>
          <p:cNvPr id="20" name="a4_259"/>
          <p:cNvSpPr/>
          <p:nvPr/>
        </p:nvSpPr>
        <p:spPr>
          <a:xfrm>
            <a:off x="7498080" y="4754880"/>
            <a:ext cx="640080" cy="640080"/>
          </a:xfrm>
          <a:prstGeom prst="ellipse">
            <a:avLst/>
          </a:prstGeom>
          <a:solidFill>
            <a:schemeClr val="bg1"/>
          </a:solidFill>
          <a:ln w="12700">
            <a:solidFill>
              <a:schemeClr val="bg1"/>
            </a:solidFill>
            <a:prstDash val="solid"/>
          </a:ln>
        </p:spPr>
      </p:sp>
      <p:pic>
        <p:nvPicPr>
          <p:cNvPr id="21" name="a4_260" descr="preencoded.png">    </p:cNvPr>
          <p:cNvPicPr>
            <a:picLocks noChangeAspect="1"/>
          </p:cNvPicPr>
          <p:nvPr/>
        </p:nvPicPr>
        <p:blipFill>
          <a:blip r:embed="rId6"/>
          <a:stretch>
            <a:fillRect/>
          </a:stretch>
        </p:blipFill>
        <p:spPr>
          <a:xfrm>
            <a:off x="7664501" y="4921301"/>
            <a:ext cx="307238" cy="307238"/>
          </a:xfrm>
          <a:prstGeom prst="rect">
            <a:avLst/>
          </a:prstGeom>
        </p:spPr>
      </p:pic>
      <p:sp>
        <p:nvSpPr>
          <p:cNvPr id="22" name="a4_261"/>
          <p:cNvSpPr/>
          <p:nvPr/>
        </p:nvSpPr>
        <p:spPr>
          <a:xfrm>
            <a:off x="6191456" y="4000500"/>
            <a:ext cx="640080" cy="640080"/>
          </a:xfrm>
          <a:prstGeom prst="ellipse">
            <a:avLst/>
          </a:prstGeom>
          <a:solidFill>
            <a:schemeClr val="bg1"/>
          </a:solidFill>
          <a:ln w="12700">
            <a:solidFill>
              <a:schemeClr val="bg1"/>
            </a:solidFill>
            <a:prstDash val="solid"/>
          </a:ln>
        </p:spPr>
      </p:sp>
      <p:pic>
        <p:nvPicPr>
          <p:cNvPr id="23" name="a4_262" descr="preencoded.png">    </p:cNvPr>
          <p:cNvPicPr>
            <a:picLocks noChangeAspect="1"/>
          </p:cNvPicPr>
          <p:nvPr/>
        </p:nvPicPr>
        <p:blipFill>
          <a:blip r:embed="rId7"/>
          <a:stretch>
            <a:fillRect/>
          </a:stretch>
        </p:blipFill>
        <p:spPr>
          <a:xfrm>
            <a:off x="6357876" y="4166921"/>
            <a:ext cx="307238" cy="307238"/>
          </a:xfrm>
          <a:prstGeom prst="rect">
            <a:avLst/>
          </a:prstGeom>
        </p:spPr>
      </p:pic>
      <p:sp>
        <p:nvSpPr>
          <p:cNvPr id="24" name="a4_263"/>
          <p:cNvSpPr/>
          <p:nvPr/>
        </p:nvSpPr>
        <p:spPr>
          <a:xfrm>
            <a:off x="6191456" y="2491740"/>
            <a:ext cx="640080" cy="640080"/>
          </a:xfrm>
          <a:prstGeom prst="ellipse">
            <a:avLst/>
          </a:prstGeom>
          <a:solidFill>
            <a:schemeClr val="bg1"/>
          </a:solidFill>
          <a:ln w="12700">
            <a:solidFill>
              <a:schemeClr val="bg1"/>
            </a:solidFill>
            <a:prstDash val="solid"/>
          </a:ln>
        </p:spPr>
      </p:sp>
      <p:pic>
        <p:nvPicPr>
          <p:cNvPr id="25" name="a4_264" descr="preencoded.png">    </p:cNvPr>
          <p:cNvPicPr>
            <a:picLocks noChangeAspect="1"/>
          </p:cNvPicPr>
          <p:nvPr/>
        </p:nvPicPr>
        <p:blipFill>
          <a:blip r:embed="rId8"/>
          <a:stretch>
            <a:fillRect/>
          </a:stretch>
        </p:blipFill>
        <p:spPr>
          <a:xfrm>
            <a:off x="6357876" y="2658161"/>
            <a:ext cx="307238" cy="307238"/>
          </a:xfrm>
          <a:prstGeom prst="rect">
            <a:avLst/>
          </a:prstGeom>
        </p:spPr>
      </p:pic>
      <p:sp>
        <p:nvSpPr>
          <p:cNvPr id="26" name="a4_265"/>
          <p:cNvSpPr txBox="1"/>
          <p:nvPr/>
        </p:nvSpPr>
        <p:spPr>
          <a:xfrm>
            <a:off x="5486400" y="5623560"/>
            <a:ext cx="4663440" cy="365760"/>
          </a:xfrm>
          <a:prstGeom prst="rect">
            <a:avLst/>
          </a:prstGeom>
          <a:noFill/>
          <a:ln/>
        </p:spPr>
        <p:txBody>
          <a:bodyPr wrap="square" lIns="0" tIns="0" rIns="0" bIns="0" rtlCol="0" anchor="ctr"/>
          <a:lstStyle/>
          <a:p>
            <a:pPr algn="ctr" indent="0" marL="0">
              <a:buNone/>
            </a:pPr>
            <a:r>
              <a:rPr lang="en-US" sz="1400" b="1" dirty="0">
                <a:solidFill>
                  <a:schemeClr val="tx2"/>
                </a:solidFill>
              </a:rPr>
              <a:t>Windows · macOS · Linux · serveurs · Android · iOS</a:t>
            </a:r>
            <a:endParaRPr lang="en-US" sz="1400" dirty="0"/>
          </a:p>
        </p:txBody>
      </p:sp>
      <p:sp>
        <p:nvSpPr>
          <p:cNvPr id="27" name="a5_266"/>
          <p:cNvSpPr/>
          <p:nvPr/>
        </p:nvSpPr>
        <p:spPr>
          <a:xfrm>
            <a:off x="10058400" y="1737360"/>
            <a:ext cx="1600200" cy="777240"/>
          </a:xfrm>
          <a:prstGeom prst="roundRect">
            <a:avLst>
              <a:gd name="adj" fmla="val 16471"/>
            </a:avLst>
          </a:prstGeom>
          <a:solidFill>
            <a:schemeClr val="accent1"/>
          </a:solidFill>
          <a:ln w="12700">
            <a:solidFill>
              <a:schemeClr val="accent1"/>
            </a:solidFill>
            <a:prstDash val="solid"/>
          </a:ln>
        </p:spPr>
      </p:sp>
      <p:sp>
        <p:nvSpPr>
          <p:cNvPr id="28" name="a5_267"/>
          <p:cNvSpPr txBox="1"/>
          <p:nvPr/>
        </p:nvSpPr>
        <p:spPr>
          <a:xfrm>
            <a:off x="10104120" y="173736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Antivirus sur chaque appareil</a:t>
            </a:r>
            <a:endParaRPr lang="en-US" sz="1200" dirty="0"/>
          </a:p>
        </p:txBody>
      </p:sp>
      <p:sp>
        <p:nvSpPr>
          <p:cNvPr id="29" name="a6_268"/>
          <p:cNvSpPr/>
          <p:nvPr/>
        </p:nvSpPr>
        <p:spPr>
          <a:xfrm>
            <a:off x="10058400" y="2697480"/>
            <a:ext cx="1600200" cy="777240"/>
          </a:xfrm>
          <a:prstGeom prst="roundRect">
            <a:avLst>
              <a:gd name="adj" fmla="val 16471"/>
            </a:avLst>
          </a:prstGeom>
          <a:solidFill>
            <a:schemeClr val="accent1"/>
          </a:solidFill>
          <a:ln w="12700">
            <a:solidFill>
              <a:schemeClr val="accent1"/>
            </a:solidFill>
            <a:prstDash val="solid"/>
          </a:ln>
        </p:spPr>
      </p:sp>
      <p:sp>
        <p:nvSpPr>
          <p:cNvPr id="30" name="a6_269"/>
          <p:cNvSpPr txBox="1"/>
          <p:nvPr/>
        </p:nvSpPr>
        <p:spPr>
          <a:xfrm>
            <a:off x="10104120" y="269748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Sites et clés USB surveillés</a:t>
            </a:r>
            <a:endParaRPr lang="en-US" sz="1200" dirty="0"/>
          </a:p>
        </p:txBody>
      </p:sp>
      <p:sp>
        <p:nvSpPr>
          <p:cNvPr id="31" name="a7_270"/>
          <p:cNvSpPr/>
          <p:nvPr/>
        </p:nvSpPr>
        <p:spPr>
          <a:xfrm>
            <a:off x="10058400" y="3657600"/>
            <a:ext cx="1600200" cy="777240"/>
          </a:xfrm>
          <a:prstGeom prst="roundRect">
            <a:avLst>
              <a:gd name="adj" fmla="val 16471"/>
            </a:avLst>
          </a:prstGeom>
          <a:solidFill>
            <a:schemeClr val="accent1"/>
          </a:solidFill>
          <a:ln w="12700">
            <a:solidFill>
              <a:schemeClr val="accent1"/>
            </a:solidFill>
            <a:prstDash val="solid"/>
          </a:ln>
        </p:spPr>
      </p:sp>
      <p:sp>
        <p:nvSpPr>
          <p:cNvPr id="32" name="a7_271"/>
          <p:cNvSpPr txBox="1"/>
          <p:nvPr/>
        </p:nvSpPr>
        <p:spPr>
          <a:xfrm>
            <a:off x="10104120" y="365760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Comprendre d'où vient une attaque</a:t>
            </a:r>
            <a:endParaRPr lang="en-US" sz="1200" dirty="0"/>
          </a:p>
        </p:txBody>
      </p:sp>
      <p:sp>
        <p:nvSpPr>
          <p:cNvPr id="33" name="a8_272"/>
          <p:cNvSpPr/>
          <p:nvPr/>
        </p:nvSpPr>
        <p:spPr>
          <a:xfrm>
            <a:off x="10058400" y="4617720"/>
            <a:ext cx="1600200" cy="777240"/>
          </a:xfrm>
          <a:prstGeom prst="roundRect">
            <a:avLst>
              <a:gd name="adj" fmla="val 16471"/>
            </a:avLst>
          </a:prstGeom>
          <a:solidFill>
            <a:schemeClr val="accent1"/>
          </a:solidFill>
          <a:ln w="12700">
            <a:solidFill>
              <a:schemeClr val="accent1"/>
            </a:solidFill>
            <a:prstDash val="solid"/>
          </a:ln>
        </p:spPr>
      </p:sp>
      <p:sp>
        <p:nvSpPr>
          <p:cNvPr id="34" name="a8_273"/>
          <p:cNvSpPr txBox="1"/>
          <p:nvPr/>
        </p:nvSpPr>
        <p:spPr>
          <a:xfrm>
            <a:off x="10104120" y="461772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Entraînement contre les faux e-mails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4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1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80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86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70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76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315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32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Option sécurité</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Kaspersky : </a:t>
            </a:r>
            <a:pPr algn="l" indent="0" marL="0">
              <a:buNone/>
            </a:pPr>
            <a:r>
              <a:rPr lang="en-US" sz="3200" b="1" dirty="0">
                <a:solidFill>
                  <a:schemeClr val="accent1"/>
                </a:solidFill>
              </a:rPr>
              <a:t>l'antivirus des entreprises</a:t>
            </a:r>
            <a:endParaRPr lang="en-US" sz="3200" dirty="0"/>
          </a:p>
        </p:txBody>
      </p:sp>
      <p:sp>
        <p:nvSpPr>
          <p:cNvPr id="4" name="a1_274"/>
          <p:cNvSpPr/>
          <p:nvPr/>
        </p:nvSpPr>
        <p:spPr>
          <a:xfrm>
            <a:off x="548640" y="160020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75"/>
          <p:cNvSpPr/>
          <p:nvPr/>
        </p:nvSpPr>
        <p:spPr>
          <a:xfrm>
            <a:off x="777240" y="1920240"/>
            <a:ext cx="640080" cy="640080"/>
          </a:xfrm>
          <a:prstGeom prst="ellipse">
            <a:avLst/>
          </a:prstGeom>
          <a:solidFill>
            <a:schemeClr val="accent1"/>
          </a:solidFill>
          <a:ln w="12700">
            <a:solidFill>
              <a:schemeClr val="accent1"/>
            </a:solidFill>
            <a:prstDash val="solid"/>
          </a:ln>
        </p:spPr>
      </p:sp>
      <p:pic>
        <p:nvPicPr>
          <p:cNvPr id="6" name="a1_276" descr="preencoded.png">    </p:cNvPr>
          <p:cNvPicPr>
            <a:picLocks noChangeAspect="1"/>
          </p:cNvPicPr>
          <p:nvPr/>
        </p:nvPicPr>
        <p:blipFill>
          <a:blip r:embed="rId1"/>
          <a:stretch>
            <a:fillRect/>
          </a:stretch>
        </p:blipFill>
        <p:spPr>
          <a:xfrm>
            <a:off x="943661" y="2086661"/>
            <a:ext cx="307238" cy="307238"/>
          </a:xfrm>
          <a:prstGeom prst="rect">
            <a:avLst/>
          </a:prstGeom>
        </p:spPr>
      </p:pic>
      <p:sp>
        <p:nvSpPr>
          <p:cNvPr id="7" name="a1_277"/>
          <p:cNvSpPr txBox="1"/>
          <p:nvPr/>
        </p:nvSpPr>
        <p:spPr>
          <a:xfrm>
            <a:off x="1600200" y="178308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Protège vos données</a:t>
            </a:r>
            <a:endParaRPr lang="en-US" sz="1500" dirty="0"/>
          </a:p>
        </p:txBody>
      </p:sp>
      <p:sp>
        <p:nvSpPr>
          <p:cNvPr id="8" name="a1_278"/>
          <p:cNvSpPr txBox="1"/>
          <p:nvPr/>
        </p:nvSpPr>
        <p:spPr>
          <a:xfrm>
            <a:off x="1600200" y="214884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Contre les virus et les demandes de rançon</a:t>
            </a:r>
            <a:endParaRPr lang="en-US" sz="1300" dirty="0"/>
          </a:p>
        </p:txBody>
      </p:sp>
      <p:sp>
        <p:nvSpPr>
          <p:cNvPr id="9" name="a1_279"/>
          <p:cNvSpPr/>
          <p:nvPr/>
        </p:nvSpPr>
        <p:spPr>
          <a:xfrm>
            <a:off x="4069080" y="160020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0" name="a1_280"/>
          <p:cNvSpPr/>
          <p:nvPr/>
        </p:nvSpPr>
        <p:spPr>
          <a:xfrm>
            <a:off x="4297680" y="1920240"/>
            <a:ext cx="640080" cy="640080"/>
          </a:xfrm>
          <a:prstGeom prst="ellipse">
            <a:avLst/>
          </a:prstGeom>
          <a:solidFill>
            <a:schemeClr val="accent1"/>
          </a:solidFill>
          <a:ln w="12700">
            <a:solidFill>
              <a:schemeClr val="accent1"/>
            </a:solidFill>
            <a:prstDash val="solid"/>
          </a:ln>
        </p:spPr>
      </p:sp>
      <p:pic>
        <p:nvPicPr>
          <p:cNvPr id="11" name="a1_281" descr="preencoded.png">    </p:cNvPr>
          <p:cNvPicPr>
            <a:picLocks noChangeAspect="1"/>
          </p:cNvPicPr>
          <p:nvPr/>
        </p:nvPicPr>
        <p:blipFill>
          <a:blip r:embed="rId2"/>
          <a:stretch>
            <a:fillRect/>
          </a:stretch>
        </p:blipFill>
        <p:spPr>
          <a:xfrm>
            <a:off x="4464101" y="2086661"/>
            <a:ext cx="307238" cy="307238"/>
          </a:xfrm>
          <a:prstGeom prst="rect">
            <a:avLst/>
          </a:prstGeom>
        </p:spPr>
      </p:pic>
      <p:sp>
        <p:nvSpPr>
          <p:cNvPr id="12" name="a1_282"/>
          <p:cNvSpPr txBox="1"/>
          <p:nvPr/>
        </p:nvSpPr>
        <p:spPr>
          <a:xfrm>
            <a:off x="5120640" y="178308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Bloque les virus</a:t>
            </a:r>
            <a:endParaRPr lang="en-US" sz="1500" dirty="0"/>
          </a:p>
        </p:txBody>
      </p:sp>
      <p:sp>
        <p:nvSpPr>
          <p:cNvPr id="13" name="a1_283"/>
          <p:cNvSpPr txBox="1"/>
          <p:nvPr/>
        </p:nvSpPr>
        <p:spPr>
          <a:xfrm>
            <a:off x="5120640" y="214884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Dans les fichiers, sur Internet et dans les e-mails</a:t>
            </a:r>
            <a:endParaRPr lang="en-US" sz="1300" dirty="0"/>
          </a:p>
        </p:txBody>
      </p:sp>
      <p:sp>
        <p:nvSpPr>
          <p:cNvPr id="14" name="a2_284"/>
          <p:cNvSpPr/>
          <p:nvPr/>
        </p:nvSpPr>
        <p:spPr>
          <a:xfrm>
            <a:off x="548640" y="306324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5" name="a2_285"/>
          <p:cNvSpPr/>
          <p:nvPr/>
        </p:nvSpPr>
        <p:spPr>
          <a:xfrm>
            <a:off x="777240" y="3383280"/>
            <a:ext cx="640080" cy="640080"/>
          </a:xfrm>
          <a:prstGeom prst="ellipse">
            <a:avLst/>
          </a:prstGeom>
          <a:solidFill>
            <a:schemeClr val="accent1"/>
          </a:solidFill>
          <a:ln w="12700">
            <a:solidFill>
              <a:schemeClr val="accent1"/>
            </a:solidFill>
            <a:prstDash val="solid"/>
          </a:ln>
        </p:spPr>
      </p:sp>
      <p:pic>
        <p:nvPicPr>
          <p:cNvPr id="16" name="a2_286" descr="preencoded.png">    </p:cNvPr>
          <p:cNvPicPr>
            <a:picLocks noChangeAspect="1"/>
          </p:cNvPicPr>
          <p:nvPr/>
        </p:nvPicPr>
        <p:blipFill>
          <a:blip r:embed="rId3"/>
          <a:stretch>
            <a:fillRect/>
          </a:stretch>
        </p:blipFill>
        <p:spPr>
          <a:xfrm>
            <a:off x="943661" y="3549701"/>
            <a:ext cx="307238" cy="307238"/>
          </a:xfrm>
          <a:prstGeom prst="rect">
            <a:avLst/>
          </a:prstGeom>
        </p:spPr>
      </p:pic>
      <p:sp>
        <p:nvSpPr>
          <p:cNvPr id="17" name="a2_287"/>
          <p:cNvSpPr txBox="1"/>
          <p:nvPr/>
        </p:nvSpPr>
        <p:spPr>
          <a:xfrm>
            <a:off x="1600200" y="324612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Applications à jour</a:t>
            </a:r>
            <a:endParaRPr lang="en-US" sz="1500" dirty="0"/>
          </a:p>
        </p:txBody>
      </p:sp>
      <p:sp>
        <p:nvSpPr>
          <p:cNvPr id="18" name="a2_288"/>
          <p:cNvSpPr txBox="1"/>
          <p:nvPr/>
        </p:nvSpPr>
        <p:spPr>
          <a:xfrm>
            <a:off x="1600200" y="361188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Signale les logiciels trop vieux, donc risqués</a:t>
            </a:r>
            <a:endParaRPr lang="en-US" sz="1300" dirty="0"/>
          </a:p>
        </p:txBody>
      </p:sp>
      <p:sp>
        <p:nvSpPr>
          <p:cNvPr id="19" name="a2_289"/>
          <p:cNvSpPr/>
          <p:nvPr/>
        </p:nvSpPr>
        <p:spPr>
          <a:xfrm>
            <a:off x="4069080" y="306324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2_290"/>
          <p:cNvSpPr/>
          <p:nvPr/>
        </p:nvSpPr>
        <p:spPr>
          <a:xfrm>
            <a:off x="4297680" y="3383280"/>
            <a:ext cx="640080" cy="640080"/>
          </a:xfrm>
          <a:prstGeom prst="ellipse">
            <a:avLst/>
          </a:prstGeom>
          <a:solidFill>
            <a:schemeClr val="accent1"/>
          </a:solidFill>
          <a:ln w="12700">
            <a:solidFill>
              <a:schemeClr val="accent1"/>
            </a:solidFill>
            <a:prstDash val="solid"/>
          </a:ln>
        </p:spPr>
      </p:sp>
      <p:pic>
        <p:nvPicPr>
          <p:cNvPr id="21" name="a2_291" descr="preencoded.png">    </p:cNvPr>
          <p:cNvPicPr>
            <a:picLocks noChangeAspect="1"/>
          </p:cNvPicPr>
          <p:nvPr/>
        </p:nvPicPr>
        <p:blipFill>
          <a:blip r:embed="rId4"/>
          <a:stretch>
            <a:fillRect/>
          </a:stretch>
        </p:blipFill>
        <p:spPr>
          <a:xfrm>
            <a:off x="4464101" y="3549701"/>
            <a:ext cx="307238" cy="307238"/>
          </a:xfrm>
          <a:prstGeom prst="rect">
            <a:avLst/>
          </a:prstGeom>
        </p:spPr>
      </p:pic>
      <p:sp>
        <p:nvSpPr>
          <p:cNvPr id="22" name="a2_292"/>
          <p:cNvSpPr txBox="1"/>
          <p:nvPr/>
        </p:nvSpPr>
        <p:spPr>
          <a:xfrm>
            <a:off x="5120640" y="324612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Contrôle des usages</a:t>
            </a:r>
            <a:endParaRPr lang="en-US" sz="1500" dirty="0"/>
          </a:p>
        </p:txBody>
      </p:sp>
      <p:sp>
        <p:nvSpPr>
          <p:cNvPr id="23" name="a2_293"/>
          <p:cNvSpPr txBox="1"/>
          <p:nvPr/>
        </p:nvSpPr>
        <p:spPr>
          <a:xfrm>
            <a:off x="5120640" y="361188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Sites dangereux et clés USB sous contrôle</a:t>
            </a:r>
            <a:endParaRPr lang="en-US" sz="1300" dirty="0"/>
          </a:p>
        </p:txBody>
      </p:sp>
      <p:sp>
        <p:nvSpPr>
          <p:cNvPr id="24" name="a3_294"/>
          <p:cNvSpPr/>
          <p:nvPr/>
        </p:nvSpPr>
        <p:spPr>
          <a:xfrm>
            <a:off x="548640" y="452628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5" name="a3_295"/>
          <p:cNvSpPr/>
          <p:nvPr/>
        </p:nvSpPr>
        <p:spPr>
          <a:xfrm>
            <a:off x="777240" y="4846320"/>
            <a:ext cx="640080" cy="640080"/>
          </a:xfrm>
          <a:prstGeom prst="ellipse">
            <a:avLst/>
          </a:prstGeom>
          <a:solidFill>
            <a:schemeClr val="accent1"/>
          </a:solidFill>
          <a:ln w="12700">
            <a:solidFill>
              <a:schemeClr val="accent1"/>
            </a:solidFill>
            <a:prstDash val="solid"/>
          </a:ln>
        </p:spPr>
      </p:sp>
      <p:pic>
        <p:nvPicPr>
          <p:cNvPr id="26" name="a3_296" descr="preencoded.png">    </p:cNvPr>
          <p:cNvPicPr>
            <a:picLocks noChangeAspect="1"/>
          </p:cNvPicPr>
          <p:nvPr/>
        </p:nvPicPr>
        <p:blipFill>
          <a:blip r:embed="rId5"/>
          <a:stretch>
            <a:fillRect/>
          </a:stretch>
        </p:blipFill>
        <p:spPr>
          <a:xfrm>
            <a:off x="943661" y="5012741"/>
            <a:ext cx="307238" cy="307238"/>
          </a:xfrm>
          <a:prstGeom prst="rect">
            <a:avLst/>
          </a:prstGeom>
        </p:spPr>
      </p:pic>
      <p:sp>
        <p:nvSpPr>
          <p:cNvPr id="27" name="a3_297"/>
          <p:cNvSpPr txBox="1"/>
          <p:nvPr/>
        </p:nvSpPr>
        <p:spPr>
          <a:xfrm>
            <a:off x="1600200" y="470916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Attaques stoppées</a:t>
            </a:r>
            <a:endParaRPr lang="en-US" sz="1500" dirty="0"/>
          </a:p>
        </p:txBody>
      </p:sp>
      <p:sp>
        <p:nvSpPr>
          <p:cNvPr id="28" name="a3_298"/>
          <p:cNvSpPr txBox="1"/>
          <p:nvPr/>
        </p:nvSpPr>
        <p:spPr>
          <a:xfrm>
            <a:off x="1600200" y="507492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Et on comprend comment elles sont arrivées</a:t>
            </a:r>
            <a:endParaRPr lang="en-US" sz="1300" dirty="0"/>
          </a:p>
        </p:txBody>
      </p:sp>
      <p:sp>
        <p:nvSpPr>
          <p:cNvPr id="29" name="a3_299"/>
          <p:cNvSpPr/>
          <p:nvPr/>
        </p:nvSpPr>
        <p:spPr>
          <a:xfrm>
            <a:off x="4069080" y="452628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0" name="a3_300"/>
          <p:cNvSpPr/>
          <p:nvPr/>
        </p:nvSpPr>
        <p:spPr>
          <a:xfrm>
            <a:off x="4297680" y="4846320"/>
            <a:ext cx="640080" cy="640080"/>
          </a:xfrm>
          <a:prstGeom prst="ellipse">
            <a:avLst/>
          </a:prstGeom>
          <a:solidFill>
            <a:schemeClr val="accent1"/>
          </a:solidFill>
          <a:ln w="12700">
            <a:solidFill>
              <a:schemeClr val="accent1"/>
            </a:solidFill>
            <a:prstDash val="solid"/>
          </a:ln>
        </p:spPr>
      </p:sp>
      <p:pic>
        <p:nvPicPr>
          <p:cNvPr id="31" name="a3_301" descr="preencoded.png">    </p:cNvPr>
          <p:cNvPicPr>
            <a:picLocks noChangeAspect="1"/>
          </p:cNvPicPr>
          <p:nvPr/>
        </p:nvPicPr>
        <p:blipFill>
          <a:blip r:embed="rId6"/>
          <a:stretch>
            <a:fillRect/>
          </a:stretch>
        </p:blipFill>
        <p:spPr>
          <a:xfrm>
            <a:off x="4464101" y="5012741"/>
            <a:ext cx="307238" cy="307238"/>
          </a:xfrm>
          <a:prstGeom prst="rect">
            <a:avLst/>
          </a:prstGeom>
        </p:spPr>
      </p:pic>
      <p:sp>
        <p:nvSpPr>
          <p:cNvPr id="32" name="a3_302"/>
          <p:cNvSpPr txBox="1"/>
          <p:nvPr/>
        </p:nvSpPr>
        <p:spPr>
          <a:xfrm>
            <a:off x="5120640" y="470916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Alertes</a:t>
            </a:r>
            <a:endParaRPr lang="en-US" sz="1500" dirty="0"/>
          </a:p>
        </p:txBody>
      </p:sp>
      <p:sp>
        <p:nvSpPr>
          <p:cNvPr id="33" name="a3_303"/>
          <p:cNvSpPr txBox="1"/>
          <p:nvPr/>
        </p:nvSpPr>
        <p:spPr>
          <a:xfrm>
            <a:off x="5120640" y="507492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L'administrateur est prévenu en cas de danger</a:t>
            </a:r>
            <a:endParaRPr lang="en-US" sz="1300" dirty="0"/>
          </a:p>
        </p:txBody>
      </p:sp>
      <p:sp>
        <p:nvSpPr>
          <p:cNvPr id="34" name="a5_304"/>
          <p:cNvSpPr/>
          <p:nvPr/>
        </p:nvSpPr>
        <p:spPr>
          <a:xfrm>
            <a:off x="7772400" y="1645920"/>
            <a:ext cx="3840480" cy="4251960"/>
          </a:xfrm>
          <a:prstGeom prst="roundRect">
            <a:avLst>
              <a:gd name="adj" fmla="val 333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35" name="a5_305"/>
          <p:cNvSpPr/>
          <p:nvPr/>
        </p:nvSpPr>
        <p:spPr>
          <a:xfrm>
            <a:off x="8046720" y="1920240"/>
            <a:ext cx="822960" cy="822960"/>
          </a:xfrm>
          <a:prstGeom prst="ellipse">
            <a:avLst/>
          </a:prstGeom>
          <a:solidFill>
            <a:schemeClr val="accent2"/>
          </a:solidFill>
          <a:ln w="12700">
            <a:solidFill>
              <a:schemeClr val="accent2"/>
            </a:solidFill>
            <a:prstDash val="solid"/>
          </a:ln>
        </p:spPr>
      </p:sp>
      <p:pic>
        <p:nvPicPr>
          <p:cNvPr id="36" name="a5_306" descr="preencoded.png">    </p:cNvPr>
          <p:cNvPicPr>
            <a:picLocks noChangeAspect="1"/>
          </p:cNvPicPr>
          <p:nvPr/>
        </p:nvPicPr>
        <p:blipFill>
          <a:blip r:embed="rId7"/>
          <a:stretch>
            <a:fillRect/>
          </a:stretch>
        </p:blipFill>
        <p:spPr>
          <a:xfrm>
            <a:off x="8260690" y="2134210"/>
            <a:ext cx="395021" cy="395021"/>
          </a:xfrm>
          <a:prstGeom prst="rect">
            <a:avLst/>
          </a:prstGeom>
        </p:spPr>
      </p:pic>
      <p:sp>
        <p:nvSpPr>
          <p:cNvPr id="37" name="a5_307"/>
          <p:cNvSpPr txBox="1"/>
          <p:nvPr/>
        </p:nvSpPr>
        <p:spPr>
          <a:xfrm>
            <a:off x="8046720" y="2880360"/>
            <a:ext cx="3291840" cy="914400"/>
          </a:xfrm>
          <a:prstGeom prst="rect">
            <a:avLst/>
          </a:prstGeom>
          <a:noFill/>
          <a:ln/>
        </p:spPr>
        <p:txBody>
          <a:bodyPr wrap="square" lIns="0" tIns="0" rIns="0" bIns="0" rtlCol="0" anchor="t"/>
          <a:lstStyle/>
          <a:p>
            <a:pPr indent="0" marL="0">
              <a:buNone/>
            </a:pPr>
            <a:r>
              <a:rPr lang="en-US" sz="2200" b="1" dirty="0">
                <a:solidFill>
                  <a:schemeClr val="bg1"/>
                </a:solidFill>
              </a:rPr>
              <a:t>Combien vous coûterait une journée d'arrêt ?</a:t>
            </a:r>
            <a:endParaRPr lang="en-US" sz="2200" dirty="0"/>
          </a:p>
        </p:txBody>
      </p:sp>
      <p:sp>
        <p:nvSpPr>
          <p:cNvPr id="38" name="a6_308"/>
          <p:cNvSpPr txBox="1"/>
          <p:nvPr/>
        </p:nvSpPr>
        <p:spPr>
          <a:xfrm>
            <a:off x="8046720" y="3840480"/>
            <a:ext cx="3291840" cy="1188720"/>
          </a:xfrm>
          <a:prstGeom prst="rect">
            <a:avLst/>
          </a:prstGeom>
          <a:noFill/>
          <a:ln/>
        </p:spPr>
        <p:txBody>
          <a:bodyPr wrap="square" lIns="0" tIns="0" rIns="0" bIns="0" rtlCol="0" anchor="t"/>
          <a:lstStyle/>
          <a:p>
            <a:pPr indent="0" marL="0">
              <a:buNone/>
            </a:pPr>
            <a:r>
              <a:rPr lang="en-US" sz="1400" dirty="0">
                <a:solidFill>
                  <a:schemeClr val="accent4"/>
                </a:solidFill>
              </a:rPr>
              <a:t>Fichiers chiffrés, clients en attente, données perdues… La vraie question n'est pas le prix de la protection, mais celui d'une attaque.</a:t>
            </a:r>
            <a:endParaRPr lang="en-US" sz="1400" dirty="0"/>
          </a:p>
        </p:txBody>
      </p:sp>
      <p:sp>
        <p:nvSpPr>
          <p:cNvPr id="39" name="a7_309"/>
          <p:cNvSpPr/>
          <p:nvPr/>
        </p:nvSpPr>
        <p:spPr>
          <a:xfrm>
            <a:off x="8046720" y="5166360"/>
            <a:ext cx="3291840" cy="457200"/>
          </a:xfrm>
          <a:prstGeom prst="roundRect">
            <a:avLst>
              <a:gd name="adj" fmla="val 50000"/>
            </a:avLst>
          </a:prstGeom>
          <a:solidFill>
            <a:schemeClr val="accent2"/>
          </a:solidFill>
          <a:ln w="12700">
            <a:solidFill>
              <a:schemeClr val="accent2"/>
            </a:solidFill>
            <a:prstDash val="solid"/>
          </a:ln>
        </p:spPr>
      </p:sp>
      <p:sp>
        <p:nvSpPr>
          <p:cNvPr id="40" name="a7_310"/>
          <p:cNvSpPr txBox="1"/>
          <p:nvPr/>
        </p:nvSpPr>
        <p:spPr>
          <a:xfrm>
            <a:off x="8046720" y="5166360"/>
            <a:ext cx="3291840" cy="457200"/>
          </a:xfrm>
          <a:prstGeom prst="rect">
            <a:avLst/>
          </a:prstGeom>
          <a:noFill/>
          <a:ln/>
        </p:spPr>
        <p:txBody>
          <a:bodyPr wrap="square" lIns="0" tIns="0" rIns="0" bIns="0" rtlCol="0" anchor="ctr"/>
          <a:lstStyle/>
          <a:p>
            <a:pPr algn="ctr" indent="0" marL="0">
              <a:buNone/>
            </a:pPr>
            <a:r>
              <a:rPr lang="en-US" sz="1300" b="1" dirty="0">
                <a:solidFill>
                  <a:schemeClr val="bg1"/>
                </a:solidFill>
              </a:rPr>
              <a:t>Parlons-en · démonstration sur demande</a:t>
            </a:r>
            <a:endParaRPr lang="en-US" sz="1300" dirty="0"/>
          </a:p>
        </p:txBody>
      </p:sp>
      <p:sp>
        <p:nvSpPr>
          <p:cNvPr id="41" name="a7_31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i="1" dirty="0">
                <a:solidFill>
                  <a:schemeClr val="accent6"/>
                </a:solidFill>
              </a:rPr>
              <a:t>Option séparée du reste · offre adaptée au nombre d'ordinateurs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4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5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5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6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7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8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8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9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9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9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9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02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08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14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2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2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3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198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25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7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6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82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Prochaine étape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Prêt à reprendre le contrôle ?</a:t>
            </a:r>
            <a:endParaRPr lang="en-US" sz="4000" dirty="0"/>
          </a:p>
        </p:txBody>
      </p:sp>
      <p:sp>
        <p:nvSpPr>
          <p:cNvPr id="4" name="a1_312"/>
          <p:cNvSpPr txBox="1"/>
          <p:nvPr/>
        </p:nvSpPr>
        <p:spPr>
          <a:xfrm>
            <a:off x="731520" y="3749040"/>
            <a:ext cx="6400800" cy="548640"/>
          </a:xfrm>
          <a:prstGeom prst="rect">
            <a:avLst/>
          </a:prstGeom>
          <a:noFill/>
          <a:ln/>
        </p:spPr>
        <p:txBody>
          <a:bodyPr wrap="square" lIns="0" tIns="0" rIns="0" bIns="0" rtlCol="0" anchor="ctr"/>
          <a:lstStyle/>
          <a:p>
            <a:pPr indent="0" marL="0">
              <a:buNone/>
            </a:pPr>
            <a:r>
              <a:rPr lang="en-US" sz="2000" dirty="0">
                <a:solidFill>
                  <a:schemeClr val="accent4"/>
                </a:solidFill>
              </a:rPr>
              <a:t>Tout est prêt en 1 à 2 semaines.</a:t>
            </a:r>
            <a:endParaRPr lang="en-US" sz="2000" dirty="0"/>
          </a:p>
        </p:txBody>
      </p:sp>
      <p:sp>
        <p:nvSpPr>
          <p:cNvPr id="5" name="a2_313"/>
          <p:cNvSpPr/>
          <p:nvPr/>
        </p:nvSpPr>
        <p:spPr>
          <a:xfrm>
            <a:off x="7863840" y="146304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6" name="a2_314"/>
          <p:cNvSpPr/>
          <p:nvPr/>
        </p:nvSpPr>
        <p:spPr>
          <a:xfrm>
            <a:off x="8092440" y="1691640"/>
            <a:ext cx="731520" cy="731520"/>
          </a:xfrm>
          <a:prstGeom prst="ellipse">
            <a:avLst/>
          </a:prstGeom>
          <a:solidFill>
            <a:schemeClr val="accent1"/>
          </a:solidFill>
          <a:ln w="12700">
            <a:solidFill>
              <a:schemeClr val="accent1"/>
            </a:solidFill>
            <a:prstDash val="solid"/>
          </a:ln>
        </p:spPr>
      </p:sp>
      <p:pic>
        <p:nvPicPr>
          <p:cNvPr id="7" name="a2_315" descr="preencoded.png">    </p:cNvPr>
          <p:cNvPicPr>
            <a:picLocks noChangeAspect="1"/>
          </p:cNvPicPr>
          <p:nvPr/>
        </p:nvPicPr>
        <p:blipFill>
          <a:blip r:embed="rId1"/>
          <a:stretch>
            <a:fillRect/>
          </a:stretch>
        </p:blipFill>
        <p:spPr>
          <a:xfrm>
            <a:off x="8282635" y="1881835"/>
            <a:ext cx="351130" cy="351130"/>
          </a:xfrm>
          <a:prstGeom prst="rect">
            <a:avLst/>
          </a:prstGeom>
        </p:spPr>
      </p:pic>
      <p:sp>
        <p:nvSpPr>
          <p:cNvPr id="8" name="a2_316"/>
          <p:cNvSpPr txBox="1"/>
          <p:nvPr/>
        </p:nvSpPr>
        <p:spPr>
          <a:xfrm>
            <a:off x="9006840" y="146304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Validation de la proposition</a:t>
            </a:r>
            <a:endParaRPr lang="en-US" sz="1600" dirty="0"/>
          </a:p>
        </p:txBody>
      </p:sp>
      <p:sp>
        <p:nvSpPr>
          <p:cNvPr id="9" name="a3_317"/>
          <p:cNvSpPr/>
          <p:nvPr/>
        </p:nvSpPr>
        <p:spPr>
          <a:xfrm>
            <a:off x="7863840" y="288036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0" name="a3_318"/>
          <p:cNvSpPr/>
          <p:nvPr/>
        </p:nvSpPr>
        <p:spPr>
          <a:xfrm>
            <a:off x="8092440" y="3108960"/>
            <a:ext cx="731520" cy="731520"/>
          </a:xfrm>
          <a:prstGeom prst="ellipse">
            <a:avLst/>
          </a:prstGeom>
          <a:solidFill>
            <a:schemeClr val="accent1"/>
          </a:solidFill>
          <a:ln w="12700">
            <a:solidFill>
              <a:schemeClr val="accent1"/>
            </a:solidFill>
            <a:prstDash val="solid"/>
          </a:ln>
        </p:spPr>
      </p:sp>
      <p:pic>
        <p:nvPicPr>
          <p:cNvPr id="11" name="a3_319" descr="preencoded.png">    </p:cNvPr>
          <p:cNvPicPr>
            <a:picLocks noChangeAspect="1"/>
          </p:cNvPicPr>
          <p:nvPr/>
        </p:nvPicPr>
        <p:blipFill>
          <a:blip r:embed="rId2"/>
          <a:stretch>
            <a:fillRect/>
          </a:stretch>
        </p:blipFill>
        <p:spPr>
          <a:xfrm>
            <a:off x="8282635" y="3299155"/>
            <a:ext cx="351130" cy="351130"/>
          </a:xfrm>
          <a:prstGeom prst="rect">
            <a:avLst/>
          </a:prstGeom>
        </p:spPr>
      </p:pic>
      <p:sp>
        <p:nvSpPr>
          <p:cNvPr id="12" name="a3_320"/>
          <p:cNvSpPr txBox="1"/>
          <p:nvPr/>
        </p:nvSpPr>
        <p:spPr>
          <a:xfrm>
            <a:off x="9006840" y="288036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Livraison et installation du serveur</a:t>
            </a:r>
            <a:endParaRPr lang="en-US" sz="1600" dirty="0"/>
          </a:p>
        </p:txBody>
      </p:sp>
      <p:sp>
        <p:nvSpPr>
          <p:cNvPr id="13" name="a4_321"/>
          <p:cNvSpPr/>
          <p:nvPr/>
        </p:nvSpPr>
        <p:spPr>
          <a:xfrm>
            <a:off x="7863840" y="429768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4" name="a4_322"/>
          <p:cNvSpPr/>
          <p:nvPr/>
        </p:nvSpPr>
        <p:spPr>
          <a:xfrm>
            <a:off x="8092440" y="4526280"/>
            <a:ext cx="731520" cy="731520"/>
          </a:xfrm>
          <a:prstGeom prst="ellipse">
            <a:avLst/>
          </a:prstGeom>
          <a:solidFill>
            <a:schemeClr val="accent1"/>
          </a:solidFill>
          <a:ln w="12700">
            <a:solidFill>
              <a:schemeClr val="accent1"/>
            </a:solidFill>
            <a:prstDash val="solid"/>
          </a:ln>
        </p:spPr>
      </p:sp>
      <p:pic>
        <p:nvPicPr>
          <p:cNvPr id="15" name="a4_323" descr="preencoded.png">    </p:cNvPr>
          <p:cNvPicPr>
            <a:picLocks noChangeAspect="1"/>
          </p:cNvPicPr>
          <p:nvPr/>
        </p:nvPicPr>
        <p:blipFill>
          <a:blip r:embed="rId3"/>
          <a:stretch>
            <a:fillRect/>
          </a:stretch>
        </p:blipFill>
        <p:spPr>
          <a:xfrm>
            <a:off x="8282635" y="4716475"/>
            <a:ext cx="351130" cy="351130"/>
          </a:xfrm>
          <a:prstGeom prst="rect">
            <a:avLst/>
          </a:prstGeom>
        </p:spPr>
      </p:pic>
      <p:sp>
        <p:nvSpPr>
          <p:cNvPr id="16" name="a4_324"/>
          <p:cNvSpPr txBox="1"/>
          <p:nvPr/>
        </p:nvSpPr>
        <p:spPr>
          <a:xfrm>
            <a:off x="9006840" y="429768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Mise en service et site en ligne</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0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3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4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5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Annexe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Les mots </a:t>
            </a:r>
            <a:pPr algn="l" indent="0" marL="0">
              <a:buNone/>
            </a:pPr>
            <a:r>
              <a:rPr lang="en-US" sz="3200" b="1" dirty="0">
                <a:solidFill>
                  <a:schemeClr val="accent1"/>
                </a:solidFill>
              </a:rPr>
              <a:t>expliqués simplement</a:t>
            </a:r>
            <a:endParaRPr lang="en-US" sz="3200" dirty="0"/>
          </a:p>
        </p:txBody>
      </p:sp>
      <p:sp>
        <p:nvSpPr>
          <p:cNvPr id="4" name="a1_325"/>
          <p:cNvSpPr/>
          <p:nvPr/>
        </p:nvSpPr>
        <p:spPr>
          <a:xfrm>
            <a:off x="548640" y="1600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326"/>
          <p:cNvSpPr/>
          <p:nvPr/>
        </p:nvSpPr>
        <p:spPr>
          <a:xfrm>
            <a:off x="731520" y="1801368"/>
            <a:ext cx="603504" cy="603504"/>
          </a:xfrm>
          <a:prstGeom prst="ellipse">
            <a:avLst/>
          </a:prstGeom>
          <a:solidFill>
            <a:schemeClr val="accent1"/>
          </a:solidFill>
          <a:ln w="12700">
            <a:solidFill>
              <a:schemeClr val="accent1"/>
            </a:solidFill>
            <a:prstDash val="solid"/>
          </a:ln>
        </p:spPr>
      </p:sp>
      <p:pic>
        <p:nvPicPr>
          <p:cNvPr id="6" name="a1_327" descr="preencoded.png">    </p:cNvPr>
          <p:cNvPicPr>
            <a:picLocks noChangeAspect="1"/>
          </p:cNvPicPr>
          <p:nvPr/>
        </p:nvPicPr>
        <p:blipFill>
          <a:blip r:embed="rId1"/>
          <a:stretch>
            <a:fillRect/>
          </a:stretch>
        </p:blipFill>
        <p:spPr>
          <a:xfrm>
            <a:off x="888431" y="1958279"/>
            <a:ext cx="289682" cy="289682"/>
          </a:xfrm>
          <a:prstGeom prst="rect">
            <a:avLst/>
          </a:prstGeom>
        </p:spPr>
      </p:pic>
      <p:sp>
        <p:nvSpPr>
          <p:cNvPr id="7" name="a1_328"/>
          <p:cNvSpPr txBox="1"/>
          <p:nvPr/>
        </p:nvSpPr>
        <p:spPr>
          <a:xfrm>
            <a:off x="1508760" y="1691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Serveur</a:t>
            </a:r>
            <a:endParaRPr lang="en-US" sz="1500" dirty="0"/>
          </a:p>
        </p:txBody>
      </p:sp>
      <p:sp>
        <p:nvSpPr>
          <p:cNvPr id="8" name="a1_329"/>
          <p:cNvSpPr txBox="1"/>
          <p:nvPr/>
        </p:nvSpPr>
        <p:spPr>
          <a:xfrm>
            <a:off x="1508760" y="2039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Un ordinateur central, toujours allumé, qui organise tous les autres.</a:t>
            </a:r>
            <a:endParaRPr lang="en-US" sz="1300" dirty="0"/>
          </a:p>
        </p:txBody>
      </p:sp>
      <p:sp>
        <p:nvSpPr>
          <p:cNvPr id="9" name="a1_330"/>
          <p:cNvSpPr/>
          <p:nvPr/>
        </p:nvSpPr>
        <p:spPr>
          <a:xfrm>
            <a:off x="6172200" y="1600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0" name="a1_331"/>
          <p:cNvSpPr/>
          <p:nvPr/>
        </p:nvSpPr>
        <p:spPr>
          <a:xfrm>
            <a:off x="6355080" y="1801368"/>
            <a:ext cx="603504" cy="603504"/>
          </a:xfrm>
          <a:prstGeom prst="ellipse">
            <a:avLst/>
          </a:prstGeom>
          <a:solidFill>
            <a:schemeClr val="accent1"/>
          </a:solidFill>
          <a:ln w="12700">
            <a:solidFill>
              <a:schemeClr val="accent1"/>
            </a:solidFill>
            <a:prstDash val="solid"/>
          </a:ln>
        </p:spPr>
      </p:sp>
      <p:pic>
        <p:nvPicPr>
          <p:cNvPr id="11" name="a1_332" descr="preencoded.png">    </p:cNvPr>
          <p:cNvPicPr>
            <a:picLocks noChangeAspect="1"/>
          </p:cNvPicPr>
          <p:nvPr/>
        </p:nvPicPr>
        <p:blipFill>
          <a:blip r:embed="rId2"/>
          <a:stretch>
            <a:fillRect/>
          </a:stretch>
        </p:blipFill>
        <p:spPr>
          <a:xfrm>
            <a:off x="6511991" y="1958279"/>
            <a:ext cx="289682" cy="289682"/>
          </a:xfrm>
          <a:prstGeom prst="rect">
            <a:avLst/>
          </a:prstGeom>
        </p:spPr>
      </p:pic>
      <p:sp>
        <p:nvSpPr>
          <p:cNvPr id="12" name="a1_333"/>
          <p:cNvSpPr txBox="1"/>
          <p:nvPr/>
        </p:nvSpPr>
        <p:spPr>
          <a:xfrm>
            <a:off x="7132320" y="1691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Proxmox</a:t>
            </a:r>
            <a:endParaRPr lang="en-US" sz="1500" dirty="0"/>
          </a:p>
        </p:txBody>
      </p:sp>
      <p:sp>
        <p:nvSpPr>
          <p:cNvPr id="13" name="a1_334"/>
          <p:cNvSpPr txBox="1"/>
          <p:nvPr/>
        </p:nvSpPr>
        <p:spPr>
          <a:xfrm>
            <a:off x="7132320" y="2039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Un logiciel gratuit installé sur le serveur, qui permet d'y ajouter des outils plus tard.</a:t>
            </a:r>
            <a:endParaRPr lang="en-US" sz="1300" dirty="0"/>
          </a:p>
        </p:txBody>
      </p:sp>
      <p:sp>
        <p:nvSpPr>
          <p:cNvPr id="14" name="a2_335"/>
          <p:cNvSpPr/>
          <p:nvPr/>
        </p:nvSpPr>
        <p:spPr>
          <a:xfrm>
            <a:off x="548640" y="2743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5" name="a2_336"/>
          <p:cNvSpPr/>
          <p:nvPr/>
        </p:nvSpPr>
        <p:spPr>
          <a:xfrm>
            <a:off x="731520" y="2944368"/>
            <a:ext cx="603504" cy="603504"/>
          </a:xfrm>
          <a:prstGeom prst="ellipse">
            <a:avLst/>
          </a:prstGeom>
          <a:solidFill>
            <a:schemeClr val="accent1"/>
          </a:solidFill>
          <a:ln w="12700">
            <a:solidFill>
              <a:schemeClr val="accent1"/>
            </a:solidFill>
            <a:prstDash val="solid"/>
          </a:ln>
        </p:spPr>
      </p:sp>
      <p:pic>
        <p:nvPicPr>
          <p:cNvPr id="16" name="a2_337" descr="preencoded.png">    </p:cNvPr>
          <p:cNvPicPr>
            <a:picLocks noChangeAspect="1"/>
          </p:cNvPicPr>
          <p:nvPr/>
        </p:nvPicPr>
        <p:blipFill>
          <a:blip r:embed="rId3"/>
          <a:stretch>
            <a:fillRect/>
          </a:stretch>
        </p:blipFill>
        <p:spPr>
          <a:xfrm>
            <a:off x="888431" y="3101279"/>
            <a:ext cx="289682" cy="289682"/>
          </a:xfrm>
          <a:prstGeom prst="rect">
            <a:avLst/>
          </a:prstGeom>
        </p:spPr>
      </p:pic>
      <p:sp>
        <p:nvSpPr>
          <p:cNvPr id="17" name="a2_338"/>
          <p:cNvSpPr txBox="1"/>
          <p:nvPr/>
        </p:nvSpPr>
        <p:spPr>
          <a:xfrm>
            <a:off x="1508760" y="2834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Windows Server</a:t>
            </a:r>
            <a:endParaRPr lang="en-US" sz="1500" dirty="0"/>
          </a:p>
        </p:txBody>
      </p:sp>
      <p:sp>
        <p:nvSpPr>
          <p:cNvPr id="18" name="a2_339"/>
          <p:cNvSpPr txBox="1"/>
          <p:nvPr/>
        </p:nvSpPr>
        <p:spPr>
          <a:xfrm>
            <a:off x="1508760" y="3182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Le « chef d'orchestre » : il gère les comptes et les règles de tous les ordinateurs.</a:t>
            </a:r>
            <a:endParaRPr lang="en-US" sz="1300" dirty="0"/>
          </a:p>
        </p:txBody>
      </p:sp>
      <p:sp>
        <p:nvSpPr>
          <p:cNvPr id="19" name="a2_340"/>
          <p:cNvSpPr/>
          <p:nvPr/>
        </p:nvSpPr>
        <p:spPr>
          <a:xfrm>
            <a:off x="6172200" y="2743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2_341"/>
          <p:cNvSpPr/>
          <p:nvPr/>
        </p:nvSpPr>
        <p:spPr>
          <a:xfrm>
            <a:off x="6355080" y="2944368"/>
            <a:ext cx="603504" cy="603504"/>
          </a:xfrm>
          <a:prstGeom prst="ellipse">
            <a:avLst/>
          </a:prstGeom>
          <a:solidFill>
            <a:schemeClr val="accent1"/>
          </a:solidFill>
          <a:ln w="12700">
            <a:solidFill>
              <a:schemeClr val="accent1"/>
            </a:solidFill>
            <a:prstDash val="solid"/>
          </a:ln>
        </p:spPr>
      </p:sp>
      <p:pic>
        <p:nvPicPr>
          <p:cNvPr id="21" name="a2_342" descr="preencoded.png">    </p:cNvPr>
          <p:cNvPicPr>
            <a:picLocks noChangeAspect="1"/>
          </p:cNvPicPr>
          <p:nvPr/>
        </p:nvPicPr>
        <p:blipFill>
          <a:blip r:embed="rId4"/>
          <a:stretch>
            <a:fillRect/>
          </a:stretch>
        </p:blipFill>
        <p:spPr>
          <a:xfrm>
            <a:off x="6511991" y="3101279"/>
            <a:ext cx="289682" cy="289682"/>
          </a:xfrm>
          <a:prstGeom prst="rect">
            <a:avLst/>
          </a:prstGeom>
        </p:spPr>
      </p:pic>
      <p:sp>
        <p:nvSpPr>
          <p:cNvPr id="22" name="a2_343"/>
          <p:cNvSpPr txBox="1"/>
          <p:nvPr/>
        </p:nvSpPr>
        <p:spPr>
          <a:xfrm>
            <a:off x="7132320" y="2834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Compte employé</a:t>
            </a:r>
            <a:endParaRPr lang="en-US" sz="1500" dirty="0"/>
          </a:p>
        </p:txBody>
      </p:sp>
      <p:sp>
        <p:nvSpPr>
          <p:cNvPr id="23" name="a2_344"/>
          <p:cNvSpPr txBox="1"/>
          <p:nvPr/>
        </p:nvSpPr>
        <p:spPr>
          <a:xfrm>
            <a:off x="7132320" y="3182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Un identifiant et un mot de passe personnels, valables sur tous les postes.</a:t>
            </a:r>
            <a:endParaRPr lang="en-US" sz="1300" dirty="0"/>
          </a:p>
        </p:txBody>
      </p:sp>
      <p:sp>
        <p:nvSpPr>
          <p:cNvPr id="24" name="a3_345"/>
          <p:cNvSpPr/>
          <p:nvPr/>
        </p:nvSpPr>
        <p:spPr>
          <a:xfrm>
            <a:off x="548640" y="3886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5" name="a3_346"/>
          <p:cNvSpPr/>
          <p:nvPr/>
        </p:nvSpPr>
        <p:spPr>
          <a:xfrm>
            <a:off x="731520" y="4087368"/>
            <a:ext cx="603504" cy="603504"/>
          </a:xfrm>
          <a:prstGeom prst="ellipse">
            <a:avLst/>
          </a:prstGeom>
          <a:solidFill>
            <a:schemeClr val="accent1"/>
          </a:solidFill>
          <a:ln w="12700">
            <a:solidFill>
              <a:schemeClr val="accent1"/>
            </a:solidFill>
            <a:prstDash val="solid"/>
          </a:ln>
        </p:spPr>
      </p:sp>
      <p:pic>
        <p:nvPicPr>
          <p:cNvPr id="26" name="a3_347" descr="preencoded.png">    </p:cNvPr>
          <p:cNvPicPr>
            <a:picLocks noChangeAspect="1"/>
          </p:cNvPicPr>
          <p:nvPr/>
        </p:nvPicPr>
        <p:blipFill>
          <a:blip r:embed="rId5"/>
          <a:stretch>
            <a:fillRect/>
          </a:stretch>
        </p:blipFill>
        <p:spPr>
          <a:xfrm>
            <a:off x="888431" y="4244279"/>
            <a:ext cx="289682" cy="289682"/>
          </a:xfrm>
          <a:prstGeom prst="rect">
            <a:avLst/>
          </a:prstGeom>
        </p:spPr>
      </p:pic>
      <p:sp>
        <p:nvSpPr>
          <p:cNvPr id="27" name="a3_348"/>
          <p:cNvSpPr txBox="1"/>
          <p:nvPr/>
        </p:nvSpPr>
        <p:spPr>
          <a:xfrm>
            <a:off x="1508760" y="3977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Règles automatiques (GPO)</a:t>
            </a:r>
            <a:endParaRPr lang="en-US" sz="1500" dirty="0"/>
          </a:p>
        </p:txBody>
      </p:sp>
      <p:sp>
        <p:nvSpPr>
          <p:cNvPr id="28" name="a3_349"/>
          <p:cNvSpPr txBox="1"/>
          <p:nvPr/>
        </p:nvSpPr>
        <p:spPr>
          <a:xfrm>
            <a:off x="1508760" y="4325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Des réglages imposés à tous les postes : mots de passe, mises à jour, interdictions.</a:t>
            </a:r>
            <a:endParaRPr lang="en-US" sz="1300" dirty="0"/>
          </a:p>
        </p:txBody>
      </p:sp>
      <p:sp>
        <p:nvSpPr>
          <p:cNvPr id="29" name="a3_350"/>
          <p:cNvSpPr/>
          <p:nvPr/>
        </p:nvSpPr>
        <p:spPr>
          <a:xfrm>
            <a:off x="6172200" y="3886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0" name="a3_351"/>
          <p:cNvSpPr/>
          <p:nvPr/>
        </p:nvSpPr>
        <p:spPr>
          <a:xfrm>
            <a:off x="6355080" y="4087368"/>
            <a:ext cx="603504" cy="603504"/>
          </a:xfrm>
          <a:prstGeom prst="ellipse">
            <a:avLst/>
          </a:prstGeom>
          <a:solidFill>
            <a:schemeClr val="accent1"/>
          </a:solidFill>
          <a:ln w="12700">
            <a:solidFill>
              <a:schemeClr val="accent1"/>
            </a:solidFill>
            <a:prstDash val="solid"/>
          </a:ln>
        </p:spPr>
      </p:sp>
      <p:pic>
        <p:nvPicPr>
          <p:cNvPr id="31" name="a3_352" descr="preencoded.png">    </p:cNvPr>
          <p:cNvPicPr>
            <a:picLocks noChangeAspect="1"/>
          </p:cNvPicPr>
          <p:nvPr/>
        </p:nvPicPr>
        <p:blipFill>
          <a:blip r:embed="rId6"/>
          <a:stretch>
            <a:fillRect/>
          </a:stretch>
        </p:blipFill>
        <p:spPr>
          <a:xfrm>
            <a:off x="6511991" y="4244279"/>
            <a:ext cx="289682" cy="289682"/>
          </a:xfrm>
          <a:prstGeom prst="rect">
            <a:avLst/>
          </a:prstGeom>
        </p:spPr>
      </p:pic>
      <p:sp>
        <p:nvSpPr>
          <p:cNvPr id="32" name="a3_353"/>
          <p:cNvSpPr txBox="1"/>
          <p:nvPr/>
        </p:nvSpPr>
        <p:spPr>
          <a:xfrm>
            <a:off x="7132320" y="3977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Tailscale</a:t>
            </a:r>
            <a:endParaRPr lang="en-US" sz="1500" dirty="0"/>
          </a:p>
        </p:txBody>
      </p:sp>
      <p:sp>
        <p:nvSpPr>
          <p:cNvPr id="33" name="a3_354"/>
          <p:cNvSpPr txBox="1"/>
          <p:nvPr/>
        </p:nvSpPr>
        <p:spPr>
          <a:xfrm>
            <a:off x="7132320" y="4325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Une connexion privée et protégée pour que l'administrateur aide à distance.</a:t>
            </a:r>
            <a:endParaRPr lang="en-US" sz="1300" dirty="0"/>
          </a:p>
        </p:txBody>
      </p:sp>
      <p:sp>
        <p:nvSpPr>
          <p:cNvPr id="34" name="a4_355"/>
          <p:cNvSpPr/>
          <p:nvPr/>
        </p:nvSpPr>
        <p:spPr>
          <a:xfrm>
            <a:off x="548640" y="5029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5" name="a4_356"/>
          <p:cNvSpPr/>
          <p:nvPr/>
        </p:nvSpPr>
        <p:spPr>
          <a:xfrm>
            <a:off x="731520" y="5230368"/>
            <a:ext cx="603504" cy="603504"/>
          </a:xfrm>
          <a:prstGeom prst="ellipse">
            <a:avLst/>
          </a:prstGeom>
          <a:solidFill>
            <a:schemeClr val="accent1"/>
          </a:solidFill>
          <a:ln w="12700">
            <a:solidFill>
              <a:schemeClr val="accent1"/>
            </a:solidFill>
            <a:prstDash val="solid"/>
          </a:ln>
        </p:spPr>
      </p:sp>
      <p:pic>
        <p:nvPicPr>
          <p:cNvPr id="36" name="a4_357" descr="preencoded.png">    </p:cNvPr>
          <p:cNvPicPr>
            <a:picLocks noChangeAspect="1"/>
          </p:cNvPicPr>
          <p:nvPr/>
        </p:nvPicPr>
        <p:blipFill>
          <a:blip r:embed="rId7"/>
          <a:stretch>
            <a:fillRect/>
          </a:stretch>
        </p:blipFill>
        <p:spPr>
          <a:xfrm>
            <a:off x="888431" y="5387279"/>
            <a:ext cx="289682" cy="289682"/>
          </a:xfrm>
          <a:prstGeom prst="rect">
            <a:avLst/>
          </a:prstGeom>
        </p:spPr>
      </p:pic>
      <p:sp>
        <p:nvSpPr>
          <p:cNvPr id="37" name="a4_358"/>
          <p:cNvSpPr txBox="1"/>
          <p:nvPr/>
        </p:nvSpPr>
        <p:spPr>
          <a:xfrm>
            <a:off x="1508760" y="5120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Rançongiciel</a:t>
            </a:r>
            <a:endParaRPr lang="en-US" sz="1500" dirty="0"/>
          </a:p>
        </p:txBody>
      </p:sp>
      <p:sp>
        <p:nvSpPr>
          <p:cNvPr id="38" name="a4_359"/>
          <p:cNvSpPr txBox="1"/>
          <p:nvPr/>
        </p:nvSpPr>
        <p:spPr>
          <a:xfrm>
            <a:off x="1508760" y="5468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Un virus qui verrouille vos fichiers et demande de l'argent pour les rendre.</a:t>
            </a:r>
            <a:endParaRPr lang="en-US" sz="1300" dirty="0"/>
          </a:p>
        </p:txBody>
      </p:sp>
      <p:sp>
        <p:nvSpPr>
          <p:cNvPr id="39" name="a4_360"/>
          <p:cNvSpPr/>
          <p:nvPr/>
        </p:nvSpPr>
        <p:spPr>
          <a:xfrm>
            <a:off x="6172200" y="5029200"/>
            <a:ext cx="5440680" cy="1005840"/>
          </a:xfrm>
          <a:prstGeom prst="roundRect">
            <a:avLst>
              <a:gd name="adj" fmla="val 12727"/>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40" name="a4_361"/>
          <p:cNvSpPr/>
          <p:nvPr/>
        </p:nvSpPr>
        <p:spPr>
          <a:xfrm>
            <a:off x="6355080" y="5230368"/>
            <a:ext cx="603504" cy="603504"/>
          </a:xfrm>
          <a:prstGeom prst="ellipse">
            <a:avLst/>
          </a:prstGeom>
          <a:solidFill>
            <a:schemeClr val="accent1"/>
          </a:solidFill>
          <a:ln w="12700">
            <a:solidFill>
              <a:schemeClr val="accent1"/>
            </a:solidFill>
            <a:prstDash val="solid"/>
          </a:ln>
        </p:spPr>
      </p:sp>
      <p:pic>
        <p:nvPicPr>
          <p:cNvPr id="41" name="a4_362" descr="preencoded.png">    </p:cNvPr>
          <p:cNvPicPr>
            <a:picLocks noChangeAspect="1"/>
          </p:cNvPicPr>
          <p:nvPr/>
        </p:nvPicPr>
        <p:blipFill>
          <a:blip r:embed="rId8"/>
          <a:stretch>
            <a:fillRect/>
          </a:stretch>
        </p:blipFill>
        <p:spPr>
          <a:xfrm>
            <a:off x="6511991" y="5387279"/>
            <a:ext cx="289682" cy="289682"/>
          </a:xfrm>
          <a:prstGeom prst="rect">
            <a:avLst/>
          </a:prstGeom>
        </p:spPr>
      </p:pic>
      <p:sp>
        <p:nvSpPr>
          <p:cNvPr id="42" name="a4_363"/>
          <p:cNvSpPr txBox="1"/>
          <p:nvPr/>
        </p:nvSpPr>
        <p:spPr>
          <a:xfrm>
            <a:off x="7132320" y="5120640"/>
            <a:ext cx="4297680" cy="365760"/>
          </a:xfrm>
          <a:prstGeom prst="rect">
            <a:avLst/>
          </a:prstGeom>
          <a:noFill/>
          <a:ln/>
        </p:spPr>
        <p:txBody>
          <a:bodyPr wrap="square" lIns="0" tIns="0" rIns="0" bIns="0" rtlCol="0" anchor="ctr"/>
          <a:lstStyle/>
          <a:p>
            <a:pPr indent="0" marL="0">
              <a:buNone/>
            </a:pPr>
            <a:r>
              <a:rPr lang="en-US" sz="1500" b="1" dirty="0">
                <a:solidFill>
                  <a:schemeClr val="tx2"/>
                </a:solidFill>
              </a:rPr>
              <a:t>Site vitrine</a:t>
            </a:r>
            <a:endParaRPr lang="en-US" sz="1500" dirty="0"/>
          </a:p>
        </p:txBody>
      </p:sp>
      <p:sp>
        <p:nvSpPr>
          <p:cNvPr id="43" name="a4_364"/>
          <p:cNvSpPr txBox="1"/>
          <p:nvPr/>
        </p:nvSpPr>
        <p:spPr>
          <a:xfrm>
            <a:off x="7132320" y="5468112"/>
            <a:ext cx="4343400" cy="502920"/>
          </a:xfrm>
          <a:prstGeom prst="rect">
            <a:avLst/>
          </a:prstGeom>
          <a:noFill/>
          <a:ln/>
        </p:spPr>
        <p:txBody>
          <a:bodyPr wrap="square" lIns="0" tIns="0" rIns="0" bIns="0" rtlCol="0" anchor="t"/>
          <a:lstStyle/>
          <a:p>
            <a:pPr indent="0" marL="0">
              <a:buNone/>
            </a:pPr>
            <a:r>
              <a:rPr lang="en-US" sz="1300" dirty="0">
                <a:solidFill>
                  <a:schemeClr val="accent6"/>
                </a:solidFill>
              </a:rPr>
              <a:t>Votre site internet qui présente l'entreprise et permet de vous contacter.</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4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5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5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6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7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8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8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9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9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9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9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02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08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14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2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2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3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3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4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47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15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159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16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171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177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183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par>
                          <p:cTn id="160" presetID="10" presetClass="entr" presetSubtype="0" fill="hold" nodeType="withEffect">
                            <p:stCondLst>
                              <p:cond delay="1890"/>
                            </p:stCondLst>
                            <p:childTnLst>
                              <p:set>
                                <p:cBhvr>
                                  <p:cTn id="161" dur="1" fill="hold">
                                    <p:stCondLst>
                                      <p:cond delay="0"/>
                                    </p:stCondLst>
                                  </p:cTn>
                                  <p:tgtEl>
                                    <p:spTgt spid="43"/>
                                  </p:tgtEl>
                                  <p:attrNameLst>
                                    <p:attrName>style.visibility</p:attrName>
                                  </p:attrNameLst>
                                </p:cBhvr>
                                <p:to>
                                  <p:strVal val="visible"/>
                                </p:to>
                              </p:set>
                              <p:animEffect transition="in" filter="fade">
                                <p:cBhvr>
                                  <p:cTn id="162" dur="600"/>
                                  <p:tgtEl>
                                    <p:spTgt spid="43"/>
                                  </p:tgtEl>
                                </p:cBhvr>
                              </p:animEffect>
                              <p:anim calcmode="lin" valueType="num">
                                <p:cBhvr>
                                  <p:cTn id="163" dur="600" decel="100000" fill="hold"/>
                                  <p:tgtEl>
                                    <p:spTgt spid="43"/>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Infra Bleu">
  <a:themeElements>
    <a:clrScheme name="Infra Bleu">
      <a:dk1>
        <a:srgbClr val="0B1B3F"/>
      </a:dk1>
      <a:lt1>
        <a:srgbClr val="FFFFFF"/>
      </a:lt1>
      <a:dk2>
        <a:srgbClr val="0B2A6F"/>
      </a:dk2>
      <a:lt2>
        <a:srgbClr val="EEF3FD"/>
      </a:lt2>
      <a:accent1>
        <a:srgbClr val="2F6BFF"/>
      </a:accent1>
      <a:accent2>
        <a:srgbClr val="00B8D4"/>
      </a:accent2>
      <a:accent3>
        <a:srgbClr val="7FA4FF"/>
      </a:accent3>
      <a:accent4>
        <a:srgbClr val="C9D8FF"/>
      </a:accent4>
      <a:accent5>
        <a:srgbClr val="16B37A"/>
      </a:accent5>
      <a:accent6>
        <a:srgbClr val="64748B"/>
      </a:accent6>
      <a:hlink>
        <a:srgbClr val="2F6BFF"/>
      </a:hlink>
      <a:folHlink>
        <a:srgbClr val="0B2A6F"/>
      </a:folHlink>
    </a:clrScheme>
    <a:fontScheme name="Infra Ble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Proposition – Infrastructure serveur pour PME</dc:title>
  <dc:subject>Proxmox, Windows Server, Active Directory, GPO, Tailscale</dc:subject>
  <dc:creator>PptxGenJS</dc:creator>
  <cp:lastModifiedBy>PptxGenJS</cp:lastModifiedBy>
  <cp:revision>1</cp:revision>
  <dcterms:created xsi:type="dcterms:W3CDTF">2026-10-30T03:12:54Z</dcterms:created>
  <dcterms:modified xsi:type="dcterms:W3CDTF">2026-10-30T03:12:54Z</dcterms:modified>
</cp:coreProperties>
</file>