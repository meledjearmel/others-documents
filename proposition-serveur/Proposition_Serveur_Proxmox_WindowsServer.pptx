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0411ba4-a59f-5c19-67eb-961194f77821}">
          <p14:sldIdLst>
            <p14:sldId id="256"/>
          </p14:sldIdLst>
        </p14:section>
        <p14:section name="Le constat" id="{97f01592-b7d1-93a6-6f79-becaaa7f7dcd}">
          <p14:sldIdLst>
            <p14:sldId id="257"/>
            <p14:sldId id="258"/>
          </p14:sldIdLst>
        </p14:section>
        <p14:section name="La solution" id="{a48bca01-a9fb-3d39-a521-909f469f6027}">
          <p14:sldIdLst>
            <p14:sldId id="259"/>
            <p14:sldId id="260"/>
            <p14:sldId id="261"/>
            <p14:sldId id="262"/>
          </p14:sldIdLst>
        </p14:section>
        <p14:section name="Investissement" id="{80e088b1-997c-564b-866d-853c29f92ad7}">
          <p14:sldIdLst>
            <p14:sldId id="263"/>
            <p14:sldId id="264"/>
            <p14:sldId id="265"/>
            <p14:sldId id="266"/>
          </p14:sldIdLst>
        </p14:section>
        <p14:section name="Option sécurité" id="{8b60bd97-10f8-d5ae-eecf-bbdd0b67b003}">
          <p14:sldIdLst>
            <p14:sldId id="267"/>
            <p14:sldId id="268"/>
            <p14:sldId id="269"/>
          </p14:sldIdLst>
        </p14:section>
        <p14:section name="Conclusion" id="{19e36175-e8c1-fceb-7fa5-6af27e6fd2b0}">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Accroche : aujourd'hui, l'informatique de l'entreprise fonctionne… jusqu'au jour où elle ne fonctionne plus. Cette proposition montre comment, avec un seul serveur, on passe d'un parc de postes isolés à un système géré, sécurisé et administré à distance — comme dans une grande entreprise, au budget d'une PME.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réagir le client : « Vous reconnaissez-vous à l'une de ces étapes ? » Avec 15 postes, l'entreprise est exactement au moment où le bricolage devient un risque. Chaque départ d'employé, chaque virus, chaque panne coûte du temps et de l'argent.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Laisser la phrase s'installer. Le message : on ne vend pas du matériel, on vend de la tranquillité et du contrôle.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couche par couche, de bas en haut : un serveur, Proxmox qui le rend évolutif, Windows Server qui est le standard mondial pour gérer un réseau d'entreprise, puis Active Directory et les GPO qui donnent le contrôle sur les 15 postes.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qui vend. Insister sur le départ d'un employé : aujourd'hui, un ancien salarié peut encore accéder aux données. Demain : un clic et c'est fini.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Tailscale crée un tunnel chiffré : l'administrateur gère tout le parc à distance, sans exposer le serveur sur Internet. Résultat : un problème réglé en quelques minutes, sans attendre un déplacement.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Rassurer : ce ne sont pas des solutions exotiques. Et surtout, pas d'abonnement : une fois installé, le système appartient à l'entreprise.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n'a rien à gérer : du serveur jusqu'au dernier poste, tout est installé, configuré et testé. Le forfait couvre les 15 postes.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total puis ramener au coût par poste : environ 77 000 FCFA par poste, une seule fois. À comparer au coût d'une seule journée d'arrêt ou d'une perte de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Rassurer : le client n'est pas laissé seul. Trois mois offerts pour qu'il constate la valeur, puis une maintenance trimestrielle à partir de 100 000 FCFA, à discuter selon ses besoins.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commercial : le site vitrine, d'une valeur de 365 000 FCFA, est offert. L'entreprise gagne à la fois un outil interne solide et une vitrine pour attirer de nouveaux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 l'infrastructure organise le parc, mais il faut aussi le protéger. Cette option est indépendante de la proposition principale : le client peut la prendre maintenant ou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L'administrateur pilote la sécurité de tous les appareils depuis une seule console, à distance, comme pour le reste de l'infrastructure. Les postes, le serveur et les téléphones sont couverts.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annoncer de prix : poser la question du coût d'une journée d'arrêt et laisser le client y réfléchir. Proposer une démonstration ou un devis séparé s'il montre de l'intérêt.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par une question fermée : « On planifie l'installation pour quelle semaine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uvertur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air-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eu-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852160" cy="201168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3" name="Text 0"/>
          <p:cNvSpPr/>
          <p:nvPr>
            <p:ph idx="101" type="body" hasCustomPrompt="1"/>
          </p:nvPr>
        </p:nvSpPr>
        <p:spPr>
          <a:xfrm>
            <a:off x="548640" y="4069080"/>
            <a:ext cx="539496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ai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lvl1pPr indent="0" marL="0">
              <a:buNone/>
              <a:defRPr lang="en-US" sz="1400" b="1"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chemeClr val="accent6"/>
                </a:solidFill>
              </a:rPr>
              <a:t>Proposition commerciale · Infrastructure informatique · Prix HT en FCFA</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eu">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slideLayout" Target="../slideLayouts/slideLayout3.xml"/><Relationship Id="rId2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3.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1_0"/>
          <p:cNvSpPr/>
          <p:nvPr/>
        </p:nvSpPr>
        <p:spPr>
          <a:xfrm>
            <a:off x="548640" y="548640"/>
            <a:ext cx="548640" cy="548640"/>
          </a:xfrm>
          <a:prstGeom prst="ellipse">
            <a:avLst/>
          </a:prstGeom>
          <a:solidFill>
            <a:schemeClr val="accent1"/>
          </a:solidFill>
          <a:ln w="12700">
            <a:solidFill>
              <a:schemeClr val="accent1"/>
            </a:solidFill>
            <a:prstDash val="solid"/>
          </a:ln>
        </p:spPr>
      </p:sp>
      <p:pic>
        <p:nvPicPr>
          <p:cNvPr id="3" name="a1_1" descr="preencoded.png">    </p:cNvPr>
          <p:cNvPicPr>
            <a:picLocks noChangeAspect="1"/>
          </p:cNvPicPr>
          <p:nvPr/>
        </p:nvPicPr>
        <p:blipFill>
          <a:blip r:embed="rId1"/>
          <a:stretch>
            <a:fillRect/>
          </a:stretch>
        </p:blipFill>
        <p:spPr>
          <a:xfrm>
            <a:off x="691286" y="691286"/>
            <a:ext cx="263347" cy="263347"/>
          </a:xfrm>
          <a:prstGeom prst="rect">
            <a:avLst/>
          </a:prstGeom>
        </p:spPr>
      </p:pic>
      <p:sp>
        <p:nvSpPr>
          <p:cNvPr id="4" name="a1_2"/>
          <p:cNvSpPr txBox="1"/>
          <p:nvPr/>
        </p:nvSpPr>
        <p:spPr>
          <a:xfrm>
            <a:off x="1234440" y="548640"/>
            <a:ext cx="4572000" cy="548640"/>
          </a:xfrm>
          <a:prstGeom prst="rect">
            <a:avLst/>
          </a:prstGeom>
          <a:noFill/>
          <a:ln/>
        </p:spPr>
        <p:txBody>
          <a:bodyPr wrap="square" lIns="0" tIns="0" rIns="0" bIns="0" rtlCol="0" anchor="ctr"/>
          <a:lstStyle/>
          <a:p>
            <a:pPr indent="0" marL="0">
              <a:buNone/>
            </a:pPr>
            <a:r>
              <a:rPr lang="en-US" sz="1400" b="1" spc="200" kern="0" dirty="0">
                <a:solidFill>
                  <a:schemeClr val="accent1"/>
                </a:solidFill>
              </a:rPr>
              <a:t>PROPOSITION COMMERCIALE</a:t>
            </a:r>
            <a:endParaRPr lang="en-US" sz="1400" dirty="0"/>
          </a:p>
        </p:txBody>
      </p:sp>
      <p:sp>
        <p:nvSpPr>
          <p:cNvPr id="5" name="Text 0"/>
          <p:cNvSpPr/>
          <p:nvPr>
            <p:ph idx="100" type="title" hasCustomPrompt="1"/>
          </p:nvPr>
        </p:nvSpPr>
        <p:spPr>
          <a:xfrm>
            <a:off x="548640" y="1920240"/>
            <a:ext cx="5852160" cy="2011680"/>
          </a:xfrm>
          <a:prstGeom prst="rect">
            <a:avLst/>
          </a:prstGeom>
          <a:noFill/>
          <a:ln/>
        </p:spPr>
        <p:txBody>
          <a:bodyPr wrap="square" rtlCol="0" anchor="b"/>
          <a:lstStyle/>
          <a:p>
            <a:pPr algn="l" indent="0" marL="0">
              <a:buNone/>
            </a:pPr>
            <a:r>
              <a:rPr lang="en-US" sz="4400" b="1" dirty="0">
                <a:solidFill>
                  <a:schemeClr val="tx1"/>
                </a:solidFill>
              </a:rPr>
              <a:t>Reprenez le </a:t>
            </a:r>
            <a:pPr algn="l" indent="0" marL="0">
              <a:buNone/>
            </a:pPr>
            <a:r>
              <a:rPr lang="en-US" sz="4400" b="1" dirty="0">
                <a:solidFill>
                  <a:schemeClr val="accent1"/>
                </a:solidFill>
              </a:rPr>
              <a:t>contrôle</a:t>
            </a:r>
            <a:pPr algn="l" indent="0" marL="0">
              <a:buNone/>
            </a:pPr>
            <a:r>
              <a:rPr lang="en-US" sz="4400" b="1" dirty="0">
                <a:solidFill>
                  <a:schemeClr val="tx1"/>
                </a:solidFill>
              </a:rPr>
              <a:t> de votre parc informatique</a:t>
            </a:r>
            <a:endParaRPr lang="en-US" sz="4400" dirty="0"/>
          </a:p>
        </p:txBody>
      </p:sp>
      <p:sp>
        <p:nvSpPr>
          <p:cNvPr id="6" name="Text 0"/>
          <p:cNvSpPr/>
          <p:nvPr>
            <p:ph idx="101" type="body" hasCustomPrompt="1"/>
          </p:nvPr>
        </p:nvSpPr>
        <p:spPr>
          <a:xfrm>
            <a:off x="548640" y="4069080"/>
            <a:ext cx="5394960" cy="914400"/>
          </a:xfrm>
          <a:prstGeom prst="rect">
            <a:avLst/>
          </a:prstGeom>
          <a:noFill/>
          <a:ln/>
        </p:spPr>
        <p:txBody>
          <a:bodyPr wrap="square" rtlCol="0" anchor="t"/>
          <a:lstStyle/>
          <a:p>
            <a:pPr indent="0" marL="0">
              <a:buNone/>
            </a:pPr>
            <a:r>
              <a:rPr lang="en-US" sz="1800" dirty="0">
                <a:solidFill>
                  <a:schemeClr val="accent6"/>
                </a:solidFill>
              </a:rPr>
              <a:t>Un serveur, une administration centralisée, 15 postes sous contrôle — et votre site web offert.</a:t>
            </a:r>
            <a:endParaRPr lang="en-US" sz="1800" dirty="0"/>
          </a:p>
        </p:txBody>
      </p:sp>
      <p:sp>
        <p:nvSpPr>
          <p:cNvPr id="7" name="a2_3"/>
          <p:cNvSpPr/>
          <p:nvPr/>
        </p:nvSpPr>
        <p:spPr>
          <a:xfrm>
            <a:off x="548640" y="5074920"/>
            <a:ext cx="1463040" cy="384048"/>
          </a:xfrm>
          <a:prstGeom prst="roundRect">
            <a:avLst>
              <a:gd name="adj" fmla="val 50000"/>
            </a:avLst>
          </a:prstGeom>
          <a:solidFill>
            <a:schemeClr val="bg2"/>
          </a:solidFill>
          <a:ln w="12700">
            <a:solidFill>
              <a:schemeClr val="accent4"/>
            </a:solidFill>
            <a:prstDash val="solid"/>
          </a:ln>
        </p:spPr>
      </p:sp>
      <p:sp>
        <p:nvSpPr>
          <p:cNvPr id="8" name="a2_4"/>
          <p:cNvSpPr txBox="1"/>
          <p:nvPr/>
        </p:nvSpPr>
        <p:spPr>
          <a:xfrm>
            <a:off x="548640" y="5074920"/>
            <a:ext cx="1463040" cy="384048"/>
          </a:xfrm>
          <a:prstGeom prst="rect">
            <a:avLst/>
          </a:prstGeom>
          <a:noFill/>
          <a:ln/>
        </p:spPr>
        <p:txBody>
          <a:bodyPr wrap="square" lIns="0" tIns="0" rIns="0" bIns="0" rtlCol="0" anchor="ctr"/>
          <a:lstStyle/>
          <a:p>
            <a:pPr algn="ctr" indent="0" marL="0">
              <a:buNone/>
            </a:pPr>
            <a:r>
              <a:rPr lang="en-US" sz="1300" b="1" dirty="0">
                <a:solidFill>
                  <a:schemeClr val="tx2"/>
                </a:solidFill>
              </a:rPr>
              <a:t>Proxmox VE</a:t>
            </a:r>
            <a:endParaRPr lang="en-US" sz="1300" dirty="0"/>
          </a:p>
        </p:txBody>
      </p:sp>
      <p:sp>
        <p:nvSpPr>
          <p:cNvPr id="9" name="a2_5"/>
          <p:cNvSpPr/>
          <p:nvPr/>
        </p:nvSpPr>
        <p:spPr>
          <a:xfrm>
            <a:off x="2148840" y="5074920"/>
            <a:ext cx="1828800" cy="384048"/>
          </a:xfrm>
          <a:prstGeom prst="roundRect">
            <a:avLst>
              <a:gd name="adj" fmla="val 50000"/>
            </a:avLst>
          </a:prstGeom>
          <a:solidFill>
            <a:schemeClr val="bg2"/>
          </a:solidFill>
          <a:ln w="12700">
            <a:solidFill>
              <a:schemeClr val="accent4"/>
            </a:solidFill>
            <a:prstDash val="solid"/>
          </a:ln>
        </p:spPr>
      </p:sp>
      <p:sp>
        <p:nvSpPr>
          <p:cNvPr id="10" name="a2_6"/>
          <p:cNvSpPr txBox="1"/>
          <p:nvPr/>
        </p:nvSpPr>
        <p:spPr>
          <a:xfrm>
            <a:off x="2148840" y="5074920"/>
            <a:ext cx="1828800" cy="384048"/>
          </a:xfrm>
          <a:prstGeom prst="rect">
            <a:avLst/>
          </a:prstGeom>
          <a:noFill/>
          <a:ln/>
        </p:spPr>
        <p:txBody>
          <a:bodyPr wrap="square" lIns="0" tIns="0" rIns="0" bIns="0" rtlCol="0" anchor="ctr"/>
          <a:lstStyle/>
          <a:p>
            <a:pPr algn="ctr" indent="0" marL="0">
              <a:buNone/>
            </a:pPr>
            <a:r>
              <a:rPr lang="en-US" sz="1300" b="1" dirty="0">
                <a:solidFill>
                  <a:schemeClr val="tx2"/>
                </a:solidFill>
              </a:rPr>
              <a:t>Windows Server</a:t>
            </a:r>
            <a:endParaRPr lang="en-US" sz="1300" dirty="0"/>
          </a:p>
        </p:txBody>
      </p:sp>
      <p:sp>
        <p:nvSpPr>
          <p:cNvPr id="11" name="a2_7"/>
          <p:cNvSpPr/>
          <p:nvPr/>
        </p:nvSpPr>
        <p:spPr>
          <a:xfrm>
            <a:off x="4114800" y="5074920"/>
            <a:ext cx="2194560" cy="384048"/>
          </a:xfrm>
          <a:prstGeom prst="roundRect">
            <a:avLst>
              <a:gd name="adj" fmla="val 50000"/>
            </a:avLst>
          </a:prstGeom>
          <a:solidFill>
            <a:schemeClr val="bg2"/>
          </a:solidFill>
          <a:ln w="12700">
            <a:solidFill>
              <a:schemeClr val="accent4"/>
            </a:solidFill>
            <a:prstDash val="solid"/>
          </a:ln>
        </p:spPr>
      </p:sp>
      <p:sp>
        <p:nvSpPr>
          <p:cNvPr id="12" name="a2_8"/>
          <p:cNvSpPr txBox="1"/>
          <p:nvPr/>
        </p:nvSpPr>
        <p:spPr>
          <a:xfrm>
            <a:off x="4114800" y="5074920"/>
            <a:ext cx="2194560" cy="384048"/>
          </a:xfrm>
          <a:prstGeom prst="rect">
            <a:avLst/>
          </a:prstGeom>
          <a:noFill/>
          <a:ln/>
        </p:spPr>
        <p:txBody>
          <a:bodyPr wrap="square" lIns="0" tIns="0" rIns="0" bIns="0" rtlCol="0" anchor="ctr"/>
          <a:lstStyle/>
          <a:p>
            <a:pPr algn="ctr" indent="0" marL="0">
              <a:buNone/>
            </a:pPr>
            <a:r>
              <a:rPr lang="en-US" sz="1300" b="1" dirty="0">
                <a:solidFill>
                  <a:schemeClr val="tx2"/>
                </a:solidFill>
              </a:rPr>
              <a:t>Administration à distance</a:t>
            </a:r>
            <a:endParaRPr lang="en-US" sz="1300" dirty="0"/>
          </a:p>
        </p:txBody>
      </p:sp>
      <p:sp>
        <p:nvSpPr>
          <p:cNvPr id="13" name="a3_9"/>
          <p:cNvSpPr txBox="1"/>
          <p:nvPr/>
        </p:nvSpPr>
        <p:spPr>
          <a:xfrm>
            <a:off x="548640" y="5806440"/>
            <a:ext cx="5943600" cy="594360"/>
          </a:xfrm>
          <a:prstGeom prst="rect">
            <a:avLst/>
          </a:prstGeom>
          <a:noFill/>
          <a:ln/>
        </p:spPr>
        <p:txBody>
          <a:bodyPr wrap="square" lIns="0" tIns="0" rIns="0" bIns="0" rtlCol="0" anchor="t"/>
          <a:lstStyle/>
          <a:p>
            <a:pPr indent="0" marL="0">
              <a:buNone/>
            </a:pPr>
            <a:r>
              <a:rPr lang="en-US" sz="1400" b="1" dirty="0">
                <a:solidFill>
                  <a:schemeClr val="tx1"/>
                </a:solidFill>
              </a:rPr>
              <a:t>Armel Meledje</a:t>
            </a:r>
            <a:endParaRPr lang="en-US" sz="1400" dirty="0"/>
          </a:p>
          <a:p>
            <a:pPr indent="0" marL="0">
              <a:buNone/>
            </a:pPr>
            <a:r>
              <a:rPr lang="en-US" sz="1400" dirty="0">
                <a:solidFill>
                  <a:schemeClr val="accent6"/>
                </a:solidFill>
              </a:rPr>
              <a:t>Développeur Senior · Ingénieur de conception</a:t>
            </a:r>
            <a:endParaRPr lang="en-US" sz="1400" dirty="0"/>
          </a:p>
        </p:txBody>
      </p:sp>
      <p:sp>
        <p:nvSpPr>
          <p:cNvPr id="14" name="a3_10"/>
          <p:cNvSpPr txBox="1"/>
          <p:nvPr/>
        </p:nvSpPr>
        <p:spPr>
          <a:xfrm>
            <a:off x="8412480" y="6035040"/>
            <a:ext cx="3200400" cy="365760"/>
          </a:xfrm>
          <a:prstGeom prst="rect">
            <a:avLst/>
          </a:prstGeom>
          <a:noFill/>
          <a:ln/>
        </p:spPr>
        <p:txBody>
          <a:bodyPr wrap="square" lIns="0" tIns="0" rIns="0" bIns="0" rtlCol="0" anchor="ctr"/>
          <a:lstStyle/>
          <a:p>
            <a:pPr algn="r" indent="0" marL="0">
              <a:buNone/>
            </a:pPr>
            <a:r>
              <a:rPr lang="en-US" sz="1400" dirty="0">
                <a:solidFill>
                  <a:schemeClr val="accent6"/>
                </a:solidFill>
              </a:rPr>
              <a:t>Vendredi 30 octobre 2026</a:t>
            </a:r>
            <a:endParaRPr lang="en-US" sz="1400" dirty="0"/>
          </a:p>
        </p:txBody>
      </p:sp>
      <p:pic>
        <p:nvPicPr>
          <p:cNvPr id="15" name="a1_11" descr="preencoded.png">    </p:cNvPr>
          <p:cNvPicPr>
            <a:picLocks noChangeAspect="1"/>
          </p:cNvPicPr>
          <p:nvPr/>
        </p:nvPicPr>
        <p:blipFill>
          <a:blip r:embed="rId2"/>
          <a:stretch>
            <a:fillRect/>
          </a:stretch>
        </p:blipFill>
        <p:spPr>
          <a:xfrm>
            <a:off x="6309360" y="685800"/>
            <a:ext cx="5760720" cy="4608576"/>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anim calcmode="lin" valueType="num">
                                <p:cBhvr>
                                  <p:cTn id="11" dur="600" decel="100000" fill="hold"/>
                                  <p:tgtEl>
                                    <p:spTgt spid="3"/>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decel="100000" fill="hold"/>
                                  <p:tgtEl>
                                    <p:spTgt spid="4"/>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600"/>
                                  <p:tgtEl>
                                    <p:spTgt spid="15"/>
                                  </p:tgtEl>
                                </p:cBhvr>
                              </p:animEffect>
                              <p:anim calcmode="lin" valueType="num">
                                <p:cBhvr>
                                  <p:cTn id="19" dur="600" decel="100000" fill="hold"/>
                                  <p:tgtEl>
                                    <p:spTgt spid="15"/>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anim calcmode="lin" valueType="num">
                                <p:cBhvr>
                                  <p:cTn id="27" dur="600" decel="100000" fill="hold"/>
                                  <p:tgtEl>
                                    <p:spTgt spid="8"/>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00"/>
                                  <p:tgtEl>
                                    <p:spTgt spid="9"/>
                                  </p:tgtEl>
                                </p:cBhvr>
                              </p:animEffect>
                              <p:anim calcmode="lin" valueType="num">
                                <p:cBhvr>
                                  <p:cTn id="31" dur="600" decel="100000" fill="hold"/>
                                  <p:tgtEl>
                                    <p:spTgt spid="9"/>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600"/>
                                  <p:tgtEl>
                                    <p:spTgt spid="10"/>
                                  </p:tgtEl>
                                </p:cBhvr>
                              </p:animEffect>
                              <p:anim calcmode="lin" valueType="num">
                                <p:cBhvr>
                                  <p:cTn id="35" dur="600" decel="100000" fill="hold"/>
                                  <p:tgtEl>
                                    <p:spTgt spid="10"/>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69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00"/>
                                  <p:tgtEl>
                                    <p:spTgt spid="11"/>
                                  </p:tgtEl>
                                </p:cBhvr>
                              </p:animEffect>
                              <p:anim calcmode="lin" valueType="num">
                                <p:cBhvr>
                                  <p:cTn id="39" dur="600" decel="100000" fill="hold"/>
                                  <p:tgtEl>
                                    <p:spTgt spid="11"/>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75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600"/>
                                  <p:tgtEl>
                                    <p:spTgt spid="12"/>
                                  </p:tgtEl>
                                </p:cBhvr>
                              </p:animEffect>
                              <p:anim calcmode="lin" valueType="num">
                                <p:cBhvr>
                                  <p:cTn id="43" dur="600" decel="100000" fill="hold"/>
                                  <p:tgtEl>
                                    <p:spTgt spid="12"/>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9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600"/>
                                  <p:tgtEl>
                                    <p:spTgt spid="13"/>
                                  </p:tgtEl>
                                </p:cBhvr>
                              </p:animEffect>
                              <p:anim calcmode="lin" valueType="num">
                                <p:cBhvr>
                                  <p:cTn id="47" dur="600" decel="100000" fill="hold"/>
                                  <p:tgtEl>
                                    <p:spTgt spid="13"/>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96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600"/>
                                  <p:tgtEl>
                                    <p:spTgt spid="14"/>
                                  </p:tgtEl>
                                </p:cBhvr>
                              </p:animEffect>
                              <p:anim calcmode="lin" valueType="num">
                                <p:cBhvr>
                                  <p:cTn id="51" dur="600" decel="100000" fill="hold"/>
                                  <p:tgtEl>
                                    <p:spTgt spid="1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Le constat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Plus l'entreprise grandit, plus le </a:t>
            </a:r>
            <a:pPr algn="l" indent="0" marL="0">
              <a:buNone/>
            </a:pPr>
            <a:r>
              <a:rPr lang="en-US" sz="3200" b="1" dirty="0">
                <a:solidFill>
                  <a:schemeClr val="accent1"/>
                </a:solidFill>
              </a:rPr>
              <a:t>désordre coûte cher</a:t>
            </a:r>
            <a:endParaRPr lang="en-US" sz="3200" dirty="0"/>
          </a:p>
        </p:txBody>
      </p:sp>
      <p:pic>
        <p:nvPicPr>
          <p:cNvPr id="4" name="a1_12" descr="preencoded.png">    </p:cNvPr>
          <p:cNvPicPr>
            <a:picLocks noChangeAspect="1"/>
          </p:cNvPicPr>
          <p:nvPr/>
        </p:nvPicPr>
        <p:blipFill>
          <a:blip r:embed="rId1"/>
          <a:stretch>
            <a:fillRect/>
          </a:stretch>
        </p:blipFill>
        <p:spPr>
          <a:xfrm>
            <a:off x="0" y="0"/>
            <a:ext cx="12191695" cy="6858000"/>
          </a:xfrm>
          <a:prstGeom prst="rect">
            <a:avLst/>
          </a:prstGeom>
        </p:spPr>
      </p:pic>
      <p:sp>
        <p:nvSpPr>
          <p:cNvPr id="5" name="a2_13"/>
          <p:cNvSpPr/>
          <p:nvPr/>
        </p:nvSpPr>
        <p:spPr>
          <a:xfrm>
            <a:off x="2854604" y="5454999"/>
            <a:ext cx="256032" cy="256032"/>
          </a:xfrm>
          <a:prstGeom prst="ellipse">
            <a:avLst/>
          </a:prstGeom>
          <a:solidFill>
            <a:schemeClr val="accent1"/>
          </a:solidFill>
          <a:ln w="38100">
            <a:solidFill>
              <a:srgbClr val="FFFFFF"/>
            </a:solidFill>
            <a:prstDash val="solid"/>
          </a:ln>
        </p:spPr>
      </p:sp>
      <p:sp>
        <p:nvSpPr>
          <p:cNvPr id="6" name="a2_14"/>
          <p:cNvSpPr txBox="1"/>
          <p:nvPr/>
        </p:nvSpPr>
        <p:spPr>
          <a:xfrm>
            <a:off x="548640" y="4805775"/>
            <a:ext cx="3931920" cy="457200"/>
          </a:xfrm>
          <a:prstGeom prst="rect">
            <a:avLst/>
          </a:prstGeom>
          <a:noFill/>
          <a:ln/>
        </p:spPr>
        <p:txBody>
          <a:bodyPr wrap="square" lIns="0" tIns="0" rIns="0" bIns="0" rtlCol="0" anchor="b"/>
          <a:lstStyle/>
          <a:p>
            <a:pPr algn="l" indent="0" marL="0">
              <a:buNone/>
            </a:pPr>
            <a:r>
              <a:rPr lang="en-US" sz="1500" dirty="0">
                <a:solidFill>
                  <a:schemeClr val="tx1"/>
                </a:solidFill>
              </a:rPr>
              <a:t>Quelques postes : tout se règle « à la main »</a:t>
            </a:r>
            <a:endParaRPr lang="en-US" sz="1500" dirty="0"/>
          </a:p>
        </p:txBody>
      </p:sp>
      <p:sp>
        <p:nvSpPr>
          <p:cNvPr id="7" name="a3_15"/>
          <p:cNvSpPr/>
          <p:nvPr/>
        </p:nvSpPr>
        <p:spPr>
          <a:xfrm>
            <a:off x="5375442" y="4202744"/>
            <a:ext cx="256032" cy="256032"/>
          </a:xfrm>
          <a:prstGeom prst="ellipse">
            <a:avLst/>
          </a:prstGeom>
          <a:solidFill>
            <a:schemeClr val="accent1"/>
          </a:solidFill>
          <a:ln w="38100">
            <a:solidFill>
              <a:srgbClr val="FFFFFF"/>
            </a:solidFill>
            <a:prstDash val="solid"/>
          </a:ln>
        </p:spPr>
      </p:sp>
      <p:sp>
        <p:nvSpPr>
          <p:cNvPr id="8" name="a3_16"/>
          <p:cNvSpPr txBox="1"/>
          <p:nvPr/>
        </p:nvSpPr>
        <p:spPr>
          <a:xfrm>
            <a:off x="1342938" y="3782120"/>
            <a:ext cx="3931920" cy="457200"/>
          </a:xfrm>
          <a:prstGeom prst="rect">
            <a:avLst/>
          </a:prstGeom>
          <a:noFill/>
          <a:ln/>
        </p:spPr>
        <p:txBody>
          <a:bodyPr wrap="square" lIns="0" tIns="0" rIns="0" bIns="0" rtlCol="0" anchor="b"/>
          <a:lstStyle/>
          <a:p>
            <a:pPr algn="r" indent="0" marL="0">
              <a:buNone/>
            </a:pPr>
            <a:r>
              <a:rPr lang="en-US" sz="1500" dirty="0">
                <a:solidFill>
                  <a:schemeClr val="tx1"/>
                </a:solidFill>
              </a:rPr>
              <a:t>Les mots de passe circulent, chacun installe ce qu'il veut</a:t>
            </a:r>
            <a:endParaRPr lang="en-US" sz="1500" dirty="0"/>
          </a:p>
        </p:txBody>
      </p:sp>
      <p:sp>
        <p:nvSpPr>
          <p:cNvPr id="9" name="a4_17"/>
          <p:cNvSpPr/>
          <p:nvPr/>
        </p:nvSpPr>
        <p:spPr>
          <a:xfrm>
            <a:off x="7617554" y="2697991"/>
            <a:ext cx="256032" cy="256032"/>
          </a:xfrm>
          <a:prstGeom prst="ellipse">
            <a:avLst/>
          </a:prstGeom>
          <a:solidFill>
            <a:schemeClr val="accent1"/>
          </a:solidFill>
          <a:ln w="38100">
            <a:solidFill>
              <a:srgbClr val="FFFFFF"/>
            </a:solidFill>
            <a:prstDash val="solid"/>
          </a:ln>
        </p:spPr>
      </p:sp>
      <p:sp>
        <p:nvSpPr>
          <p:cNvPr id="10" name="a4_18"/>
          <p:cNvSpPr txBox="1"/>
          <p:nvPr/>
        </p:nvSpPr>
        <p:spPr>
          <a:xfrm>
            <a:off x="3585050" y="2277367"/>
            <a:ext cx="3931920" cy="457200"/>
          </a:xfrm>
          <a:prstGeom prst="rect">
            <a:avLst/>
          </a:prstGeom>
          <a:noFill/>
          <a:ln/>
        </p:spPr>
        <p:txBody>
          <a:bodyPr wrap="square" lIns="0" tIns="0" rIns="0" bIns="0" rtlCol="0" anchor="b"/>
          <a:lstStyle/>
          <a:p>
            <a:pPr algn="r" indent="0" marL="0">
              <a:buNone/>
            </a:pPr>
            <a:r>
              <a:rPr lang="en-US" sz="1500" dirty="0">
                <a:solidFill>
                  <a:schemeClr val="tx1"/>
                </a:solidFill>
              </a:rPr>
              <a:t>Personne ne sait plus qui a accès à quoi</a:t>
            </a:r>
            <a:endParaRPr lang="en-US" sz="1500" dirty="0"/>
          </a:p>
        </p:txBody>
      </p:sp>
      <p:sp>
        <p:nvSpPr>
          <p:cNvPr id="11" name="a5_19"/>
          <p:cNvSpPr/>
          <p:nvPr/>
        </p:nvSpPr>
        <p:spPr>
          <a:xfrm>
            <a:off x="10180107" y="1627129"/>
            <a:ext cx="256032" cy="256032"/>
          </a:xfrm>
          <a:prstGeom prst="ellipse">
            <a:avLst/>
          </a:prstGeom>
          <a:solidFill>
            <a:srgbClr val="E5484D"/>
          </a:solidFill>
          <a:ln w="38100">
            <a:solidFill>
              <a:srgbClr val="FFFFFF"/>
            </a:solidFill>
            <a:prstDash val="solid"/>
          </a:ln>
        </p:spPr>
      </p:sp>
      <p:sp>
        <p:nvSpPr>
          <p:cNvPr id="12" name="a5_20"/>
          <p:cNvSpPr txBox="1"/>
          <p:nvPr/>
        </p:nvSpPr>
        <p:spPr>
          <a:xfrm>
            <a:off x="5644683" y="1526545"/>
            <a:ext cx="4389120" cy="457200"/>
          </a:xfrm>
          <a:prstGeom prst="rect">
            <a:avLst/>
          </a:prstGeom>
          <a:noFill/>
          <a:ln/>
        </p:spPr>
        <p:txBody>
          <a:bodyPr wrap="square" lIns="0" tIns="0" rIns="0" bIns="0" rtlCol="0" anchor="ctr"/>
          <a:lstStyle/>
          <a:p>
            <a:pPr algn="r" indent="0" marL="0">
              <a:buNone/>
            </a:pPr>
            <a:r>
              <a:rPr lang="en-US" sz="1500" b="1" dirty="0">
                <a:solidFill>
                  <a:srgbClr val="C62828"/>
                </a:solidFill>
              </a:rPr>
              <a:t>Une panne ou une fuite de données peut tout arrêter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9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6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13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41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8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8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Notre réponse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Un parc informatique géré, sécurisé et administrable à distance.</a:t>
            </a:r>
            <a:endParaRPr lang="en-US" sz="4000" dirty="0"/>
          </a:p>
        </p:txBody>
      </p:sp>
      <p:sp>
        <p:nvSpPr>
          <p:cNvPr id="4" name="a1_21"/>
          <p:cNvSpPr txBox="1"/>
          <p:nvPr/>
        </p:nvSpPr>
        <p:spPr>
          <a:xfrm>
            <a:off x="731520" y="4572000"/>
            <a:ext cx="6766560" cy="548640"/>
          </a:xfrm>
          <a:prstGeom prst="rect">
            <a:avLst/>
          </a:prstGeom>
          <a:noFill/>
          <a:ln/>
        </p:spPr>
        <p:txBody>
          <a:bodyPr wrap="square" lIns="0" tIns="0" rIns="0" bIns="0" rtlCol="0" anchor="ctr"/>
          <a:lstStyle/>
          <a:p>
            <a:pPr indent="0" marL="0">
              <a:buNone/>
            </a:pPr>
            <a:r>
              <a:rPr lang="en-US" sz="2000" i="1" dirty="0">
                <a:solidFill>
                  <a:schemeClr val="accent4"/>
                </a:solidFill>
              </a:rPr>
              <a:t>Comme dans une grande entreprise — au budget d'une PME.</a:t>
            </a:r>
            <a:endParaRPr lang="en-US"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La solution</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Une infrastructure </a:t>
            </a:r>
            <a:pPr algn="l" indent="0" marL="0">
              <a:buNone/>
            </a:pPr>
            <a:r>
              <a:rPr lang="en-US" sz="3200" b="1" dirty="0">
                <a:solidFill>
                  <a:schemeClr val="accent1"/>
                </a:solidFill>
              </a:rPr>
              <a:t>en couches</a:t>
            </a:r>
            <a:pPr algn="l" indent="0" marL="0">
              <a:buNone/>
            </a:pPr>
            <a:r>
              <a:rPr lang="en-US" sz="3200" b="1" dirty="0">
                <a:solidFill>
                  <a:schemeClr val="tx1"/>
                </a:solidFill>
              </a:rPr>
              <a:t>, simple et solide</a:t>
            </a:r>
            <a:endParaRPr lang="en-US" sz="3200" dirty="0"/>
          </a:p>
        </p:txBody>
      </p:sp>
      <p:pic>
        <p:nvPicPr>
          <p:cNvPr id="4" name="a1_22" descr="preencoded.png">    </p:cNvPr>
          <p:cNvPicPr>
            <a:picLocks noChangeAspect="1"/>
          </p:cNvPicPr>
          <p:nvPr/>
        </p:nvPicPr>
        <p:blipFill>
          <a:blip r:embed="rId1"/>
          <a:stretch>
            <a:fillRect/>
          </a:stretch>
        </p:blipFill>
        <p:spPr>
          <a:xfrm>
            <a:off x="4733097" y="1325880"/>
            <a:ext cx="2725502" cy="5029200"/>
          </a:xfrm>
          <a:prstGeom prst="rect">
            <a:avLst/>
          </a:prstGeom>
        </p:spPr>
      </p:pic>
      <p:sp>
        <p:nvSpPr>
          <p:cNvPr id="5" name="a7_23"/>
          <p:cNvSpPr txBox="1"/>
          <p:nvPr/>
        </p:nvSpPr>
        <p:spPr>
          <a:xfrm>
            <a:off x="548640" y="5556897"/>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Serveur physique</a:t>
            </a:r>
            <a:endParaRPr lang="en-US" sz="1600" dirty="0"/>
          </a:p>
        </p:txBody>
      </p:sp>
      <p:sp>
        <p:nvSpPr>
          <p:cNvPr id="6" name="a7_24"/>
          <p:cNvSpPr/>
          <p:nvPr/>
        </p:nvSpPr>
        <p:spPr>
          <a:xfrm>
            <a:off x="2926080" y="5758065"/>
            <a:ext cx="2624667" cy="0"/>
          </a:xfrm>
          <a:prstGeom prst="line">
            <a:avLst/>
          </a:prstGeom>
          <a:noFill/>
          <a:ln w="15875">
            <a:solidFill>
              <a:schemeClr val="accent4"/>
            </a:solidFill>
            <a:prstDash val="dash"/>
          </a:ln>
        </p:spPr>
      </p:sp>
      <p:sp>
        <p:nvSpPr>
          <p:cNvPr id="7" name="a7_25"/>
          <p:cNvSpPr txBox="1"/>
          <p:nvPr/>
        </p:nvSpPr>
        <p:spPr>
          <a:xfrm>
            <a:off x="7641479" y="5529465"/>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Une machine dédiée, fiable, dans vos locaux</a:t>
            </a:r>
            <a:endParaRPr lang="en-US" sz="1400" dirty="0"/>
          </a:p>
        </p:txBody>
      </p:sp>
      <p:sp>
        <p:nvSpPr>
          <p:cNvPr id="8" name="a6_26"/>
          <p:cNvSpPr txBox="1"/>
          <p:nvPr/>
        </p:nvSpPr>
        <p:spPr>
          <a:xfrm>
            <a:off x="548640" y="4875522"/>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Proxmox VE</a:t>
            </a:r>
            <a:endParaRPr lang="en-US" sz="1600" dirty="0"/>
          </a:p>
        </p:txBody>
      </p:sp>
      <p:sp>
        <p:nvSpPr>
          <p:cNvPr id="9" name="a6_27"/>
          <p:cNvSpPr/>
          <p:nvPr/>
        </p:nvSpPr>
        <p:spPr>
          <a:xfrm>
            <a:off x="2926080" y="5076690"/>
            <a:ext cx="2624667" cy="0"/>
          </a:xfrm>
          <a:prstGeom prst="line">
            <a:avLst/>
          </a:prstGeom>
          <a:noFill/>
          <a:ln w="15875">
            <a:solidFill>
              <a:schemeClr val="accent4"/>
            </a:solidFill>
            <a:prstDash val="dash"/>
          </a:ln>
        </p:spPr>
      </p:sp>
      <p:sp>
        <p:nvSpPr>
          <p:cNvPr id="10" name="a6_28"/>
          <p:cNvSpPr txBox="1"/>
          <p:nvPr/>
        </p:nvSpPr>
        <p:spPr>
          <a:xfrm>
            <a:off x="7641479" y="4848090"/>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Virtualisation gratuite : le serveur peut évoluer</a:t>
            </a:r>
            <a:endParaRPr lang="en-US" sz="1400" dirty="0"/>
          </a:p>
        </p:txBody>
      </p:sp>
      <p:sp>
        <p:nvSpPr>
          <p:cNvPr id="11" name="a5_29"/>
          <p:cNvSpPr txBox="1"/>
          <p:nvPr/>
        </p:nvSpPr>
        <p:spPr>
          <a:xfrm>
            <a:off x="548640" y="4194146"/>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Windows Server</a:t>
            </a:r>
            <a:endParaRPr lang="en-US" sz="1600" dirty="0"/>
          </a:p>
        </p:txBody>
      </p:sp>
      <p:sp>
        <p:nvSpPr>
          <p:cNvPr id="12" name="a5_30"/>
          <p:cNvSpPr/>
          <p:nvPr/>
        </p:nvSpPr>
        <p:spPr>
          <a:xfrm>
            <a:off x="2926080" y="4395314"/>
            <a:ext cx="2624667" cy="0"/>
          </a:xfrm>
          <a:prstGeom prst="line">
            <a:avLst/>
          </a:prstGeom>
          <a:noFill/>
          <a:ln w="15875">
            <a:solidFill>
              <a:schemeClr val="accent4"/>
            </a:solidFill>
            <a:prstDash val="dash"/>
          </a:ln>
        </p:spPr>
      </p:sp>
      <p:sp>
        <p:nvSpPr>
          <p:cNvPr id="13" name="a5_31"/>
          <p:cNvSpPr txBox="1"/>
          <p:nvPr/>
        </p:nvSpPr>
        <p:spPr>
          <a:xfrm>
            <a:off x="7641479" y="4166714"/>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Le standard des entreprises pour gérer un réseau</a:t>
            </a:r>
            <a:endParaRPr lang="en-US" sz="1400" dirty="0"/>
          </a:p>
        </p:txBody>
      </p:sp>
      <p:sp>
        <p:nvSpPr>
          <p:cNvPr id="14" name="a4_32"/>
          <p:cNvSpPr txBox="1"/>
          <p:nvPr/>
        </p:nvSpPr>
        <p:spPr>
          <a:xfrm>
            <a:off x="548640" y="3512771"/>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AD · DNS · DHCP</a:t>
            </a:r>
            <a:endParaRPr lang="en-US" sz="1600" dirty="0"/>
          </a:p>
        </p:txBody>
      </p:sp>
      <p:sp>
        <p:nvSpPr>
          <p:cNvPr id="15" name="a4_33"/>
          <p:cNvSpPr/>
          <p:nvPr/>
        </p:nvSpPr>
        <p:spPr>
          <a:xfrm>
            <a:off x="2926080" y="3713939"/>
            <a:ext cx="2624667" cy="0"/>
          </a:xfrm>
          <a:prstGeom prst="line">
            <a:avLst/>
          </a:prstGeom>
          <a:noFill/>
          <a:ln w="15875">
            <a:solidFill>
              <a:schemeClr val="accent4"/>
            </a:solidFill>
            <a:prstDash val="dash"/>
          </a:ln>
        </p:spPr>
      </p:sp>
      <p:sp>
        <p:nvSpPr>
          <p:cNvPr id="16" name="a4_34"/>
          <p:cNvSpPr txBox="1"/>
          <p:nvPr/>
        </p:nvSpPr>
        <p:spPr>
          <a:xfrm>
            <a:off x="7641479" y="3485339"/>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Comptes, noms et adresses réseau centralisés</a:t>
            </a:r>
            <a:endParaRPr lang="en-US" sz="1400" dirty="0"/>
          </a:p>
        </p:txBody>
      </p:sp>
      <p:sp>
        <p:nvSpPr>
          <p:cNvPr id="17" name="a3_35"/>
          <p:cNvSpPr txBox="1"/>
          <p:nvPr/>
        </p:nvSpPr>
        <p:spPr>
          <a:xfrm>
            <a:off x="548640" y="2831395"/>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Stratégies GPO</a:t>
            </a:r>
            <a:endParaRPr lang="en-US" sz="1600" dirty="0"/>
          </a:p>
        </p:txBody>
      </p:sp>
      <p:sp>
        <p:nvSpPr>
          <p:cNvPr id="18" name="a3_36"/>
          <p:cNvSpPr/>
          <p:nvPr/>
        </p:nvSpPr>
        <p:spPr>
          <a:xfrm>
            <a:off x="2926080" y="3032563"/>
            <a:ext cx="2624667" cy="0"/>
          </a:xfrm>
          <a:prstGeom prst="line">
            <a:avLst/>
          </a:prstGeom>
          <a:noFill/>
          <a:ln w="15875">
            <a:solidFill>
              <a:schemeClr val="accent4"/>
            </a:solidFill>
            <a:prstDash val="dash"/>
          </a:ln>
        </p:spPr>
      </p:sp>
      <p:sp>
        <p:nvSpPr>
          <p:cNvPr id="19" name="a3_37"/>
          <p:cNvSpPr txBox="1"/>
          <p:nvPr/>
        </p:nvSpPr>
        <p:spPr>
          <a:xfrm>
            <a:off x="7641479" y="2803963"/>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Règles de sécurité appliquées automatiquement</a:t>
            </a:r>
            <a:endParaRPr lang="en-US" sz="1400" dirty="0"/>
          </a:p>
        </p:txBody>
      </p:sp>
      <p:sp>
        <p:nvSpPr>
          <p:cNvPr id="20" name="a2_38"/>
          <p:cNvSpPr txBox="1"/>
          <p:nvPr/>
        </p:nvSpPr>
        <p:spPr>
          <a:xfrm>
            <a:off x="548640" y="2150020"/>
            <a:ext cx="2377440" cy="402336"/>
          </a:xfrm>
          <a:prstGeom prst="rect">
            <a:avLst/>
          </a:prstGeom>
          <a:noFill/>
          <a:ln/>
        </p:spPr>
        <p:txBody>
          <a:bodyPr wrap="square" lIns="0" tIns="0" rIns="0" bIns="0" rtlCol="0" anchor="ctr"/>
          <a:lstStyle/>
          <a:p>
            <a:pPr indent="0" marL="0">
              <a:buNone/>
            </a:pPr>
            <a:r>
              <a:rPr lang="en-US" sz="1600" b="1" dirty="0">
                <a:solidFill>
                  <a:schemeClr val="accent1"/>
                </a:solidFill>
              </a:rPr>
              <a:t>15 postes</a:t>
            </a:r>
            <a:endParaRPr lang="en-US" sz="1600" dirty="0"/>
          </a:p>
        </p:txBody>
      </p:sp>
      <p:sp>
        <p:nvSpPr>
          <p:cNvPr id="21" name="a2_39"/>
          <p:cNvSpPr/>
          <p:nvPr/>
        </p:nvSpPr>
        <p:spPr>
          <a:xfrm>
            <a:off x="2926080" y="2351188"/>
            <a:ext cx="2624667" cy="0"/>
          </a:xfrm>
          <a:prstGeom prst="line">
            <a:avLst/>
          </a:prstGeom>
          <a:noFill/>
          <a:ln w="15875">
            <a:solidFill>
              <a:schemeClr val="accent4"/>
            </a:solidFill>
            <a:prstDash val="dash"/>
          </a:ln>
        </p:spPr>
      </p:sp>
      <p:sp>
        <p:nvSpPr>
          <p:cNvPr id="22" name="a2_40"/>
          <p:cNvSpPr txBox="1"/>
          <p:nvPr/>
        </p:nvSpPr>
        <p:spPr>
          <a:xfrm>
            <a:off x="7641479" y="2122588"/>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Chaque employé, son compte, son poste maîtrisé</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600"/>
                                  <p:tgtEl>
                                    <p:spTgt spid="20"/>
                                  </p:tgtEl>
                                </p:cBhvr>
                              </p:animEffect>
                              <p:anim calcmode="lin" valueType="num">
                                <p:cBhvr>
                                  <p:cTn id="11" dur="600" decel="100000" fill="hold"/>
                                  <p:tgtEl>
                                    <p:spTgt spid="20"/>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600"/>
                                  <p:tgtEl>
                                    <p:spTgt spid="21"/>
                                  </p:tgtEl>
                                </p:cBhvr>
                              </p:animEffect>
                              <p:anim calcmode="lin" valueType="num">
                                <p:cBhvr>
                                  <p:cTn id="15" dur="600" decel="100000" fill="hold"/>
                                  <p:tgtEl>
                                    <p:spTgt spid="21"/>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600"/>
                                  <p:tgtEl>
                                    <p:spTgt spid="22"/>
                                  </p:tgtEl>
                                </p:cBhvr>
                              </p:animEffect>
                              <p:anim calcmode="lin" valueType="num">
                                <p:cBhvr>
                                  <p:cTn id="19" dur="600" decel="100000" fill="hold"/>
                                  <p:tgtEl>
                                    <p:spTgt spid="22"/>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600"/>
                                  <p:tgtEl>
                                    <p:spTgt spid="17"/>
                                  </p:tgtEl>
                                </p:cBhvr>
                              </p:animEffect>
                              <p:anim calcmode="lin" valueType="num">
                                <p:cBhvr>
                                  <p:cTn id="23" dur="600" decel="100000" fill="hold"/>
                                  <p:tgtEl>
                                    <p:spTgt spid="17"/>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6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600"/>
                                  <p:tgtEl>
                                    <p:spTgt spid="18"/>
                                  </p:tgtEl>
                                </p:cBhvr>
                              </p:animEffect>
                              <p:anim calcmode="lin" valueType="num">
                                <p:cBhvr>
                                  <p:cTn id="27" dur="600" decel="100000" fill="hold"/>
                                  <p:tgtEl>
                                    <p:spTgt spid="18"/>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02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600"/>
                                  <p:tgtEl>
                                    <p:spTgt spid="19"/>
                                  </p:tgtEl>
                                </p:cBhvr>
                              </p:animEffect>
                              <p:anim calcmode="lin" valueType="num">
                                <p:cBhvr>
                                  <p:cTn id="31" dur="600" decel="100000" fill="hold"/>
                                  <p:tgtEl>
                                    <p:spTgt spid="19"/>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35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anim calcmode="lin" valueType="num">
                                <p:cBhvr>
                                  <p:cTn id="35" dur="600" decel="100000" fill="hold"/>
                                  <p:tgtEl>
                                    <p:spTgt spid="14"/>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41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600"/>
                                  <p:tgtEl>
                                    <p:spTgt spid="15"/>
                                  </p:tgtEl>
                                </p:cBhvr>
                              </p:animEffect>
                              <p:anim calcmode="lin" valueType="num">
                                <p:cBhvr>
                                  <p:cTn id="39" dur="600" decel="100000" fill="hold"/>
                                  <p:tgtEl>
                                    <p:spTgt spid="15"/>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47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600"/>
                                  <p:tgtEl>
                                    <p:spTgt spid="16"/>
                                  </p:tgtEl>
                                </p:cBhvr>
                              </p:animEffect>
                              <p:anim calcmode="lin" valueType="num">
                                <p:cBhvr>
                                  <p:cTn id="43" dur="600" decel="100000" fill="hold"/>
                                  <p:tgtEl>
                                    <p:spTgt spid="16"/>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8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p:cTn id="47" dur="600" decel="100000" fill="hold"/>
                                  <p:tgtEl>
                                    <p:spTgt spid="11"/>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86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600"/>
                                  <p:tgtEl>
                                    <p:spTgt spid="12"/>
                                  </p:tgtEl>
                                </p:cBhvr>
                              </p:animEffect>
                              <p:anim calcmode="lin" valueType="num">
                                <p:cBhvr>
                                  <p:cTn id="51" dur="600" decel="100000" fill="hold"/>
                                  <p:tgtEl>
                                    <p:spTgt spid="12"/>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92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anim calcmode="lin" valueType="num">
                                <p:cBhvr>
                                  <p:cTn id="55" dur="600" decel="100000" fill="hold"/>
                                  <p:tgtEl>
                                    <p:spTgt spid="13"/>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2250"/>
                            </p:stCondLst>
                            <p:childTnLst>
                              <p:set>
                                <p:cBhvr>
                                  <p:cTn id="57" dur="1" fill="hold">
                                    <p:stCondLst>
                                      <p:cond delay="0"/>
                                    </p:stCondLst>
                                  </p:cTn>
                                  <p:tgtEl>
                                    <p:spTgt spid="8"/>
                                  </p:tgtEl>
                                  <p:attrNameLst>
                                    <p:attrName>style.visibility</p:attrName>
                                  </p:attrNameLst>
                                </p:cBhvr>
                                <p:to>
                                  <p:strVal val="visible"/>
                                </p:to>
                              </p:set>
                              <p:animEffect transition="in" filter="fade">
                                <p:cBhvr>
                                  <p:cTn id="58" dur="600"/>
                                  <p:tgtEl>
                                    <p:spTgt spid="8"/>
                                  </p:tgtEl>
                                </p:cBhvr>
                              </p:animEffect>
                              <p:anim calcmode="lin" valueType="num">
                                <p:cBhvr>
                                  <p:cTn id="59" dur="600" decel="100000" fill="hold"/>
                                  <p:tgtEl>
                                    <p:spTgt spid="8"/>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2310"/>
                            </p:stCondLst>
                            <p:childTnLst>
                              <p:set>
                                <p:cBhvr>
                                  <p:cTn id="61" dur="1" fill="hold">
                                    <p:stCondLst>
                                      <p:cond delay="0"/>
                                    </p:stCondLst>
                                  </p:cTn>
                                  <p:tgtEl>
                                    <p:spTgt spid="9"/>
                                  </p:tgtEl>
                                  <p:attrNameLst>
                                    <p:attrName>style.visibility</p:attrName>
                                  </p:attrNameLst>
                                </p:cBhvr>
                                <p:to>
                                  <p:strVal val="visible"/>
                                </p:to>
                              </p:set>
                              <p:animEffect transition="in" filter="fade">
                                <p:cBhvr>
                                  <p:cTn id="62" dur="600"/>
                                  <p:tgtEl>
                                    <p:spTgt spid="9"/>
                                  </p:tgtEl>
                                </p:cBhvr>
                              </p:animEffect>
                              <p:anim calcmode="lin" valueType="num">
                                <p:cBhvr>
                                  <p:cTn id="63" dur="600" decel="100000" fill="hold"/>
                                  <p:tgtEl>
                                    <p:spTgt spid="9"/>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2370"/>
                            </p:stCondLst>
                            <p:childTnLst>
                              <p:set>
                                <p:cBhvr>
                                  <p:cTn id="65" dur="1" fill="hold">
                                    <p:stCondLst>
                                      <p:cond delay="0"/>
                                    </p:stCondLst>
                                  </p:cTn>
                                  <p:tgtEl>
                                    <p:spTgt spid="10"/>
                                  </p:tgtEl>
                                  <p:attrNameLst>
                                    <p:attrName>style.visibility</p:attrName>
                                  </p:attrNameLst>
                                </p:cBhvr>
                                <p:to>
                                  <p:strVal val="visible"/>
                                </p:to>
                              </p:set>
                              <p:animEffect transition="in" filter="fade">
                                <p:cBhvr>
                                  <p:cTn id="66" dur="600"/>
                                  <p:tgtEl>
                                    <p:spTgt spid="10"/>
                                  </p:tgtEl>
                                </p:cBhvr>
                              </p:animEffect>
                              <p:anim calcmode="lin" valueType="num">
                                <p:cBhvr>
                                  <p:cTn id="67" dur="600" decel="100000" fill="hold"/>
                                  <p:tgtEl>
                                    <p:spTgt spid="10"/>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270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600"/>
                                  <p:tgtEl>
                                    <p:spTgt spid="5"/>
                                  </p:tgtEl>
                                </p:cBhvr>
                              </p:animEffect>
                              <p:anim calcmode="lin" valueType="num">
                                <p:cBhvr>
                                  <p:cTn id="71" dur="600" decel="100000" fill="hold"/>
                                  <p:tgtEl>
                                    <p:spTgt spid="5"/>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276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600"/>
                                  <p:tgtEl>
                                    <p:spTgt spid="6"/>
                                  </p:tgtEl>
                                </p:cBhvr>
                              </p:animEffect>
                              <p:anim calcmode="lin" valueType="num">
                                <p:cBhvr>
                                  <p:cTn id="75" dur="600" decel="100000" fill="hold"/>
                                  <p:tgtEl>
                                    <p:spTgt spid="6"/>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2820"/>
                            </p:stCondLst>
                            <p:childTnLst>
                              <p:set>
                                <p:cBhvr>
                                  <p:cTn id="77" dur="1" fill="hold">
                                    <p:stCondLst>
                                      <p:cond delay="0"/>
                                    </p:stCondLst>
                                  </p:cTn>
                                  <p:tgtEl>
                                    <p:spTgt spid="7"/>
                                  </p:tgtEl>
                                  <p:attrNameLst>
                                    <p:attrName>style.visibility</p:attrName>
                                  </p:attrNameLst>
                                </p:cBhvr>
                                <p:to>
                                  <p:strVal val="visible"/>
                                </p:to>
                              </p:set>
                              <p:animEffect transition="in" filter="fade">
                                <p:cBhvr>
                                  <p:cTn id="78" dur="600"/>
                                  <p:tgtEl>
                                    <p:spTgt spid="7"/>
                                  </p:tgtEl>
                                </p:cBhvr>
                              </p:animEffect>
                              <p:anim calcmode="lin" valueType="num">
                                <p:cBhvr>
                                  <p:cTn id="79" dur="600" decel="100000" fill="hold"/>
                                  <p:tgtEl>
                                    <p:spTgt spid="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Ce qui change concrètement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Aujourd'hui vs </a:t>
            </a:r>
            <a:pPr algn="l" indent="0" marL="0">
              <a:buNone/>
            </a:pPr>
            <a:r>
              <a:rPr lang="en-US" sz="3200" b="1" dirty="0">
                <a:solidFill>
                  <a:schemeClr val="accent1"/>
                </a:solidFill>
              </a:rPr>
              <a:t>avec notre solution</a:t>
            </a:r>
            <a:endParaRPr lang="en-US" sz="3200" dirty="0"/>
          </a:p>
        </p:txBody>
      </p:sp>
      <p:sp>
        <p:nvSpPr>
          <p:cNvPr id="4" name="a1_41"/>
          <p:cNvSpPr/>
          <p:nvPr/>
        </p:nvSpPr>
        <p:spPr>
          <a:xfrm>
            <a:off x="3017520" y="1600200"/>
            <a:ext cx="4114800" cy="457200"/>
          </a:xfrm>
          <a:prstGeom prst="roundRect">
            <a:avLst>
              <a:gd name="adj" fmla="val 28000"/>
            </a:avLst>
          </a:prstGeom>
          <a:solidFill>
            <a:srgbClr val="E2E8F0"/>
          </a:solidFill>
          <a:ln w="12700">
            <a:solidFill>
              <a:srgbClr val="E2E8F0"/>
            </a:solidFill>
            <a:prstDash val="solid"/>
          </a:ln>
        </p:spPr>
      </p:sp>
      <p:sp>
        <p:nvSpPr>
          <p:cNvPr id="5" name="a1_42"/>
          <p:cNvSpPr txBox="1"/>
          <p:nvPr/>
        </p:nvSpPr>
        <p:spPr>
          <a:xfrm>
            <a:off x="3017520" y="1600200"/>
            <a:ext cx="4114800" cy="457200"/>
          </a:xfrm>
          <a:prstGeom prst="rect">
            <a:avLst/>
          </a:prstGeom>
          <a:noFill/>
          <a:ln/>
        </p:spPr>
        <p:txBody>
          <a:bodyPr wrap="square" lIns="0" tIns="0" rIns="0" bIns="0" rtlCol="0" anchor="ctr"/>
          <a:lstStyle/>
          <a:p>
            <a:pPr algn="ctr" indent="0" marL="0">
              <a:buNone/>
            </a:pPr>
            <a:r>
              <a:rPr lang="en-US" sz="1500" b="1" dirty="0">
                <a:solidFill>
                  <a:schemeClr val="accent6"/>
                </a:solidFill>
              </a:rPr>
              <a:t>Aujourd'hui</a:t>
            </a:r>
            <a:endParaRPr lang="en-US" sz="1500" dirty="0"/>
          </a:p>
        </p:txBody>
      </p:sp>
      <p:sp>
        <p:nvSpPr>
          <p:cNvPr id="6" name="a1_43"/>
          <p:cNvSpPr/>
          <p:nvPr/>
        </p:nvSpPr>
        <p:spPr>
          <a:xfrm>
            <a:off x="7315200" y="1600200"/>
            <a:ext cx="4297680" cy="457200"/>
          </a:xfrm>
          <a:prstGeom prst="roundRect">
            <a:avLst>
              <a:gd name="adj" fmla="val 28000"/>
            </a:avLst>
          </a:prstGeom>
          <a:solidFill>
            <a:schemeClr val="accent1"/>
          </a:solidFill>
          <a:ln w="12700">
            <a:solidFill>
              <a:schemeClr val="accent1"/>
            </a:solidFill>
            <a:prstDash val="solid"/>
          </a:ln>
        </p:spPr>
      </p:sp>
      <p:sp>
        <p:nvSpPr>
          <p:cNvPr id="7" name="a1_44"/>
          <p:cNvSpPr txBox="1"/>
          <p:nvPr/>
        </p:nvSpPr>
        <p:spPr>
          <a:xfrm>
            <a:off x="7315200" y="1600200"/>
            <a:ext cx="4297680" cy="457200"/>
          </a:xfrm>
          <a:prstGeom prst="rect">
            <a:avLst/>
          </a:prstGeom>
          <a:noFill/>
          <a:ln/>
        </p:spPr>
        <p:txBody>
          <a:bodyPr wrap="square" lIns="0" tIns="0" rIns="0" bIns="0" rtlCol="0" anchor="ctr"/>
          <a:lstStyle/>
          <a:p>
            <a:pPr algn="ctr" indent="0" marL="0">
              <a:buNone/>
            </a:pPr>
            <a:r>
              <a:rPr lang="en-US" sz="1500" b="1" dirty="0">
                <a:solidFill>
                  <a:schemeClr val="bg1"/>
                </a:solidFill>
              </a:rPr>
              <a:t>Avec notre solution</a:t>
            </a:r>
            <a:endParaRPr lang="en-US" sz="1500" dirty="0"/>
          </a:p>
        </p:txBody>
      </p:sp>
      <p:sp>
        <p:nvSpPr>
          <p:cNvPr id="8" name="a2_45"/>
          <p:cNvSpPr txBox="1"/>
          <p:nvPr/>
        </p:nvSpPr>
        <p:spPr>
          <a:xfrm>
            <a:off x="548640" y="224028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Comptes</a:t>
            </a:r>
            <a:endParaRPr lang="en-US" sz="1600" dirty="0"/>
          </a:p>
        </p:txBody>
      </p:sp>
      <p:sp>
        <p:nvSpPr>
          <p:cNvPr id="9" name="a2_46"/>
          <p:cNvSpPr/>
          <p:nvPr/>
        </p:nvSpPr>
        <p:spPr>
          <a:xfrm>
            <a:off x="3017520" y="2240280"/>
            <a:ext cx="4114800" cy="640080"/>
          </a:xfrm>
          <a:prstGeom prst="roundRect">
            <a:avLst>
              <a:gd name="adj" fmla="val 20000"/>
            </a:avLst>
          </a:prstGeom>
          <a:solidFill>
            <a:srgbClr val="F1F5F9"/>
          </a:solidFill>
          <a:ln w="12700">
            <a:solidFill>
              <a:srgbClr val="F1F5F9"/>
            </a:solidFill>
            <a:prstDash val="solid"/>
          </a:ln>
        </p:spPr>
      </p:sp>
      <p:pic>
        <p:nvPicPr>
          <p:cNvPr id="10" name="a2_47" descr="preencoded.png">    </p:cNvPr>
          <p:cNvPicPr>
            <a:picLocks noChangeAspect="1"/>
          </p:cNvPicPr>
          <p:nvPr/>
        </p:nvPicPr>
        <p:blipFill>
          <a:blip r:embed="rId1"/>
          <a:stretch>
            <a:fillRect/>
          </a:stretch>
        </p:blipFill>
        <p:spPr>
          <a:xfrm>
            <a:off x="3200400" y="2423160"/>
            <a:ext cx="274320" cy="274320"/>
          </a:xfrm>
          <a:prstGeom prst="rect">
            <a:avLst/>
          </a:prstGeom>
        </p:spPr>
      </p:pic>
      <p:sp>
        <p:nvSpPr>
          <p:cNvPr id="11" name="a2_48"/>
          <p:cNvSpPr txBox="1"/>
          <p:nvPr/>
        </p:nvSpPr>
        <p:spPr>
          <a:xfrm>
            <a:off x="3611880" y="224028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Mots de passe partagés ou notés sur un papier</a:t>
            </a:r>
            <a:endParaRPr lang="en-US" sz="1400" dirty="0"/>
          </a:p>
        </p:txBody>
      </p:sp>
      <p:sp>
        <p:nvSpPr>
          <p:cNvPr id="12" name="a2_49"/>
          <p:cNvSpPr/>
          <p:nvPr/>
        </p:nvSpPr>
        <p:spPr>
          <a:xfrm>
            <a:off x="7315200" y="224028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13" name="a2_50" descr="preencoded.png">    </p:cNvPr>
          <p:cNvPicPr>
            <a:picLocks noChangeAspect="1"/>
          </p:cNvPicPr>
          <p:nvPr/>
        </p:nvPicPr>
        <p:blipFill>
          <a:blip r:embed="rId2"/>
          <a:stretch>
            <a:fillRect/>
          </a:stretch>
        </p:blipFill>
        <p:spPr>
          <a:xfrm>
            <a:off x="7498080" y="2423160"/>
            <a:ext cx="274320" cy="274320"/>
          </a:xfrm>
          <a:prstGeom prst="rect">
            <a:avLst/>
          </a:prstGeom>
        </p:spPr>
      </p:pic>
      <p:sp>
        <p:nvSpPr>
          <p:cNvPr id="14" name="a2_51"/>
          <p:cNvSpPr txBox="1"/>
          <p:nvPr/>
        </p:nvSpPr>
        <p:spPr>
          <a:xfrm>
            <a:off x="7909560" y="224028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Un compte personnel et sécurisé par employé</a:t>
            </a:r>
            <a:endParaRPr lang="en-US" sz="1400" dirty="0"/>
          </a:p>
        </p:txBody>
      </p:sp>
      <p:sp>
        <p:nvSpPr>
          <p:cNvPr id="15" name="a3_52"/>
          <p:cNvSpPr txBox="1"/>
          <p:nvPr/>
        </p:nvSpPr>
        <p:spPr>
          <a:xfrm>
            <a:off x="548640" y="301752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Départ d'un employé</a:t>
            </a:r>
            <a:endParaRPr lang="en-US" sz="1600" dirty="0"/>
          </a:p>
        </p:txBody>
      </p:sp>
      <p:sp>
        <p:nvSpPr>
          <p:cNvPr id="16" name="a3_53"/>
          <p:cNvSpPr/>
          <p:nvPr/>
        </p:nvSpPr>
        <p:spPr>
          <a:xfrm>
            <a:off x="3017520" y="3017520"/>
            <a:ext cx="4114800" cy="640080"/>
          </a:xfrm>
          <a:prstGeom prst="roundRect">
            <a:avLst>
              <a:gd name="adj" fmla="val 20000"/>
            </a:avLst>
          </a:prstGeom>
          <a:solidFill>
            <a:srgbClr val="F1F5F9"/>
          </a:solidFill>
          <a:ln w="12700">
            <a:solidFill>
              <a:srgbClr val="F1F5F9"/>
            </a:solidFill>
            <a:prstDash val="solid"/>
          </a:ln>
        </p:spPr>
      </p:sp>
      <p:pic>
        <p:nvPicPr>
          <p:cNvPr id="17" name="a3_54" descr="preencoded.png">    </p:cNvPr>
          <p:cNvPicPr>
            <a:picLocks noChangeAspect="1"/>
          </p:cNvPicPr>
          <p:nvPr/>
        </p:nvPicPr>
        <p:blipFill>
          <a:blip r:embed="rId3"/>
          <a:stretch>
            <a:fillRect/>
          </a:stretch>
        </p:blipFill>
        <p:spPr>
          <a:xfrm>
            <a:off x="3200400" y="3200400"/>
            <a:ext cx="274320" cy="274320"/>
          </a:xfrm>
          <a:prstGeom prst="rect">
            <a:avLst/>
          </a:prstGeom>
        </p:spPr>
      </p:pic>
      <p:sp>
        <p:nvSpPr>
          <p:cNvPr id="18" name="a3_55"/>
          <p:cNvSpPr txBox="1"/>
          <p:nvPr/>
        </p:nvSpPr>
        <p:spPr>
          <a:xfrm>
            <a:off x="3611880" y="301752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Ses accès restent ouverts</a:t>
            </a:r>
            <a:endParaRPr lang="en-US" sz="1400" dirty="0"/>
          </a:p>
        </p:txBody>
      </p:sp>
      <p:sp>
        <p:nvSpPr>
          <p:cNvPr id="19" name="a3_56"/>
          <p:cNvSpPr/>
          <p:nvPr/>
        </p:nvSpPr>
        <p:spPr>
          <a:xfrm>
            <a:off x="7315200" y="301752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20" name="a3_57" descr="preencoded.png">    </p:cNvPr>
          <p:cNvPicPr>
            <a:picLocks noChangeAspect="1"/>
          </p:cNvPicPr>
          <p:nvPr/>
        </p:nvPicPr>
        <p:blipFill>
          <a:blip r:embed="rId4"/>
          <a:stretch>
            <a:fillRect/>
          </a:stretch>
        </p:blipFill>
        <p:spPr>
          <a:xfrm>
            <a:off x="7498080" y="3200400"/>
            <a:ext cx="274320" cy="274320"/>
          </a:xfrm>
          <a:prstGeom prst="rect">
            <a:avLst/>
          </a:prstGeom>
        </p:spPr>
      </p:pic>
      <p:sp>
        <p:nvSpPr>
          <p:cNvPr id="21" name="a3_58"/>
          <p:cNvSpPr txBox="1"/>
          <p:nvPr/>
        </p:nvSpPr>
        <p:spPr>
          <a:xfrm>
            <a:off x="7909560" y="301752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Compte désactivé en un clic</a:t>
            </a:r>
            <a:endParaRPr lang="en-US" sz="1400" dirty="0"/>
          </a:p>
        </p:txBody>
      </p:sp>
      <p:sp>
        <p:nvSpPr>
          <p:cNvPr id="22" name="a4_59"/>
          <p:cNvSpPr txBox="1"/>
          <p:nvPr/>
        </p:nvSpPr>
        <p:spPr>
          <a:xfrm>
            <a:off x="548640" y="379476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Logiciels</a:t>
            </a:r>
            <a:endParaRPr lang="en-US" sz="1600" dirty="0"/>
          </a:p>
        </p:txBody>
      </p:sp>
      <p:sp>
        <p:nvSpPr>
          <p:cNvPr id="23" name="a4_60"/>
          <p:cNvSpPr/>
          <p:nvPr/>
        </p:nvSpPr>
        <p:spPr>
          <a:xfrm>
            <a:off x="3017520" y="3794760"/>
            <a:ext cx="4114800" cy="640080"/>
          </a:xfrm>
          <a:prstGeom prst="roundRect">
            <a:avLst>
              <a:gd name="adj" fmla="val 20000"/>
            </a:avLst>
          </a:prstGeom>
          <a:solidFill>
            <a:srgbClr val="F1F5F9"/>
          </a:solidFill>
          <a:ln w="12700">
            <a:solidFill>
              <a:srgbClr val="F1F5F9"/>
            </a:solidFill>
            <a:prstDash val="solid"/>
          </a:ln>
        </p:spPr>
      </p:sp>
      <p:pic>
        <p:nvPicPr>
          <p:cNvPr id="24" name="a4_61" descr="preencoded.png">    </p:cNvPr>
          <p:cNvPicPr>
            <a:picLocks noChangeAspect="1"/>
          </p:cNvPicPr>
          <p:nvPr/>
        </p:nvPicPr>
        <p:blipFill>
          <a:blip r:embed="rId5"/>
          <a:stretch>
            <a:fillRect/>
          </a:stretch>
        </p:blipFill>
        <p:spPr>
          <a:xfrm>
            <a:off x="3200400" y="3977640"/>
            <a:ext cx="274320" cy="274320"/>
          </a:xfrm>
          <a:prstGeom prst="rect">
            <a:avLst/>
          </a:prstGeom>
        </p:spPr>
      </p:pic>
      <p:sp>
        <p:nvSpPr>
          <p:cNvPr id="25" name="a4_62"/>
          <p:cNvSpPr txBox="1"/>
          <p:nvPr/>
        </p:nvSpPr>
        <p:spPr>
          <a:xfrm>
            <a:off x="3611880" y="379476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Chacun installe ce qu'il veut</a:t>
            </a:r>
            <a:endParaRPr lang="en-US" sz="1400" dirty="0"/>
          </a:p>
        </p:txBody>
      </p:sp>
      <p:sp>
        <p:nvSpPr>
          <p:cNvPr id="26" name="a4_63"/>
          <p:cNvSpPr/>
          <p:nvPr/>
        </p:nvSpPr>
        <p:spPr>
          <a:xfrm>
            <a:off x="7315200" y="379476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27" name="a4_64" descr="preencoded.png">    </p:cNvPr>
          <p:cNvPicPr>
            <a:picLocks noChangeAspect="1"/>
          </p:cNvPicPr>
          <p:nvPr/>
        </p:nvPicPr>
        <p:blipFill>
          <a:blip r:embed="rId6"/>
          <a:stretch>
            <a:fillRect/>
          </a:stretch>
        </p:blipFill>
        <p:spPr>
          <a:xfrm>
            <a:off x="7498080" y="3977640"/>
            <a:ext cx="274320" cy="274320"/>
          </a:xfrm>
          <a:prstGeom prst="rect">
            <a:avLst/>
          </a:prstGeom>
        </p:spPr>
      </p:pic>
      <p:sp>
        <p:nvSpPr>
          <p:cNvPr id="28" name="a4_65"/>
          <p:cNvSpPr txBox="1"/>
          <p:nvPr/>
        </p:nvSpPr>
        <p:spPr>
          <a:xfrm>
            <a:off x="7909560" y="379476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Installations contrôlées par GPO</a:t>
            </a:r>
            <a:endParaRPr lang="en-US" sz="1400" dirty="0"/>
          </a:p>
        </p:txBody>
      </p:sp>
      <p:sp>
        <p:nvSpPr>
          <p:cNvPr id="29" name="a5_66"/>
          <p:cNvSpPr txBox="1"/>
          <p:nvPr/>
        </p:nvSpPr>
        <p:spPr>
          <a:xfrm>
            <a:off x="548640" y="457200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Mises à jour</a:t>
            </a:r>
            <a:endParaRPr lang="en-US" sz="1600" dirty="0"/>
          </a:p>
        </p:txBody>
      </p:sp>
      <p:sp>
        <p:nvSpPr>
          <p:cNvPr id="30" name="a5_67"/>
          <p:cNvSpPr/>
          <p:nvPr/>
        </p:nvSpPr>
        <p:spPr>
          <a:xfrm>
            <a:off x="3017520" y="4572000"/>
            <a:ext cx="4114800" cy="640080"/>
          </a:xfrm>
          <a:prstGeom prst="roundRect">
            <a:avLst>
              <a:gd name="adj" fmla="val 20000"/>
            </a:avLst>
          </a:prstGeom>
          <a:solidFill>
            <a:srgbClr val="F1F5F9"/>
          </a:solidFill>
          <a:ln w="12700">
            <a:solidFill>
              <a:srgbClr val="F1F5F9"/>
            </a:solidFill>
            <a:prstDash val="solid"/>
          </a:ln>
        </p:spPr>
      </p:sp>
      <p:pic>
        <p:nvPicPr>
          <p:cNvPr id="31" name="a5_68" descr="preencoded.png">    </p:cNvPr>
          <p:cNvPicPr>
            <a:picLocks noChangeAspect="1"/>
          </p:cNvPicPr>
          <p:nvPr/>
        </p:nvPicPr>
        <p:blipFill>
          <a:blip r:embed="rId7"/>
          <a:stretch>
            <a:fillRect/>
          </a:stretch>
        </p:blipFill>
        <p:spPr>
          <a:xfrm>
            <a:off x="3200400" y="4754880"/>
            <a:ext cx="274320" cy="274320"/>
          </a:xfrm>
          <a:prstGeom prst="rect">
            <a:avLst/>
          </a:prstGeom>
        </p:spPr>
      </p:pic>
      <p:sp>
        <p:nvSpPr>
          <p:cNvPr id="32" name="a5_69"/>
          <p:cNvSpPr txBox="1"/>
          <p:nvPr/>
        </p:nvSpPr>
        <p:spPr>
          <a:xfrm>
            <a:off x="3611880" y="457200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Faites… quand on y pense</a:t>
            </a:r>
            <a:endParaRPr lang="en-US" sz="1400" dirty="0"/>
          </a:p>
        </p:txBody>
      </p:sp>
      <p:sp>
        <p:nvSpPr>
          <p:cNvPr id="33" name="a5_70"/>
          <p:cNvSpPr/>
          <p:nvPr/>
        </p:nvSpPr>
        <p:spPr>
          <a:xfrm>
            <a:off x="7315200" y="457200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34" name="a5_71" descr="preencoded.png">    </p:cNvPr>
          <p:cNvPicPr>
            <a:picLocks noChangeAspect="1"/>
          </p:cNvPicPr>
          <p:nvPr/>
        </p:nvPicPr>
        <p:blipFill>
          <a:blip r:embed="rId8"/>
          <a:stretch>
            <a:fillRect/>
          </a:stretch>
        </p:blipFill>
        <p:spPr>
          <a:xfrm>
            <a:off x="7498080" y="4754880"/>
            <a:ext cx="274320" cy="274320"/>
          </a:xfrm>
          <a:prstGeom prst="rect">
            <a:avLst/>
          </a:prstGeom>
        </p:spPr>
      </p:pic>
      <p:sp>
        <p:nvSpPr>
          <p:cNvPr id="35" name="a5_72"/>
          <p:cNvSpPr txBox="1"/>
          <p:nvPr/>
        </p:nvSpPr>
        <p:spPr>
          <a:xfrm>
            <a:off x="7909560" y="457200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Appliquées automatiquement</a:t>
            </a:r>
            <a:endParaRPr lang="en-US" sz="1400" dirty="0"/>
          </a:p>
        </p:txBody>
      </p:sp>
      <p:sp>
        <p:nvSpPr>
          <p:cNvPr id="36" name="a6_73"/>
          <p:cNvSpPr txBox="1"/>
          <p:nvPr/>
        </p:nvSpPr>
        <p:spPr>
          <a:xfrm>
            <a:off x="548640" y="534924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Dépannage</a:t>
            </a:r>
            <a:endParaRPr lang="en-US" sz="1600" dirty="0"/>
          </a:p>
        </p:txBody>
      </p:sp>
      <p:sp>
        <p:nvSpPr>
          <p:cNvPr id="37" name="a6_74"/>
          <p:cNvSpPr/>
          <p:nvPr/>
        </p:nvSpPr>
        <p:spPr>
          <a:xfrm>
            <a:off x="3017520" y="5349240"/>
            <a:ext cx="4114800" cy="640080"/>
          </a:xfrm>
          <a:prstGeom prst="roundRect">
            <a:avLst>
              <a:gd name="adj" fmla="val 20000"/>
            </a:avLst>
          </a:prstGeom>
          <a:solidFill>
            <a:srgbClr val="F1F5F9"/>
          </a:solidFill>
          <a:ln w="12700">
            <a:solidFill>
              <a:srgbClr val="F1F5F9"/>
            </a:solidFill>
            <a:prstDash val="solid"/>
          </a:ln>
        </p:spPr>
      </p:sp>
      <p:pic>
        <p:nvPicPr>
          <p:cNvPr id="38" name="a6_75" descr="preencoded.png">    </p:cNvPr>
          <p:cNvPicPr>
            <a:picLocks noChangeAspect="1"/>
          </p:cNvPicPr>
          <p:nvPr/>
        </p:nvPicPr>
        <p:blipFill>
          <a:blip r:embed="rId9"/>
          <a:stretch>
            <a:fillRect/>
          </a:stretch>
        </p:blipFill>
        <p:spPr>
          <a:xfrm>
            <a:off x="3200400" y="5532120"/>
            <a:ext cx="274320" cy="274320"/>
          </a:xfrm>
          <a:prstGeom prst="rect">
            <a:avLst/>
          </a:prstGeom>
        </p:spPr>
      </p:pic>
      <p:sp>
        <p:nvSpPr>
          <p:cNvPr id="39" name="a6_76"/>
          <p:cNvSpPr txBox="1"/>
          <p:nvPr/>
        </p:nvSpPr>
        <p:spPr>
          <a:xfrm>
            <a:off x="3611880" y="534924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Déplacement sur site, attente</a:t>
            </a:r>
            <a:endParaRPr lang="en-US" sz="1400" dirty="0"/>
          </a:p>
        </p:txBody>
      </p:sp>
      <p:sp>
        <p:nvSpPr>
          <p:cNvPr id="40" name="a6_77"/>
          <p:cNvSpPr/>
          <p:nvPr/>
        </p:nvSpPr>
        <p:spPr>
          <a:xfrm>
            <a:off x="7315200" y="534924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41" name="a6_78" descr="preencoded.png">    </p:cNvPr>
          <p:cNvPicPr>
            <a:picLocks noChangeAspect="1"/>
          </p:cNvPicPr>
          <p:nvPr/>
        </p:nvPicPr>
        <p:blipFill>
          <a:blip r:embed="rId10"/>
          <a:stretch>
            <a:fillRect/>
          </a:stretch>
        </p:blipFill>
        <p:spPr>
          <a:xfrm>
            <a:off x="7498080" y="5532120"/>
            <a:ext cx="274320" cy="274320"/>
          </a:xfrm>
          <a:prstGeom prst="rect">
            <a:avLst/>
          </a:prstGeom>
        </p:spPr>
      </p:pic>
      <p:sp>
        <p:nvSpPr>
          <p:cNvPr id="42" name="a6_79"/>
          <p:cNvSpPr txBox="1"/>
          <p:nvPr/>
        </p:nvSpPr>
        <p:spPr>
          <a:xfrm>
            <a:off x="7909560" y="534924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Intervention immédiate à distance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69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75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81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90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96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02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08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14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20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26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41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47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53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5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65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7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18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86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92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98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04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1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1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25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31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37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43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49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55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par>
                          <p:cTn id="156" presetID="10" presetClass="entr" presetSubtype="0" fill="hold" nodeType="withEffect">
                            <p:stCondLst>
                              <p:cond delay="261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00"/>
                                  <p:tgtEl>
                                    <p:spTgt spid="42"/>
                                  </p:tgtEl>
                                </p:cBhvr>
                              </p:animEffect>
                              <p:anim calcmode="lin" valueType="num">
                                <p:cBhvr>
                                  <p:cTn id="159" dur="600" decel="100000" fill="hold"/>
                                  <p:tgtEl>
                                    <p:spTgt spid="4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Administration à distance</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 administrateur, </a:t>
            </a:r>
            <a:pPr algn="l" indent="0" marL="0">
              <a:buNone/>
            </a:pPr>
            <a:r>
              <a:rPr lang="en-US" sz="3200" b="1" dirty="0">
                <a:solidFill>
                  <a:schemeClr val="accent1"/>
                </a:solidFill>
              </a:rPr>
              <a:t>où qu'il soit</a:t>
            </a:r>
            <a:endParaRPr lang="en-US" sz="3200" dirty="0"/>
          </a:p>
        </p:txBody>
      </p:sp>
      <p:sp>
        <p:nvSpPr>
          <p:cNvPr id="4" name="a1_80"/>
          <p:cNvSpPr/>
          <p:nvPr/>
        </p:nvSpPr>
        <p:spPr>
          <a:xfrm>
            <a:off x="822960" y="2286000"/>
            <a:ext cx="1371600" cy="1371600"/>
          </a:xfrm>
          <a:prstGeom prst="ellipse">
            <a:avLst/>
          </a:prstGeom>
          <a:solidFill>
            <a:schemeClr val="accent1"/>
          </a:solidFill>
          <a:ln w="12700">
            <a:solidFill>
              <a:schemeClr val="accent1"/>
            </a:solidFill>
            <a:prstDash val="solid"/>
          </a:ln>
        </p:spPr>
      </p:sp>
      <p:pic>
        <p:nvPicPr>
          <p:cNvPr id="5" name="a1_81" descr="preencoded.png">    </p:cNvPr>
          <p:cNvPicPr>
            <a:picLocks noChangeAspect="1"/>
          </p:cNvPicPr>
          <p:nvPr/>
        </p:nvPicPr>
        <p:blipFill>
          <a:blip r:embed="rId1"/>
          <a:stretch>
            <a:fillRect/>
          </a:stretch>
        </p:blipFill>
        <p:spPr>
          <a:xfrm>
            <a:off x="1179576" y="2642616"/>
            <a:ext cx="658368" cy="658368"/>
          </a:xfrm>
          <a:prstGeom prst="rect">
            <a:avLst/>
          </a:prstGeom>
        </p:spPr>
      </p:pic>
      <p:sp>
        <p:nvSpPr>
          <p:cNvPr id="6" name="a1_82"/>
          <p:cNvSpPr txBox="1"/>
          <p:nvPr/>
        </p:nvSpPr>
        <p:spPr>
          <a:xfrm>
            <a:off x="365760" y="3794760"/>
            <a:ext cx="2286000" cy="365760"/>
          </a:xfrm>
          <a:prstGeom prst="rect">
            <a:avLst/>
          </a:prstGeom>
          <a:noFill/>
          <a:ln/>
        </p:spPr>
        <p:txBody>
          <a:bodyPr wrap="square" lIns="0" tIns="0" rIns="0" bIns="0" rtlCol="0" anchor="ctr"/>
          <a:lstStyle/>
          <a:p>
            <a:pPr algn="ctr" indent="0" marL="0">
              <a:buNone/>
            </a:pPr>
            <a:r>
              <a:rPr lang="en-US" sz="1600" b="1" dirty="0">
                <a:solidFill>
                  <a:schemeClr val="tx2"/>
                </a:solidFill>
              </a:rPr>
              <a:t>Administrateur</a:t>
            </a:r>
            <a:endParaRPr lang="en-US" sz="1600" dirty="0"/>
          </a:p>
        </p:txBody>
      </p:sp>
      <p:sp>
        <p:nvSpPr>
          <p:cNvPr id="7" name="a1_83"/>
          <p:cNvSpPr txBox="1"/>
          <p:nvPr/>
        </p:nvSpPr>
        <p:spPr>
          <a:xfrm>
            <a:off x="365760" y="4160520"/>
            <a:ext cx="2286000" cy="640080"/>
          </a:xfrm>
          <a:prstGeom prst="rect">
            <a:avLst/>
          </a:prstGeom>
          <a:noFill/>
          <a:ln/>
        </p:spPr>
        <p:txBody>
          <a:bodyPr wrap="square" lIns="0" tIns="0" rIns="0" bIns="0" rtlCol="0" anchor="ctr"/>
          <a:lstStyle/>
          <a:p>
            <a:pPr algn="ctr" indent="0" marL="0">
              <a:buNone/>
            </a:pPr>
            <a:r>
              <a:rPr lang="en-US" sz="1300" dirty="0">
                <a:solidFill>
                  <a:schemeClr val="accent6"/>
                </a:solidFill>
              </a:rPr>
              <a:t>Depuis le bureau, la maison ou en déplacement</a:t>
            </a:r>
            <a:endParaRPr lang="en-US" sz="1300" dirty="0"/>
          </a:p>
        </p:txBody>
      </p:sp>
      <p:sp>
        <p:nvSpPr>
          <p:cNvPr id="8" name="a2_84"/>
          <p:cNvSpPr/>
          <p:nvPr/>
        </p:nvSpPr>
        <p:spPr>
          <a:xfrm>
            <a:off x="2377440" y="2971800"/>
            <a:ext cx="2377440" cy="0"/>
          </a:xfrm>
          <a:prstGeom prst="line">
            <a:avLst/>
          </a:prstGeom>
          <a:noFill/>
          <a:ln w="38100">
            <a:solidFill>
              <a:schemeClr val="accent2"/>
            </a:solidFill>
            <a:prstDash val="dash"/>
          </a:ln>
        </p:spPr>
      </p:sp>
      <p:sp>
        <p:nvSpPr>
          <p:cNvPr id="9" name="a2_85"/>
          <p:cNvSpPr/>
          <p:nvPr/>
        </p:nvSpPr>
        <p:spPr>
          <a:xfrm>
            <a:off x="3246120" y="2651760"/>
            <a:ext cx="640080" cy="640080"/>
          </a:xfrm>
          <a:prstGeom prst="ellipse">
            <a:avLst/>
          </a:prstGeom>
          <a:solidFill>
            <a:schemeClr val="accent2"/>
          </a:solidFill>
          <a:ln w="12700">
            <a:solidFill>
              <a:schemeClr val="accent2"/>
            </a:solidFill>
            <a:prstDash val="solid"/>
          </a:ln>
        </p:spPr>
      </p:sp>
      <p:pic>
        <p:nvPicPr>
          <p:cNvPr id="10" name="a2_86" descr="preencoded.png">    </p:cNvPr>
          <p:cNvPicPr>
            <a:picLocks noChangeAspect="1"/>
          </p:cNvPicPr>
          <p:nvPr/>
        </p:nvPicPr>
        <p:blipFill>
          <a:blip r:embed="rId2"/>
          <a:stretch>
            <a:fillRect/>
          </a:stretch>
        </p:blipFill>
        <p:spPr>
          <a:xfrm>
            <a:off x="3412541" y="2818181"/>
            <a:ext cx="307238" cy="307238"/>
          </a:xfrm>
          <a:prstGeom prst="rect">
            <a:avLst/>
          </a:prstGeom>
        </p:spPr>
      </p:pic>
      <p:sp>
        <p:nvSpPr>
          <p:cNvPr id="11" name="a2_87"/>
          <p:cNvSpPr txBox="1"/>
          <p:nvPr/>
        </p:nvSpPr>
        <p:spPr>
          <a:xfrm>
            <a:off x="2377440" y="3429000"/>
            <a:ext cx="2377440" cy="365760"/>
          </a:xfrm>
          <a:prstGeom prst="rect">
            <a:avLst/>
          </a:prstGeom>
          <a:noFill/>
          <a:ln/>
        </p:spPr>
        <p:txBody>
          <a:bodyPr wrap="square" lIns="0" tIns="0" rIns="0" bIns="0" rtlCol="0" anchor="ctr"/>
          <a:lstStyle/>
          <a:p>
            <a:pPr algn="ctr" indent="0" marL="0">
              <a:buNone/>
            </a:pPr>
            <a:r>
              <a:rPr lang="en-US" sz="1300" b="1" dirty="0">
                <a:solidFill>
                  <a:schemeClr val="accent2"/>
                </a:solidFill>
              </a:rPr>
              <a:t>Tunnel chiffré Tailscale</a:t>
            </a:r>
            <a:endParaRPr lang="en-US" sz="1300" dirty="0"/>
          </a:p>
        </p:txBody>
      </p:sp>
      <p:pic>
        <p:nvPicPr>
          <p:cNvPr id="12" name="a3_88" descr="preencoded.png">    </p:cNvPr>
          <p:cNvPicPr>
            <a:picLocks noChangeAspect="1"/>
          </p:cNvPicPr>
          <p:nvPr/>
        </p:nvPicPr>
        <p:blipFill>
          <a:blip r:embed="rId3"/>
          <a:stretch>
            <a:fillRect/>
          </a:stretch>
        </p:blipFill>
        <p:spPr>
          <a:xfrm>
            <a:off x="4663440" y="1600200"/>
            <a:ext cx="2651760" cy="2651760"/>
          </a:xfrm>
          <a:prstGeom prst="rect">
            <a:avLst/>
          </a:prstGeom>
        </p:spPr>
      </p:pic>
      <p:sp>
        <p:nvSpPr>
          <p:cNvPr id="13" name="a3_89"/>
          <p:cNvSpPr txBox="1"/>
          <p:nvPr/>
        </p:nvSpPr>
        <p:spPr>
          <a:xfrm>
            <a:off x="4572000" y="4160520"/>
            <a:ext cx="2834640" cy="365760"/>
          </a:xfrm>
          <a:prstGeom prst="rect">
            <a:avLst/>
          </a:prstGeom>
          <a:noFill/>
          <a:ln/>
        </p:spPr>
        <p:txBody>
          <a:bodyPr wrap="square" lIns="0" tIns="0" rIns="0" bIns="0" rtlCol="0" anchor="ctr"/>
          <a:lstStyle/>
          <a:p>
            <a:pPr algn="ctr" indent="0" marL="0">
              <a:buNone/>
            </a:pPr>
            <a:r>
              <a:rPr lang="en-US" sz="1600" b="1" dirty="0">
                <a:solidFill>
                  <a:schemeClr val="tx2"/>
                </a:solidFill>
              </a:rPr>
              <a:t>Serveur de l'entreprise</a:t>
            </a:r>
            <a:endParaRPr lang="en-US" sz="1600" dirty="0"/>
          </a:p>
        </p:txBody>
      </p:sp>
      <p:sp>
        <p:nvSpPr>
          <p:cNvPr id="14" name="a4_90"/>
          <p:cNvSpPr/>
          <p:nvPr/>
        </p:nvSpPr>
        <p:spPr>
          <a:xfrm>
            <a:off x="7315200" y="2971800"/>
            <a:ext cx="822960" cy="0"/>
          </a:xfrm>
          <a:prstGeom prst="line">
            <a:avLst/>
          </a:prstGeom>
          <a:noFill/>
          <a:ln w="38100">
            <a:solidFill>
              <a:schemeClr val="accent1"/>
            </a:solidFill>
            <a:prstDash val="solid"/>
            <a:tailEnd type="triangle"/>
          </a:ln>
        </p:spPr>
      </p:sp>
      <p:sp>
        <p:nvSpPr>
          <p:cNvPr id="15" name="a4_91"/>
          <p:cNvSpPr/>
          <p:nvPr/>
        </p:nvSpPr>
        <p:spPr>
          <a:xfrm>
            <a:off x="8321040" y="1920240"/>
            <a:ext cx="548640" cy="548640"/>
          </a:xfrm>
          <a:prstGeom prst="roundRect">
            <a:avLst>
              <a:gd name="adj" fmla="val 23333"/>
            </a:avLst>
          </a:prstGeom>
          <a:solidFill>
            <a:schemeClr val="bg2"/>
          </a:solidFill>
          <a:ln w="12700">
            <a:solidFill>
              <a:schemeClr val="bg2"/>
            </a:solidFill>
            <a:prstDash val="solid"/>
          </a:ln>
        </p:spPr>
      </p:sp>
      <p:pic>
        <p:nvPicPr>
          <p:cNvPr id="16" name="a4_92" descr="preencoded.png">    </p:cNvPr>
          <p:cNvPicPr>
            <a:picLocks noChangeAspect="1"/>
          </p:cNvPicPr>
          <p:nvPr/>
        </p:nvPicPr>
        <p:blipFill>
          <a:blip r:embed="rId4"/>
          <a:stretch>
            <a:fillRect/>
          </a:stretch>
        </p:blipFill>
        <p:spPr>
          <a:xfrm>
            <a:off x="8458200" y="2057400"/>
            <a:ext cx="274320" cy="274320"/>
          </a:xfrm>
          <a:prstGeom prst="rect">
            <a:avLst/>
          </a:prstGeom>
        </p:spPr>
      </p:pic>
      <p:sp>
        <p:nvSpPr>
          <p:cNvPr id="17" name="a4_93"/>
          <p:cNvSpPr/>
          <p:nvPr/>
        </p:nvSpPr>
        <p:spPr>
          <a:xfrm>
            <a:off x="8979408" y="1920240"/>
            <a:ext cx="548640" cy="548640"/>
          </a:xfrm>
          <a:prstGeom prst="roundRect">
            <a:avLst>
              <a:gd name="adj" fmla="val 23333"/>
            </a:avLst>
          </a:prstGeom>
          <a:solidFill>
            <a:schemeClr val="bg2"/>
          </a:solidFill>
          <a:ln w="12700">
            <a:solidFill>
              <a:schemeClr val="bg2"/>
            </a:solidFill>
            <a:prstDash val="solid"/>
          </a:ln>
        </p:spPr>
      </p:sp>
      <p:pic>
        <p:nvPicPr>
          <p:cNvPr id="18" name="a4_94" descr="preencoded.png">    </p:cNvPr>
          <p:cNvPicPr>
            <a:picLocks noChangeAspect="1"/>
          </p:cNvPicPr>
          <p:nvPr/>
        </p:nvPicPr>
        <p:blipFill>
          <a:blip r:embed="rId5"/>
          <a:stretch>
            <a:fillRect/>
          </a:stretch>
        </p:blipFill>
        <p:spPr>
          <a:xfrm>
            <a:off x="9116568" y="2057400"/>
            <a:ext cx="274320" cy="274320"/>
          </a:xfrm>
          <a:prstGeom prst="rect">
            <a:avLst/>
          </a:prstGeom>
        </p:spPr>
      </p:pic>
      <p:sp>
        <p:nvSpPr>
          <p:cNvPr id="19" name="a4_95"/>
          <p:cNvSpPr/>
          <p:nvPr/>
        </p:nvSpPr>
        <p:spPr>
          <a:xfrm>
            <a:off x="9637776" y="1920240"/>
            <a:ext cx="548640" cy="548640"/>
          </a:xfrm>
          <a:prstGeom prst="roundRect">
            <a:avLst>
              <a:gd name="adj" fmla="val 23333"/>
            </a:avLst>
          </a:prstGeom>
          <a:solidFill>
            <a:schemeClr val="bg2"/>
          </a:solidFill>
          <a:ln w="12700">
            <a:solidFill>
              <a:schemeClr val="bg2"/>
            </a:solidFill>
            <a:prstDash val="solid"/>
          </a:ln>
        </p:spPr>
      </p:sp>
      <p:pic>
        <p:nvPicPr>
          <p:cNvPr id="20" name="a4_96" descr="preencoded.png">    </p:cNvPr>
          <p:cNvPicPr>
            <a:picLocks noChangeAspect="1"/>
          </p:cNvPicPr>
          <p:nvPr/>
        </p:nvPicPr>
        <p:blipFill>
          <a:blip r:embed="rId6"/>
          <a:stretch>
            <a:fillRect/>
          </a:stretch>
        </p:blipFill>
        <p:spPr>
          <a:xfrm>
            <a:off x="9774936" y="2057400"/>
            <a:ext cx="274320" cy="274320"/>
          </a:xfrm>
          <a:prstGeom prst="rect">
            <a:avLst/>
          </a:prstGeom>
        </p:spPr>
      </p:pic>
      <p:sp>
        <p:nvSpPr>
          <p:cNvPr id="21" name="a4_97"/>
          <p:cNvSpPr/>
          <p:nvPr/>
        </p:nvSpPr>
        <p:spPr>
          <a:xfrm>
            <a:off x="10296144" y="1920240"/>
            <a:ext cx="548640" cy="548640"/>
          </a:xfrm>
          <a:prstGeom prst="roundRect">
            <a:avLst>
              <a:gd name="adj" fmla="val 23333"/>
            </a:avLst>
          </a:prstGeom>
          <a:solidFill>
            <a:schemeClr val="bg2"/>
          </a:solidFill>
          <a:ln w="12700">
            <a:solidFill>
              <a:schemeClr val="bg2"/>
            </a:solidFill>
            <a:prstDash val="solid"/>
          </a:ln>
        </p:spPr>
      </p:sp>
      <p:pic>
        <p:nvPicPr>
          <p:cNvPr id="22" name="a4_98" descr="preencoded.png">    </p:cNvPr>
          <p:cNvPicPr>
            <a:picLocks noChangeAspect="1"/>
          </p:cNvPicPr>
          <p:nvPr/>
        </p:nvPicPr>
        <p:blipFill>
          <a:blip r:embed="rId7"/>
          <a:stretch>
            <a:fillRect/>
          </a:stretch>
        </p:blipFill>
        <p:spPr>
          <a:xfrm>
            <a:off x="10433304" y="2057400"/>
            <a:ext cx="274320" cy="274320"/>
          </a:xfrm>
          <a:prstGeom prst="rect">
            <a:avLst/>
          </a:prstGeom>
        </p:spPr>
      </p:pic>
      <p:sp>
        <p:nvSpPr>
          <p:cNvPr id="23" name="a4_99"/>
          <p:cNvSpPr/>
          <p:nvPr/>
        </p:nvSpPr>
        <p:spPr>
          <a:xfrm>
            <a:off x="10954512" y="1920240"/>
            <a:ext cx="548640" cy="548640"/>
          </a:xfrm>
          <a:prstGeom prst="roundRect">
            <a:avLst>
              <a:gd name="adj" fmla="val 23333"/>
            </a:avLst>
          </a:prstGeom>
          <a:solidFill>
            <a:schemeClr val="bg2"/>
          </a:solidFill>
          <a:ln w="12700">
            <a:solidFill>
              <a:schemeClr val="bg2"/>
            </a:solidFill>
            <a:prstDash val="solid"/>
          </a:ln>
        </p:spPr>
      </p:sp>
      <p:pic>
        <p:nvPicPr>
          <p:cNvPr id="24" name="a4_100" descr="preencoded.png">    </p:cNvPr>
          <p:cNvPicPr>
            <a:picLocks noChangeAspect="1"/>
          </p:cNvPicPr>
          <p:nvPr/>
        </p:nvPicPr>
        <p:blipFill>
          <a:blip r:embed="rId8"/>
          <a:stretch>
            <a:fillRect/>
          </a:stretch>
        </p:blipFill>
        <p:spPr>
          <a:xfrm>
            <a:off x="11091672" y="2057400"/>
            <a:ext cx="274320" cy="274320"/>
          </a:xfrm>
          <a:prstGeom prst="rect">
            <a:avLst/>
          </a:prstGeom>
        </p:spPr>
      </p:pic>
      <p:sp>
        <p:nvSpPr>
          <p:cNvPr id="25" name="a4_101"/>
          <p:cNvSpPr/>
          <p:nvPr/>
        </p:nvSpPr>
        <p:spPr>
          <a:xfrm>
            <a:off x="8321040" y="2651760"/>
            <a:ext cx="548640" cy="548640"/>
          </a:xfrm>
          <a:prstGeom prst="roundRect">
            <a:avLst>
              <a:gd name="adj" fmla="val 23333"/>
            </a:avLst>
          </a:prstGeom>
          <a:solidFill>
            <a:schemeClr val="bg2"/>
          </a:solidFill>
          <a:ln w="12700">
            <a:solidFill>
              <a:schemeClr val="bg2"/>
            </a:solidFill>
            <a:prstDash val="solid"/>
          </a:ln>
        </p:spPr>
      </p:sp>
      <p:pic>
        <p:nvPicPr>
          <p:cNvPr id="26" name="a4_102" descr="preencoded.png">    </p:cNvPr>
          <p:cNvPicPr>
            <a:picLocks noChangeAspect="1"/>
          </p:cNvPicPr>
          <p:nvPr/>
        </p:nvPicPr>
        <p:blipFill>
          <a:blip r:embed="rId9"/>
          <a:stretch>
            <a:fillRect/>
          </a:stretch>
        </p:blipFill>
        <p:spPr>
          <a:xfrm>
            <a:off x="8458200" y="2788920"/>
            <a:ext cx="274320" cy="274320"/>
          </a:xfrm>
          <a:prstGeom prst="rect">
            <a:avLst/>
          </a:prstGeom>
        </p:spPr>
      </p:pic>
      <p:sp>
        <p:nvSpPr>
          <p:cNvPr id="27" name="a4_103"/>
          <p:cNvSpPr/>
          <p:nvPr/>
        </p:nvSpPr>
        <p:spPr>
          <a:xfrm>
            <a:off x="8979408" y="2651760"/>
            <a:ext cx="548640" cy="548640"/>
          </a:xfrm>
          <a:prstGeom prst="roundRect">
            <a:avLst>
              <a:gd name="adj" fmla="val 23333"/>
            </a:avLst>
          </a:prstGeom>
          <a:solidFill>
            <a:schemeClr val="bg2"/>
          </a:solidFill>
          <a:ln w="12700">
            <a:solidFill>
              <a:schemeClr val="bg2"/>
            </a:solidFill>
            <a:prstDash val="solid"/>
          </a:ln>
        </p:spPr>
      </p:sp>
      <p:pic>
        <p:nvPicPr>
          <p:cNvPr id="28" name="a4_104" descr="preencoded.png">    </p:cNvPr>
          <p:cNvPicPr>
            <a:picLocks noChangeAspect="1"/>
          </p:cNvPicPr>
          <p:nvPr/>
        </p:nvPicPr>
        <p:blipFill>
          <a:blip r:embed="rId10"/>
          <a:stretch>
            <a:fillRect/>
          </a:stretch>
        </p:blipFill>
        <p:spPr>
          <a:xfrm>
            <a:off x="9116568" y="2788920"/>
            <a:ext cx="274320" cy="274320"/>
          </a:xfrm>
          <a:prstGeom prst="rect">
            <a:avLst/>
          </a:prstGeom>
        </p:spPr>
      </p:pic>
      <p:sp>
        <p:nvSpPr>
          <p:cNvPr id="29" name="a4_105"/>
          <p:cNvSpPr/>
          <p:nvPr/>
        </p:nvSpPr>
        <p:spPr>
          <a:xfrm>
            <a:off x="9637776" y="2651760"/>
            <a:ext cx="548640" cy="548640"/>
          </a:xfrm>
          <a:prstGeom prst="roundRect">
            <a:avLst>
              <a:gd name="adj" fmla="val 23333"/>
            </a:avLst>
          </a:prstGeom>
          <a:solidFill>
            <a:schemeClr val="bg2"/>
          </a:solidFill>
          <a:ln w="12700">
            <a:solidFill>
              <a:schemeClr val="bg2"/>
            </a:solidFill>
            <a:prstDash val="solid"/>
          </a:ln>
        </p:spPr>
      </p:sp>
      <p:pic>
        <p:nvPicPr>
          <p:cNvPr id="30" name="a4_106" descr="preencoded.png">    </p:cNvPr>
          <p:cNvPicPr>
            <a:picLocks noChangeAspect="1"/>
          </p:cNvPicPr>
          <p:nvPr/>
        </p:nvPicPr>
        <p:blipFill>
          <a:blip r:embed="rId11"/>
          <a:stretch>
            <a:fillRect/>
          </a:stretch>
        </p:blipFill>
        <p:spPr>
          <a:xfrm>
            <a:off x="9774936" y="2788920"/>
            <a:ext cx="274320" cy="274320"/>
          </a:xfrm>
          <a:prstGeom prst="rect">
            <a:avLst/>
          </a:prstGeom>
        </p:spPr>
      </p:pic>
      <p:sp>
        <p:nvSpPr>
          <p:cNvPr id="31" name="a4_107"/>
          <p:cNvSpPr/>
          <p:nvPr/>
        </p:nvSpPr>
        <p:spPr>
          <a:xfrm>
            <a:off x="10296144" y="2651760"/>
            <a:ext cx="548640" cy="548640"/>
          </a:xfrm>
          <a:prstGeom prst="roundRect">
            <a:avLst>
              <a:gd name="adj" fmla="val 23333"/>
            </a:avLst>
          </a:prstGeom>
          <a:solidFill>
            <a:schemeClr val="bg2"/>
          </a:solidFill>
          <a:ln w="12700">
            <a:solidFill>
              <a:schemeClr val="bg2"/>
            </a:solidFill>
            <a:prstDash val="solid"/>
          </a:ln>
        </p:spPr>
      </p:sp>
      <p:pic>
        <p:nvPicPr>
          <p:cNvPr id="32" name="a4_108" descr="preencoded.png">    </p:cNvPr>
          <p:cNvPicPr>
            <a:picLocks noChangeAspect="1"/>
          </p:cNvPicPr>
          <p:nvPr/>
        </p:nvPicPr>
        <p:blipFill>
          <a:blip r:embed="rId12"/>
          <a:stretch>
            <a:fillRect/>
          </a:stretch>
        </p:blipFill>
        <p:spPr>
          <a:xfrm>
            <a:off x="10433304" y="2788920"/>
            <a:ext cx="274320" cy="274320"/>
          </a:xfrm>
          <a:prstGeom prst="rect">
            <a:avLst/>
          </a:prstGeom>
        </p:spPr>
      </p:pic>
      <p:sp>
        <p:nvSpPr>
          <p:cNvPr id="33" name="a4_109"/>
          <p:cNvSpPr/>
          <p:nvPr/>
        </p:nvSpPr>
        <p:spPr>
          <a:xfrm>
            <a:off x="10954512" y="2651760"/>
            <a:ext cx="548640" cy="548640"/>
          </a:xfrm>
          <a:prstGeom prst="roundRect">
            <a:avLst>
              <a:gd name="adj" fmla="val 23333"/>
            </a:avLst>
          </a:prstGeom>
          <a:solidFill>
            <a:schemeClr val="bg2"/>
          </a:solidFill>
          <a:ln w="12700">
            <a:solidFill>
              <a:schemeClr val="bg2"/>
            </a:solidFill>
            <a:prstDash val="solid"/>
          </a:ln>
        </p:spPr>
      </p:sp>
      <p:pic>
        <p:nvPicPr>
          <p:cNvPr id="34" name="a4_110" descr="preencoded.png">    </p:cNvPr>
          <p:cNvPicPr>
            <a:picLocks noChangeAspect="1"/>
          </p:cNvPicPr>
          <p:nvPr/>
        </p:nvPicPr>
        <p:blipFill>
          <a:blip r:embed="rId13"/>
          <a:stretch>
            <a:fillRect/>
          </a:stretch>
        </p:blipFill>
        <p:spPr>
          <a:xfrm>
            <a:off x="11091672" y="2788920"/>
            <a:ext cx="274320" cy="274320"/>
          </a:xfrm>
          <a:prstGeom prst="rect">
            <a:avLst/>
          </a:prstGeom>
        </p:spPr>
      </p:pic>
      <p:sp>
        <p:nvSpPr>
          <p:cNvPr id="35" name="a4_111"/>
          <p:cNvSpPr/>
          <p:nvPr/>
        </p:nvSpPr>
        <p:spPr>
          <a:xfrm>
            <a:off x="8321040" y="3383280"/>
            <a:ext cx="548640" cy="548640"/>
          </a:xfrm>
          <a:prstGeom prst="roundRect">
            <a:avLst>
              <a:gd name="adj" fmla="val 23333"/>
            </a:avLst>
          </a:prstGeom>
          <a:solidFill>
            <a:schemeClr val="bg2"/>
          </a:solidFill>
          <a:ln w="12700">
            <a:solidFill>
              <a:schemeClr val="bg2"/>
            </a:solidFill>
            <a:prstDash val="solid"/>
          </a:ln>
        </p:spPr>
      </p:sp>
      <p:pic>
        <p:nvPicPr>
          <p:cNvPr id="36" name="a4_112" descr="preencoded.png">    </p:cNvPr>
          <p:cNvPicPr>
            <a:picLocks noChangeAspect="1"/>
          </p:cNvPicPr>
          <p:nvPr/>
        </p:nvPicPr>
        <p:blipFill>
          <a:blip r:embed="rId14"/>
          <a:stretch>
            <a:fillRect/>
          </a:stretch>
        </p:blipFill>
        <p:spPr>
          <a:xfrm>
            <a:off x="8458200" y="3520440"/>
            <a:ext cx="274320" cy="274320"/>
          </a:xfrm>
          <a:prstGeom prst="rect">
            <a:avLst/>
          </a:prstGeom>
        </p:spPr>
      </p:pic>
      <p:sp>
        <p:nvSpPr>
          <p:cNvPr id="37" name="a4_113"/>
          <p:cNvSpPr/>
          <p:nvPr/>
        </p:nvSpPr>
        <p:spPr>
          <a:xfrm>
            <a:off x="8979408" y="3383280"/>
            <a:ext cx="548640" cy="548640"/>
          </a:xfrm>
          <a:prstGeom prst="roundRect">
            <a:avLst>
              <a:gd name="adj" fmla="val 23333"/>
            </a:avLst>
          </a:prstGeom>
          <a:solidFill>
            <a:schemeClr val="bg2"/>
          </a:solidFill>
          <a:ln w="12700">
            <a:solidFill>
              <a:schemeClr val="bg2"/>
            </a:solidFill>
            <a:prstDash val="solid"/>
          </a:ln>
        </p:spPr>
      </p:sp>
      <p:pic>
        <p:nvPicPr>
          <p:cNvPr id="38" name="a4_114" descr="preencoded.png">    </p:cNvPr>
          <p:cNvPicPr>
            <a:picLocks noChangeAspect="1"/>
          </p:cNvPicPr>
          <p:nvPr/>
        </p:nvPicPr>
        <p:blipFill>
          <a:blip r:embed="rId15"/>
          <a:stretch>
            <a:fillRect/>
          </a:stretch>
        </p:blipFill>
        <p:spPr>
          <a:xfrm>
            <a:off x="9116568" y="3520440"/>
            <a:ext cx="274320" cy="274320"/>
          </a:xfrm>
          <a:prstGeom prst="rect">
            <a:avLst/>
          </a:prstGeom>
        </p:spPr>
      </p:pic>
      <p:sp>
        <p:nvSpPr>
          <p:cNvPr id="39" name="a4_115"/>
          <p:cNvSpPr/>
          <p:nvPr/>
        </p:nvSpPr>
        <p:spPr>
          <a:xfrm>
            <a:off x="9637776" y="3383280"/>
            <a:ext cx="548640" cy="548640"/>
          </a:xfrm>
          <a:prstGeom prst="roundRect">
            <a:avLst>
              <a:gd name="adj" fmla="val 23333"/>
            </a:avLst>
          </a:prstGeom>
          <a:solidFill>
            <a:schemeClr val="bg2"/>
          </a:solidFill>
          <a:ln w="12700">
            <a:solidFill>
              <a:schemeClr val="bg2"/>
            </a:solidFill>
            <a:prstDash val="solid"/>
          </a:ln>
        </p:spPr>
      </p:sp>
      <p:pic>
        <p:nvPicPr>
          <p:cNvPr id="40" name="a4_116" descr="preencoded.png">    </p:cNvPr>
          <p:cNvPicPr>
            <a:picLocks noChangeAspect="1"/>
          </p:cNvPicPr>
          <p:nvPr/>
        </p:nvPicPr>
        <p:blipFill>
          <a:blip r:embed="rId16"/>
          <a:stretch>
            <a:fillRect/>
          </a:stretch>
        </p:blipFill>
        <p:spPr>
          <a:xfrm>
            <a:off x="9774936" y="3520440"/>
            <a:ext cx="274320" cy="274320"/>
          </a:xfrm>
          <a:prstGeom prst="rect">
            <a:avLst/>
          </a:prstGeom>
        </p:spPr>
      </p:pic>
      <p:sp>
        <p:nvSpPr>
          <p:cNvPr id="41" name="a4_117"/>
          <p:cNvSpPr/>
          <p:nvPr/>
        </p:nvSpPr>
        <p:spPr>
          <a:xfrm>
            <a:off x="10296144" y="3383280"/>
            <a:ext cx="548640" cy="548640"/>
          </a:xfrm>
          <a:prstGeom prst="roundRect">
            <a:avLst>
              <a:gd name="adj" fmla="val 23333"/>
            </a:avLst>
          </a:prstGeom>
          <a:solidFill>
            <a:schemeClr val="bg2"/>
          </a:solidFill>
          <a:ln w="12700">
            <a:solidFill>
              <a:schemeClr val="bg2"/>
            </a:solidFill>
            <a:prstDash val="solid"/>
          </a:ln>
        </p:spPr>
      </p:sp>
      <p:pic>
        <p:nvPicPr>
          <p:cNvPr id="42" name="a4_118" descr="preencoded.png">    </p:cNvPr>
          <p:cNvPicPr>
            <a:picLocks noChangeAspect="1"/>
          </p:cNvPicPr>
          <p:nvPr/>
        </p:nvPicPr>
        <p:blipFill>
          <a:blip r:embed="rId17"/>
          <a:stretch>
            <a:fillRect/>
          </a:stretch>
        </p:blipFill>
        <p:spPr>
          <a:xfrm>
            <a:off x="10433304" y="3520440"/>
            <a:ext cx="274320" cy="274320"/>
          </a:xfrm>
          <a:prstGeom prst="rect">
            <a:avLst/>
          </a:prstGeom>
        </p:spPr>
      </p:pic>
      <p:sp>
        <p:nvSpPr>
          <p:cNvPr id="43" name="a4_119"/>
          <p:cNvSpPr/>
          <p:nvPr/>
        </p:nvSpPr>
        <p:spPr>
          <a:xfrm>
            <a:off x="10954512" y="3383280"/>
            <a:ext cx="548640" cy="548640"/>
          </a:xfrm>
          <a:prstGeom prst="roundRect">
            <a:avLst>
              <a:gd name="adj" fmla="val 23333"/>
            </a:avLst>
          </a:prstGeom>
          <a:solidFill>
            <a:schemeClr val="bg2"/>
          </a:solidFill>
          <a:ln w="12700">
            <a:solidFill>
              <a:schemeClr val="bg2"/>
            </a:solidFill>
            <a:prstDash val="solid"/>
          </a:ln>
        </p:spPr>
      </p:sp>
      <p:pic>
        <p:nvPicPr>
          <p:cNvPr id="44" name="a4_120" descr="preencoded.png">    </p:cNvPr>
          <p:cNvPicPr>
            <a:picLocks noChangeAspect="1"/>
          </p:cNvPicPr>
          <p:nvPr/>
        </p:nvPicPr>
        <p:blipFill>
          <a:blip r:embed="rId18"/>
          <a:stretch>
            <a:fillRect/>
          </a:stretch>
        </p:blipFill>
        <p:spPr>
          <a:xfrm>
            <a:off x="11091672" y="3520440"/>
            <a:ext cx="274320" cy="274320"/>
          </a:xfrm>
          <a:prstGeom prst="rect">
            <a:avLst/>
          </a:prstGeom>
        </p:spPr>
      </p:pic>
      <p:sp>
        <p:nvSpPr>
          <p:cNvPr id="45" name="a4_121"/>
          <p:cNvSpPr txBox="1"/>
          <p:nvPr/>
        </p:nvSpPr>
        <p:spPr>
          <a:xfrm>
            <a:off x="8321040" y="4160520"/>
            <a:ext cx="3200400" cy="365760"/>
          </a:xfrm>
          <a:prstGeom prst="rect">
            <a:avLst/>
          </a:prstGeom>
          <a:noFill/>
          <a:ln/>
        </p:spPr>
        <p:txBody>
          <a:bodyPr wrap="square" lIns="0" tIns="0" rIns="0" bIns="0" rtlCol="0" anchor="ctr"/>
          <a:lstStyle/>
          <a:p>
            <a:pPr algn="ctr" indent="0" marL="0">
              <a:buNone/>
            </a:pPr>
            <a:r>
              <a:rPr lang="en-US" sz="1600" b="1" dirty="0">
                <a:solidFill>
                  <a:schemeClr val="tx2"/>
                </a:solidFill>
              </a:rPr>
              <a:t>15 postes des employés</a:t>
            </a:r>
            <a:endParaRPr lang="en-US" sz="1600" dirty="0"/>
          </a:p>
        </p:txBody>
      </p:sp>
      <p:sp>
        <p:nvSpPr>
          <p:cNvPr id="46" name="a5_122"/>
          <p:cNvSpPr/>
          <p:nvPr/>
        </p:nvSpPr>
        <p:spPr>
          <a:xfrm>
            <a:off x="54864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47" name="a5_123"/>
          <p:cNvSpPr txBox="1"/>
          <p:nvPr/>
        </p:nvSpPr>
        <p:spPr>
          <a:xfrm>
            <a:off x="82296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0</a:t>
            </a:r>
            <a:endParaRPr lang="en-US" sz="2800" dirty="0"/>
          </a:p>
        </p:txBody>
      </p:sp>
      <p:sp>
        <p:nvSpPr>
          <p:cNvPr id="48" name="a5_124"/>
          <p:cNvSpPr txBox="1"/>
          <p:nvPr/>
        </p:nvSpPr>
        <p:spPr>
          <a:xfrm>
            <a:off x="82296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port ouvert sur Internet</a:t>
            </a:r>
            <a:endParaRPr lang="en-US" sz="1400" dirty="0"/>
          </a:p>
        </p:txBody>
      </p:sp>
      <p:sp>
        <p:nvSpPr>
          <p:cNvPr id="49" name="a5_125"/>
          <p:cNvSpPr/>
          <p:nvPr/>
        </p:nvSpPr>
        <p:spPr>
          <a:xfrm>
            <a:off x="429768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0" name="a5_126"/>
          <p:cNvSpPr txBox="1"/>
          <p:nvPr/>
        </p:nvSpPr>
        <p:spPr>
          <a:xfrm>
            <a:off x="457200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24h/24</a:t>
            </a:r>
            <a:endParaRPr lang="en-US" sz="2800" dirty="0"/>
          </a:p>
        </p:txBody>
      </p:sp>
      <p:sp>
        <p:nvSpPr>
          <p:cNvPr id="51" name="a5_127"/>
          <p:cNvSpPr txBox="1"/>
          <p:nvPr/>
        </p:nvSpPr>
        <p:spPr>
          <a:xfrm>
            <a:off x="457200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accès pour l'administrateur</a:t>
            </a:r>
            <a:endParaRPr lang="en-US" sz="1400" dirty="0"/>
          </a:p>
        </p:txBody>
      </p:sp>
      <p:sp>
        <p:nvSpPr>
          <p:cNvPr id="52" name="a5_128"/>
          <p:cNvSpPr/>
          <p:nvPr/>
        </p:nvSpPr>
        <p:spPr>
          <a:xfrm>
            <a:off x="804672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3" name="a5_129"/>
          <p:cNvSpPr txBox="1"/>
          <p:nvPr/>
        </p:nvSpPr>
        <p:spPr>
          <a:xfrm>
            <a:off x="832104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Minutes</a:t>
            </a:r>
            <a:endParaRPr lang="en-US" sz="2800" dirty="0"/>
          </a:p>
        </p:txBody>
      </p:sp>
      <p:sp>
        <p:nvSpPr>
          <p:cNvPr id="54" name="a5_130"/>
          <p:cNvSpPr txBox="1"/>
          <p:nvPr/>
        </p:nvSpPr>
        <p:spPr>
          <a:xfrm>
            <a:off x="832104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au lieu d'un déplacement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9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96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5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6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7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7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8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95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201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207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213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219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37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43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49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55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6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67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7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79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8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91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97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par>
                          <p:cTn id="156" presetID="10" presetClass="entr" presetSubtype="0" fill="hold" nodeType="withEffect">
                            <p:stCondLst>
                              <p:cond delay="303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00"/>
                                  <p:tgtEl>
                                    <p:spTgt spid="42"/>
                                  </p:tgtEl>
                                </p:cBhvr>
                              </p:animEffect>
                              <p:anim calcmode="lin" valueType="num">
                                <p:cBhvr>
                                  <p:cTn id="159" dur="600" decel="100000" fill="hold"/>
                                  <p:tgtEl>
                                    <p:spTgt spid="42"/>
                                  </p:tgtEl>
                                  <p:attrNameLst>
                                    <p:attrName>ppt_y</p:attrName>
                                  </p:attrNameLst>
                                </p:cBhvr>
                                <p:tavLst>
                                  <p:tav tm="0">
                                    <p:val>
                                      <p:strVal val="#ppt_y+0.03"/>
                                    </p:val>
                                  </p:tav>
                                  <p:tav tm="100000">
                                    <p:val>
                                      <p:strVal val="#ppt_y"/>
                                    </p:val>
                                  </p:tav>
                                </p:tavLst>
                              </p:anim>
                            </p:childTnLst>
                          </p:cTn>
                        </p:par>
                        <p:par>
                          <p:cTn id="160" presetID="10" presetClass="entr" presetSubtype="0" fill="hold" nodeType="withEffect">
                            <p:stCondLst>
                              <p:cond delay="3090"/>
                            </p:stCondLst>
                            <p:childTnLst>
                              <p:set>
                                <p:cBhvr>
                                  <p:cTn id="161" dur="1" fill="hold">
                                    <p:stCondLst>
                                      <p:cond delay="0"/>
                                    </p:stCondLst>
                                  </p:cTn>
                                  <p:tgtEl>
                                    <p:spTgt spid="43"/>
                                  </p:tgtEl>
                                  <p:attrNameLst>
                                    <p:attrName>style.visibility</p:attrName>
                                  </p:attrNameLst>
                                </p:cBhvr>
                                <p:to>
                                  <p:strVal val="visible"/>
                                </p:to>
                              </p:set>
                              <p:animEffect transition="in" filter="fade">
                                <p:cBhvr>
                                  <p:cTn id="162" dur="600"/>
                                  <p:tgtEl>
                                    <p:spTgt spid="43"/>
                                  </p:tgtEl>
                                </p:cBhvr>
                              </p:animEffect>
                              <p:anim calcmode="lin" valueType="num">
                                <p:cBhvr>
                                  <p:cTn id="163" dur="600" decel="100000" fill="hold"/>
                                  <p:tgtEl>
                                    <p:spTgt spid="43"/>
                                  </p:tgtEl>
                                  <p:attrNameLst>
                                    <p:attrName>ppt_y</p:attrName>
                                  </p:attrNameLst>
                                </p:cBhvr>
                                <p:tavLst>
                                  <p:tav tm="0">
                                    <p:val>
                                      <p:strVal val="#ppt_y+0.03"/>
                                    </p:val>
                                  </p:tav>
                                  <p:tav tm="100000">
                                    <p:val>
                                      <p:strVal val="#ppt_y"/>
                                    </p:val>
                                  </p:tav>
                                </p:tavLst>
                              </p:anim>
                            </p:childTnLst>
                          </p:cTn>
                        </p:par>
                        <p:par>
                          <p:cTn id="164" presetID="10" presetClass="entr" presetSubtype="0" fill="hold" nodeType="withEffect">
                            <p:stCondLst>
                              <p:cond delay="315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600"/>
                                  <p:tgtEl>
                                    <p:spTgt spid="44"/>
                                  </p:tgtEl>
                                </p:cBhvr>
                              </p:animEffect>
                              <p:anim calcmode="lin" valueType="num">
                                <p:cBhvr>
                                  <p:cTn id="167" dur="600" decel="100000" fill="hold"/>
                                  <p:tgtEl>
                                    <p:spTgt spid="44"/>
                                  </p:tgtEl>
                                  <p:attrNameLst>
                                    <p:attrName>ppt_y</p:attrName>
                                  </p:attrNameLst>
                                </p:cBhvr>
                                <p:tavLst>
                                  <p:tav tm="0">
                                    <p:val>
                                      <p:strVal val="#ppt_y+0.03"/>
                                    </p:val>
                                  </p:tav>
                                  <p:tav tm="100000">
                                    <p:val>
                                      <p:strVal val="#ppt_y"/>
                                    </p:val>
                                  </p:tav>
                                </p:tavLst>
                              </p:anim>
                            </p:childTnLst>
                          </p:cTn>
                        </p:par>
                        <p:par>
                          <p:cTn id="168" presetID="10" presetClass="entr" presetSubtype="0" fill="hold" nodeType="withEffect">
                            <p:stCondLst>
                              <p:cond delay="321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600"/>
                                  <p:tgtEl>
                                    <p:spTgt spid="45"/>
                                  </p:tgtEl>
                                </p:cBhvr>
                              </p:animEffect>
                              <p:anim calcmode="lin" valueType="num">
                                <p:cBhvr>
                                  <p:cTn id="171" dur="600" decel="1000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fill="hold" nodeType="withEffect">
                            <p:stCondLst>
                              <p:cond delay="180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anim calcmode="lin" valueType="num">
                                <p:cBhvr>
                                  <p:cTn id="175" dur="600" decel="100000" fill="hold"/>
                                  <p:tgtEl>
                                    <p:spTgt spid="46"/>
                                  </p:tgtEl>
                                  <p:attrNameLst>
                                    <p:attrName>ppt_y</p:attrName>
                                  </p:attrNameLst>
                                </p:cBhvr>
                                <p:tavLst>
                                  <p:tav tm="0">
                                    <p:val>
                                      <p:strVal val="#ppt_y+0.03"/>
                                    </p:val>
                                  </p:tav>
                                  <p:tav tm="100000">
                                    <p:val>
                                      <p:strVal val="#ppt_y"/>
                                    </p:val>
                                  </p:tav>
                                </p:tavLst>
                              </p:anim>
                            </p:childTnLst>
                          </p:cTn>
                        </p:par>
                        <p:par>
                          <p:cTn id="176" presetID="10" presetClass="entr" presetSubtype="0" fill="hold" nodeType="withEffect">
                            <p:stCondLst>
                              <p:cond delay="186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anim calcmode="lin" valueType="num">
                                <p:cBhvr>
                                  <p:cTn id="179" dur="600" decel="100000" fill="hold"/>
                                  <p:tgtEl>
                                    <p:spTgt spid="47"/>
                                  </p:tgtEl>
                                  <p:attrNameLst>
                                    <p:attrName>ppt_y</p:attrName>
                                  </p:attrNameLst>
                                </p:cBhvr>
                                <p:tavLst>
                                  <p:tav tm="0">
                                    <p:val>
                                      <p:strVal val="#ppt_y+0.03"/>
                                    </p:val>
                                  </p:tav>
                                  <p:tav tm="100000">
                                    <p:val>
                                      <p:strVal val="#ppt_y"/>
                                    </p:val>
                                  </p:tav>
                                </p:tavLst>
                              </p:anim>
                            </p:childTnLst>
                          </p:cTn>
                        </p:par>
                        <p:par>
                          <p:cTn id="180" presetID="10" presetClass="entr" presetSubtype="0" fill="hold" nodeType="withEffect">
                            <p:stCondLst>
                              <p:cond delay="1920"/>
                            </p:stCondLst>
                            <p:childTnLst>
                              <p:set>
                                <p:cBhvr>
                                  <p:cTn id="181" dur="1" fill="hold">
                                    <p:stCondLst>
                                      <p:cond delay="0"/>
                                    </p:stCondLst>
                                  </p:cTn>
                                  <p:tgtEl>
                                    <p:spTgt spid="48"/>
                                  </p:tgtEl>
                                  <p:attrNameLst>
                                    <p:attrName>style.visibility</p:attrName>
                                  </p:attrNameLst>
                                </p:cBhvr>
                                <p:to>
                                  <p:strVal val="visible"/>
                                </p:to>
                              </p:set>
                              <p:animEffect transition="in" filter="fade">
                                <p:cBhvr>
                                  <p:cTn id="182" dur="600"/>
                                  <p:tgtEl>
                                    <p:spTgt spid="48"/>
                                  </p:tgtEl>
                                </p:cBhvr>
                              </p:animEffect>
                              <p:anim calcmode="lin" valueType="num">
                                <p:cBhvr>
                                  <p:cTn id="183" dur="600" decel="100000" fill="hold"/>
                                  <p:tgtEl>
                                    <p:spTgt spid="48"/>
                                  </p:tgtEl>
                                  <p:attrNameLst>
                                    <p:attrName>ppt_y</p:attrName>
                                  </p:attrNameLst>
                                </p:cBhvr>
                                <p:tavLst>
                                  <p:tav tm="0">
                                    <p:val>
                                      <p:strVal val="#ppt_y+0.03"/>
                                    </p:val>
                                  </p:tav>
                                  <p:tav tm="100000">
                                    <p:val>
                                      <p:strVal val="#ppt_y"/>
                                    </p:val>
                                  </p:tav>
                                </p:tavLst>
                              </p:anim>
                            </p:childTnLst>
                          </p:cTn>
                        </p:par>
                        <p:par>
                          <p:cTn id="184" presetID="10" presetClass="entr" presetSubtype="0" fill="hold" nodeType="withEffect">
                            <p:stCondLst>
                              <p:cond delay="1980"/>
                            </p:stCondLst>
                            <p:childTnLst>
                              <p:set>
                                <p:cBhvr>
                                  <p:cTn id="185" dur="1" fill="hold">
                                    <p:stCondLst>
                                      <p:cond delay="0"/>
                                    </p:stCondLst>
                                  </p:cTn>
                                  <p:tgtEl>
                                    <p:spTgt spid="49"/>
                                  </p:tgtEl>
                                  <p:attrNameLst>
                                    <p:attrName>style.visibility</p:attrName>
                                  </p:attrNameLst>
                                </p:cBhvr>
                                <p:to>
                                  <p:strVal val="visible"/>
                                </p:to>
                              </p:set>
                              <p:animEffect transition="in" filter="fade">
                                <p:cBhvr>
                                  <p:cTn id="186" dur="600"/>
                                  <p:tgtEl>
                                    <p:spTgt spid="49"/>
                                  </p:tgtEl>
                                </p:cBhvr>
                              </p:animEffect>
                              <p:anim calcmode="lin" valueType="num">
                                <p:cBhvr>
                                  <p:cTn id="187" dur="600" decel="100000" fill="hold"/>
                                  <p:tgtEl>
                                    <p:spTgt spid="49"/>
                                  </p:tgtEl>
                                  <p:attrNameLst>
                                    <p:attrName>ppt_y</p:attrName>
                                  </p:attrNameLst>
                                </p:cBhvr>
                                <p:tavLst>
                                  <p:tav tm="0">
                                    <p:val>
                                      <p:strVal val="#ppt_y+0.03"/>
                                    </p:val>
                                  </p:tav>
                                  <p:tav tm="100000">
                                    <p:val>
                                      <p:strVal val="#ppt_y"/>
                                    </p:val>
                                  </p:tav>
                                </p:tavLst>
                              </p:anim>
                            </p:childTnLst>
                          </p:cTn>
                        </p:par>
                        <p:par>
                          <p:cTn id="188" presetID="10" presetClass="entr" presetSubtype="0" fill="hold" nodeType="withEffect">
                            <p:stCondLst>
                              <p:cond delay="2040"/>
                            </p:stCondLst>
                            <p:childTnLst>
                              <p:set>
                                <p:cBhvr>
                                  <p:cTn id="189" dur="1" fill="hold">
                                    <p:stCondLst>
                                      <p:cond delay="0"/>
                                    </p:stCondLst>
                                  </p:cTn>
                                  <p:tgtEl>
                                    <p:spTgt spid="50"/>
                                  </p:tgtEl>
                                  <p:attrNameLst>
                                    <p:attrName>style.visibility</p:attrName>
                                  </p:attrNameLst>
                                </p:cBhvr>
                                <p:to>
                                  <p:strVal val="visible"/>
                                </p:to>
                              </p:set>
                              <p:animEffect transition="in" filter="fade">
                                <p:cBhvr>
                                  <p:cTn id="190" dur="600"/>
                                  <p:tgtEl>
                                    <p:spTgt spid="50"/>
                                  </p:tgtEl>
                                </p:cBhvr>
                              </p:animEffect>
                              <p:anim calcmode="lin" valueType="num">
                                <p:cBhvr>
                                  <p:cTn id="191" dur="600" decel="100000" fill="hold"/>
                                  <p:tgtEl>
                                    <p:spTgt spid="50"/>
                                  </p:tgtEl>
                                  <p:attrNameLst>
                                    <p:attrName>ppt_y</p:attrName>
                                  </p:attrNameLst>
                                </p:cBhvr>
                                <p:tavLst>
                                  <p:tav tm="0">
                                    <p:val>
                                      <p:strVal val="#ppt_y+0.03"/>
                                    </p:val>
                                  </p:tav>
                                  <p:tav tm="100000">
                                    <p:val>
                                      <p:strVal val="#ppt_y"/>
                                    </p:val>
                                  </p:tav>
                                </p:tavLst>
                              </p:anim>
                            </p:childTnLst>
                          </p:cTn>
                        </p:par>
                        <p:par>
                          <p:cTn id="192" presetID="10" presetClass="entr" presetSubtype="0" fill="hold" nodeType="withEffect">
                            <p:stCondLst>
                              <p:cond delay="2100"/>
                            </p:stCondLst>
                            <p:childTnLst>
                              <p:set>
                                <p:cBhvr>
                                  <p:cTn id="193" dur="1" fill="hold">
                                    <p:stCondLst>
                                      <p:cond delay="0"/>
                                    </p:stCondLst>
                                  </p:cTn>
                                  <p:tgtEl>
                                    <p:spTgt spid="51"/>
                                  </p:tgtEl>
                                  <p:attrNameLst>
                                    <p:attrName>style.visibility</p:attrName>
                                  </p:attrNameLst>
                                </p:cBhvr>
                                <p:to>
                                  <p:strVal val="visible"/>
                                </p:to>
                              </p:set>
                              <p:animEffect transition="in" filter="fade">
                                <p:cBhvr>
                                  <p:cTn id="194" dur="600"/>
                                  <p:tgtEl>
                                    <p:spTgt spid="51"/>
                                  </p:tgtEl>
                                </p:cBhvr>
                              </p:animEffect>
                              <p:anim calcmode="lin" valueType="num">
                                <p:cBhvr>
                                  <p:cTn id="195" dur="600" decel="100000" fill="hold"/>
                                  <p:tgtEl>
                                    <p:spTgt spid="51"/>
                                  </p:tgtEl>
                                  <p:attrNameLst>
                                    <p:attrName>ppt_y</p:attrName>
                                  </p:attrNameLst>
                                </p:cBhvr>
                                <p:tavLst>
                                  <p:tav tm="0">
                                    <p:val>
                                      <p:strVal val="#ppt_y+0.03"/>
                                    </p:val>
                                  </p:tav>
                                  <p:tav tm="100000">
                                    <p:val>
                                      <p:strVal val="#ppt_y"/>
                                    </p:val>
                                  </p:tav>
                                </p:tavLst>
                              </p:anim>
                            </p:childTnLst>
                          </p:cTn>
                        </p:par>
                        <p:par>
                          <p:cTn id="196" presetID="10" presetClass="entr" presetSubtype="0" fill="hold" nodeType="withEffect">
                            <p:stCondLst>
                              <p:cond delay="2160"/>
                            </p:stCondLst>
                            <p:childTnLst>
                              <p:set>
                                <p:cBhvr>
                                  <p:cTn id="197" dur="1" fill="hold">
                                    <p:stCondLst>
                                      <p:cond delay="0"/>
                                    </p:stCondLst>
                                  </p:cTn>
                                  <p:tgtEl>
                                    <p:spTgt spid="52"/>
                                  </p:tgtEl>
                                  <p:attrNameLst>
                                    <p:attrName>style.visibility</p:attrName>
                                  </p:attrNameLst>
                                </p:cBhvr>
                                <p:to>
                                  <p:strVal val="visible"/>
                                </p:to>
                              </p:set>
                              <p:animEffect transition="in" filter="fade">
                                <p:cBhvr>
                                  <p:cTn id="198" dur="600"/>
                                  <p:tgtEl>
                                    <p:spTgt spid="52"/>
                                  </p:tgtEl>
                                </p:cBhvr>
                              </p:animEffect>
                              <p:anim calcmode="lin" valueType="num">
                                <p:cBhvr>
                                  <p:cTn id="199" dur="600" decel="100000" fill="hold"/>
                                  <p:tgtEl>
                                    <p:spTgt spid="52"/>
                                  </p:tgtEl>
                                  <p:attrNameLst>
                                    <p:attrName>ppt_y</p:attrName>
                                  </p:attrNameLst>
                                </p:cBhvr>
                                <p:tavLst>
                                  <p:tav tm="0">
                                    <p:val>
                                      <p:strVal val="#ppt_y+0.03"/>
                                    </p:val>
                                  </p:tav>
                                  <p:tav tm="100000">
                                    <p:val>
                                      <p:strVal val="#ppt_y"/>
                                    </p:val>
                                  </p:tav>
                                </p:tavLst>
                              </p:anim>
                            </p:childTnLst>
                          </p:cTn>
                        </p:par>
                        <p:par>
                          <p:cTn id="200" presetID="10" presetClass="entr" presetSubtype="0" fill="hold" nodeType="withEffect">
                            <p:stCondLst>
                              <p:cond delay="2220"/>
                            </p:stCondLst>
                            <p:childTnLst>
                              <p:set>
                                <p:cBhvr>
                                  <p:cTn id="201" dur="1" fill="hold">
                                    <p:stCondLst>
                                      <p:cond delay="0"/>
                                    </p:stCondLst>
                                  </p:cTn>
                                  <p:tgtEl>
                                    <p:spTgt spid="53"/>
                                  </p:tgtEl>
                                  <p:attrNameLst>
                                    <p:attrName>style.visibility</p:attrName>
                                  </p:attrNameLst>
                                </p:cBhvr>
                                <p:to>
                                  <p:strVal val="visible"/>
                                </p:to>
                              </p:set>
                              <p:animEffect transition="in" filter="fade">
                                <p:cBhvr>
                                  <p:cTn id="202" dur="600"/>
                                  <p:tgtEl>
                                    <p:spTgt spid="53"/>
                                  </p:tgtEl>
                                </p:cBhvr>
                              </p:animEffect>
                              <p:anim calcmode="lin" valueType="num">
                                <p:cBhvr>
                                  <p:cTn id="203" dur="600" decel="100000" fill="hold"/>
                                  <p:tgtEl>
                                    <p:spTgt spid="53"/>
                                  </p:tgtEl>
                                  <p:attrNameLst>
                                    <p:attrName>ppt_y</p:attrName>
                                  </p:attrNameLst>
                                </p:cBhvr>
                                <p:tavLst>
                                  <p:tav tm="0">
                                    <p:val>
                                      <p:strVal val="#ppt_y+0.03"/>
                                    </p:val>
                                  </p:tav>
                                  <p:tav tm="100000">
                                    <p:val>
                                      <p:strVal val="#ppt_y"/>
                                    </p:val>
                                  </p:tav>
                                </p:tavLst>
                              </p:anim>
                            </p:childTnLst>
                          </p:cTn>
                        </p:par>
                        <p:par>
                          <p:cTn id="204" presetID="10" presetClass="entr" presetSubtype="0" fill="hold" nodeType="withEffect">
                            <p:stCondLst>
                              <p:cond delay="2280"/>
                            </p:stCondLst>
                            <p:childTnLst>
                              <p:set>
                                <p:cBhvr>
                                  <p:cTn id="205" dur="1" fill="hold">
                                    <p:stCondLst>
                                      <p:cond delay="0"/>
                                    </p:stCondLst>
                                  </p:cTn>
                                  <p:tgtEl>
                                    <p:spTgt spid="54"/>
                                  </p:tgtEl>
                                  <p:attrNameLst>
                                    <p:attrName>style.visibility</p:attrName>
                                  </p:attrNameLst>
                                </p:cBhvr>
                                <p:to>
                                  <p:strVal val="visible"/>
                                </p:to>
                              </p:set>
                              <p:animEffect transition="in" filter="fade">
                                <p:cBhvr>
                                  <p:cTn id="206" dur="600"/>
                                  <p:tgtEl>
                                    <p:spTgt spid="54"/>
                                  </p:tgtEl>
                                </p:cBhvr>
                              </p:animEffect>
                              <p:anim calcmode="lin" valueType="num">
                                <p:cBhvr>
                                  <p:cTn id="207" dur="600" decel="100000" fill="hold"/>
                                  <p:tgtEl>
                                    <p:spTgt spid="5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Pourquoi ces choix</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Des technologies </a:t>
            </a:r>
            <a:pPr algn="l" indent="0" marL="0">
              <a:buNone/>
            </a:pPr>
            <a:r>
              <a:rPr lang="en-US" sz="3200" b="1" dirty="0">
                <a:solidFill>
                  <a:schemeClr val="accent1"/>
                </a:solidFill>
              </a:rPr>
              <a:t>éprouvées</a:t>
            </a:r>
            <a:pPr algn="l" indent="0" marL="0">
              <a:buNone/>
            </a:pPr>
            <a:r>
              <a:rPr lang="en-US" sz="3200" b="1" dirty="0">
                <a:solidFill>
                  <a:schemeClr val="tx1"/>
                </a:solidFill>
              </a:rPr>
              <a:t>, sans abonnement caché</a:t>
            </a:r>
            <a:endParaRPr lang="en-US" sz="3200" dirty="0"/>
          </a:p>
        </p:txBody>
      </p:sp>
      <p:sp>
        <p:nvSpPr>
          <p:cNvPr id="4" name="a1_131"/>
          <p:cNvSpPr/>
          <p:nvPr/>
        </p:nvSpPr>
        <p:spPr>
          <a:xfrm>
            <a:off x="822960" y="1645920"/>
            <a:ext cx="4389120" cy="4389120"/>
          </a:xfrm>
          <a:prstGeom prst="ellipse">
            <a:avLst/>
          </a:prstGeom>
          <a:solidFill>
            <a:schemeClr val="bg2"/>
          </a:solidFill>
          <a:ln w="12700">
            <a:solidFill>
              <a:schemeClr val="bg2"/>
            </a:solidFill>
            <a:prstDash val="solid"/>
          </a:ln>
        </p:spPr>
      </p:sp>
      <p:pic>
        <p:nvPicPr>
          <p:cNvPr id="5" name="a1_132" descr="preencoded.png">    </p:cNvPr>
          <p:cNvPicPr>
            <a:picLocks noChangeAspect="1"/>
          </p:cNvPicPr>
          <p:nvPr/>
        </p:nvPicPr>
        <p:blipFill>
          <a:blip r:embed="rId1"/>
          <a:stretch>
            <a:fillRect/>
          </a:stretch>
        </p:blipFill>
        <p:spPr>
          <a:xfrm>
            <a:off x="914400" y="1737360"/>
            <a:ext cx="4206240" cy="4206240"/>
          </a:xfrm>
          <a:prstGeom prst="rect">
            <a:avLst/>
          </a:prstGeom>
        </p:spPr>
      </p:pic>
      <p:sp>
        <p:nvSpPr>
          <p:cNvPr id="6" name="a2_133"/>
          <p:cNvSpPr/>
          <p:nvPr/>
        </p:nvSpPr>
        <p:spPr>
          <a:xfrm>
            <a:off x="5943600" y="1783080"/>
            <a:ext cx="548640" cy="548640"/>
          </a:xfrm>
          <a:prstGeom prst="ellipse">
            <a:avLst/>
          </a:prstGeom>
          <a:solidFill>
            <a:schemeClr val="accent1"/>
          </a:solidFill>
          <a:ln w="12700">
            <a:solidFill>
              <a:schemeClr val="accent1"/>
            </a:solidFill>
            <a:prstDash val="solid"/>
          </a:ln>
        </p:spPr>
      </p:sp>
      <p:pic>
        <p:nvPicPr>
          <p:cNvPr id="7" name="a2_134" descr="preencoded.png">    </p:cNvPr>
          <p:cNvPicPr>
            <a:picLocks noChangeAspect="1"/>
          </p:cNvPicPr>
          <p:nvPr/>
        </p:nvPicPr>
        <p:blipFill>
          <a:blip r:embed="rId2"/>
          <a:stretch>
            <a:fillRect/>
          </a:stretch>
        </p:blipFill>
        <p:spPr>
          <a:xfrm>
            <a:off x="6086246" y="1925726"/>
            <a:ext cx="263347" cy="263347"/>
          </a:xfrm>
          <a:prstGeom prst="rect">
            <a:avLst/>
          </a:prstGeom>
        </p:spPr>
      </p:pic>
      <p:sp>
        <p:nvSpPr>
          <p:cNvPr id="8" name="a2_135"/>
          <p:cNvSpPr txBox="1"/>
          <p:nvPr/>
        </p:nvSpPr>
        <p:spPr>
          <a:xfrm>
            <a:off x="6720840" y="173736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Évolutif</a:t>
            </a:r>
            <a:endParaRPr lang="en-US" sz="2000" dirty="0"/>
          </a:p>
        </p:txBody>
      </p:sp>
      <p:sp>
        <p:nvSpPr>
          <p:cNvPr id="9" name="a2_136"/>
          <p:cNvSpPr txBox="1"/>
          <p:nvPr/>
        </p:nvSpPr>
        <p:spPr>
          <a:xfrm>
            <a:off x="6720840" y="219456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Proxmox permet d'ajouter d'autres serveurs virtuels plus tard, sans racheter de matériel.</a:t>
            </a:r>
            <a:endParaRPr lang="en-US" sz="1500" dirty="0"/>
          </a:p>
        </p:txBody>
      </p:sp>
      <p:sp>
        <p:nvSpPr>
          <p:cNvPr id="10" name="a3_137"/>
          <p:cNvSpPr/>
          <p:nvPr/>
        </p:nvSpPr>
        <p:spPr>
          <a:xfrm>
            <a:off x="5943600" y="3246120"/>
            <a:ext cx="548640" cy="548640"/>
          </a:xfrm>
          <a:prstGeom prst="ellipse">
            <a:avLst/>
          </a:prstGeom>
          <a:solidFill>
            <a:schemeClr val="accent1"/>
          </a:solidFill>
          <a:ln w="12700">
            <a:solidFill>
              <a:schemeClr val="accent1"/>
            </a:solidFill>
            <a:prstDash val="solid"/>
          </a:ln>
        </p:spPr>
      </p:sp>
      <p:pic>
        <p:nvPicPr>
          <p:cNvPr id="11" name="a3_138" descr="preencoded.png">    </p:cNvPr>
          <p:cNvPicPr>
            <a:picLocks noChangeAspect="1"/>
          </p:cNvPicPr>
          <p:nvPr/>
        </p:nvPicPr>
        <p:blipFill>
          <a:blip r:embed="rId3"/>
          <a:stretch>
            <a:fillRect/>
          </a:stretch>
        </p:blipFill>
        <p:spPr>
          <a:xfrm>
            <a:off x="6086246" y="3388766"/>
            <a:ext cx="263347" cy="263347"/>
          </a:xfrm>
          <a:prstGeom prst="rect">
            <a:avLst/>
          </a:prstGeom>
        </p:spPr>
      </p:pic>
      <p:sp>
        <p:nvSpPr>
          <p:cNvPr id="12" name="a3_139"/>
          <p:cNvSpPr txBox="1"/>
          <p:nvPr/>
        </p:nvSpPr>
        <p:spPr>
          <a:xfrm>
            <a:off x="6720840" y="320040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Standard du marché</a:t>
            </a:r>
            <a:endParaRPr lang="en-US" sz="2000" dirty="0"/>
          </a:p>
        </p:txBody>
      </p:sp>
      <p:sp>
        <p:nvSpPr>
          <p:cNvPr id="13" name="a3_140"/>
          <p:cNvSpPr txBox="1"/>
          <p:nvPr/>
        </p:nvSpPr>
        <p:spPr>
          <a:xfrm>
            <a:off x="6720840" y="365760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Windows Server et Active Directory : la référence pour gérer les postes d'une entreprise.</a:t>
            </a:r>
            <a:endParaRPr lang="en-US" sz="1500" dirty="0"/>
          </a:p>
        </p:txBody>
      </p:sp>
      <p:sp>
        <p:nvSpPr>
          <p:cNvPr id="14" name="a4_141"/>
          <p:cNvSpPr/>
          <p:nvPr/>
        </p:nvSpPr>
        <p:spPr>
          <a:xfrm>
            <a:off x="5943600" y="4709160"/>
            <a:ext cx="548640" cy="548640"/>
          </a:xfrm>
          <a:prstGeom prst="ellipse">
            <a:avLst/>
          </a:prstGeom>
          <a:solidFill>
            <a:schemeClr val="accent1"/>
          </a:solidFill>
          <a:ln w="12700">
            <a:solidFill>
              <a:schemeClr val="accent1"/>
            </a:solidFill>
            <a:prstDash val="solid"/>
          </a:ln>
        </p:spPr>
      </p:sp>
      <p:pic>
        <p:nvPicPr>
          <p:cNvPr id="15" name="a4_142" descr="preencoded.png">    </p:cNvPr>
          <p:cNvPicPr>
            <a:picLocks noChangeAspect="1"/>
          </p:cNvPicPr>
          <p:nvPr/>
        </p:nvPicPr>
        <p:blipFill>
          <a:blip r:embed="rId4"/>
          <a:stretch>
            <a:fillRect/>
          </a:stretch>
        </p:blipFill>
        <p:spPr>
          <a:xfrm>
            <a:off x="6086246" y="4851806"/>
            <a:ext cx="263347" cy="263347"/>
          </a:xfrm>
          <a:prstGeom prst="rect">
            <a:avLst/>
          </a:prstGeom>
        </p:spPr>
      </p:pic>
      <p:sp>
        <p:nvSpPr>
          <p:cNvPr id="16" name="a4_143"/>
          <p:cNvSpPr txBox="1"/>
          <p:nvPr/>
        </p:nvSpPr>
        <p:spPr>
          <a:xfrm>
            <a:off x="6720840" y="466344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Économique</a:t>
            </a:r>
            <a:endParaRPr lang="en-US" sz="2000" dirty="0"/>
          </a:p>
        </p:txBody>
      </p:sp>
      <p:sp>
        <p:nvSpPr>
          <p:cNvPr id="17" name="a4_144"/>
          <p:cNvSpPr txBox="1"/>
          <p:nvPr/>
        </p:nvSpPr>
        <p:spPr>
          <a:xfrm>
            <a:off x="6720840" y="512064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Proxmox VE et Tailscale sont gratuits : aucun abonnement mensuel à prévoir.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4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1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5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6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6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2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8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Le déploiement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Nous nous occupons de </a:t>
            </a:r>
            <a:pPr algn="l" indent="0" marL="0">
              <a:buNone/>
            </a:pPr>
            <a:r>
              <a:rPr lang="en-US" sz="3200" b="1" dirty="0">
                <a:solidFill>
                  <a:schemeClr val="accent1"/>
                </a:solidFill>
              </a:rPr>
              <a:t>tout</a:t>
            </a:r>
            <a:endParaRPr lang="en-US" sz="3200" dirty="0"/>
          </a:p>
        </p:txBody>
      </p:sp>
      <p:sp>
        <p:nvSpPr>
          <p:cNvPr id="4" name="a1_145"/>
          <p:cNvSpPr/>
          <p:nvPr/>
        </p:nvSpPr>
        <p:spPr>
          <a:xfrm>
            <a:off x="1280160" y="2240280"/>
            <a:ext cx="9601200" cy="0"/>
          </a:xfrm>
          <a:prstGeom prst="line">
            <a:avLst/>
          </a:prstGeom>
          <a:noFill/>
          <a:ln w="25400">
            <a:solidFill>
              <a:schemeClr val="accent4"/>
            </a:solidFill>
            <a:prstDash val="dash"/>
          </a:ln>
        </p:spPr>
      </p:sp>
      <p:sp>
        <p:nvSpPr>
          <p:cNvPr id="5" name="a2_146"/>
          <p:cNvSpPr/>
          <p:nvPr/>
        </p:nvSpPr>
        <p:spPr>
          <a:xfrm>
            <a:off x="960120" y="1828800"/>
            <a:ext cx="822960" cy="822960"/>
          </a:xfrm>
          <a:prstGeom prst="ellipse">
            <a:avLst/>
          </a:prstGeom>
          <a:solidFill>
            <a:schemeClr val="accent1"/>
          </a:solidFill>
          <a:ln w="12700">
            <a:solidFill>
              <a:schemeClr val="accent1"/>
            </a:solidFill>
            <a:prstDash val="solid"/>
          </a:ln>
        </p:spPr>
      </p:sp>
      <p:pic>
        <p:nvPicPr>
          <p:cNvPr id="6" name="a2_147" descr="preencoded.png">    </p:cNvPr>
          <p:cNvPicPr>
            <a:picLocks noChangeAspect="1"/>
          </p:cNvPicPr>
          <p:nvPr/>
        </p:nvPicPr>
        <p:blipFill>
          <a:blip r:embed="rId1"/>
          <a:stretch>
            <a:fillRect/>
          </a:stretch>
        </p:blipFill>
        <p:spPr>
          <a:xfrm>
            <a:off x="1174090" y="2042770"/>
            <a:ext cx="395021" cy="395021"/>
          </a:xfrm>
          <a:prstGeom prst="rect">
            <a:avLst/>
          </a:prstGeom>
        </p:spPr>
      </p:pic>
      <p:sp>
        <p:nvSpPr>
          <p:cNvPr id="7" name="a2_148"/>
          <p:cNvSpPr/>
          <p:nvPr/>
        </p:nvSpPr>
        <p:spPr>
          <a:xfrm>
            <a:off x="54864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8" name="a2_149"/>
          <p:cNvSpPr txBox="1"/>
          <p:nvPr/>
        </p:nvSpPr>
        <p:spPr>
          <a:xfrm>
            <a:off x="73152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1</a:t>
            </a:r>
            <a:endParaRPr lang="en-US" sz="1200" dirty="0"/>
          </a:p>
        </p:txBody>
      </p:sp>
      <p:sp>
        <p:nvSpPr>
          <p:cNvPr id="9" name="a2_150"/>
          <p:cNvSpPr txBox="1"/>
          <p:nvPr/>
        </p:nvSpPr>
        <p:spPr>
          <a:xfrm>
            <a:off x="73152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Serveur</a:t>
            </a:r>
            <a:endParaRPr lang="en-US" sz="1700" dirty="0"/>
          </a:p>
        </p:txBody>
      </p:sp>
      <p:sp>
        <p:nvSpPr>
          <p:cNvPr id="10" name="a2_151"/>
          <p:cNvSpPr txBox="1"/>
          <p:nvPr/>
        </p:nvSpPr>
        <p:spPr>
          <a:xfrm>
            <a:off x="73152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Installation du serveur et de Proxmox VE</a:t>
            </a:r>
            <a:endParaRPr lang="en-US" sz="1400" dirty="0"/>
          </a:p>
        </p:txBody>
      </p:sp>
      <p:sp>
        <p:nvSpPr>
          <p:cNvPr id="11" name="a3_152"/>
          <p:cNvSpPr/>
          <p:nvPr/>
        </p:nvSpPr>
        <p:spPr>
          <a:xfrm>
            <a:off x="3200400" y="1828800"/>
            <a:ext cx="822960" cy="822960"/>
          </a:xfrm>
          <a:prstGeom prst="ellipse">
            <a:avLst/>
          </a:prstGeom>
          <a:solidFill>
            <a:schemeClr val="accent1"/>
          </a:solidFill>
          <a:ln w="12700">
            <a:solidFill>
              <a:schemeClr val="accent1"/>
            </a:solidFill>
            <a:prstDash val="solid"/>
          </a:ln>
        </p:spPr>
      </p:sp>
      <p:pic>
        <p:nvPicPr>
          <p:cNvPr id="12" name="a3_153" descr="preencoded.png">    </p:cNvPr>
          <p:cNvPicPr>
            <a:picLocks noChangeAspect="1"/>
          </p:cNvPicPr>
          <p:nvPr/>
        </p:nvPicPr>
        <p:blipFill>
          <a:blip r:embed="rId2"/>
          <a:stretch>
            <a:fillRect/>
          </a:stretch>
        </p:blipFill>
        <p:spPr>
          <a:xfrm>
            <a:off x="3414370" y="2042770"/>
            <a:ext cx="395021" cy="395021"/>
          </a:xfrm>
          <a:prstGeom prst="rect">
            <a:avLst/>
          </a:prstGeom>
        </p:spPr>
      </p:pic>
      <p:sp>
        <p:nvSpPr>
          <p:cNvPr id="13" name="a3_154"/>
          <p:cNvSpPr/>
          <p:nvPr/>
        </p:nvSpPr>
        <p:spPr>
          <a:xfrm>
            <a:off x="278892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4" name="a3_155"/>
          <p:cNvSpPr txBox="1"/>
          <p:nvPr/>
        </p:nvSpPr>
        <p:spPr>
          <a:xfrm>
            <a:off x="297180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2</a:t>
            </a:r>
            <a:endParaRPr lang="en-US" sz="1200" dirty="0"/>
          </a:p>
        </p:txBody>
      </p:sp>
      <p:sp>
        <p:nvSpPr>
          <p:cNvPr id="15" name="a3_156"/>
          <p:cNvSpPr txBox="1"/>
          <p:nvPr/>
        </p:nvSpPr>
        <p:spPr>
          <a:xfrm>
            <a:off x="297180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Windows Server</a:t>
            </a:r>
            <a:endParaRPr lang="en-US" sz="1700" dirty="0"/>
          </a:p>
        </p:txBody>
      </p:sp>
      <p:sp>
        <p:nvSpPr>
          <p:cNvPr id="16" name="a3_157"/>
          <p:cNvSpPr txBox="1"/>
          <p:nvPr/>
        </p:nvSpPr>
        <p:spPr>
          <a:xfrm>
            <a:off x="297180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Active Directory, DNS et DHCP</a:t>
            </a:r>
            <a:endParaRPr lang="en-US" sz="1400" dirty="0"/>
          </a:p>
        </p:txBody>
      </p:sp>
      <p:sp>
        <p:nvSpPr>
          <p:cNvPr id="17" name="a4_158"/>
          <p:cNvSpPr/>
          <p:nvPr/>
        </p:nvSpPr>
        <p:spPr>
          <a:xfrm>
            <a:off x="5440680" y="1828800"/>
            <a:ext cx="822960" cy="822960"/>
          </a:xfrm>
          <a:prstGeom prst="ellipse">
            <a:avLst/>
          </a:prstGeom>
          <a:solidFill>
            <a:schemeClr val="accent1"/>
          </a:solidFill>
          <a:ln w="12700">
            <a:solidFill>
              <a:schemeClr val="accent1"/>
            </a:solidFill>
            <a:prstDash val="solid"/>
          </a:ln>
        </p:spPr>
      </p:sp>
      <p:pic>
        <p:nvPicPr>
          <p:cNvPr id="18" name="a4_159" descr="preencoded.png">    </p:cNvPr>
          <p:cNvPicPr>
            <a:picLocks noChangeAspect="1"/>
          </p:cNvPicPr>
          <p:nvPr/>
        </p:nvPicPr>
        <p:blipFill>
          <a:blip r:embed="rId3"/>
          <a:stretch>
            <a:fillRect/>
          </a:stretch>
        </p:blipFill>
        <p:spPr>
          <a:xfrm>
            <a:off x="5654650" y="2042770"/>
            <a:ext cx="395021" cy="395021"/>
          </a:xfrm>
          <a:prstGeom prst="rect">
            <a:avLst/>
          </a:prstGeom>
        </p:spPr>
      </p:pic>
      <p:sp>
        <p:nvSpPr>
          <p:cNvPr id="19" name="a4_160"/>
          <p:cNvSpPr/>
          <p:nvPr/>
        </p:nvSpPr>
        <p:spPr>
          <a:xfrm>
            <a:off x="502920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0" name="a4_161"/>
          <p:cNvSpPr txBox="1"/>
          <p:nvPr/>
        </p:nvSpPr>
        <p:spPr>
          <a:xfrm>
            <a:off x="521208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3</a:t>
            </a:r>
            <a:endParaRPr lang="en-US" sz="1200" dirty="0"/>
          </a:p>
        </p:txBody>
      </p:sp>
      <p:sp>
        <p:nvSpPr>
          <p:cNvPr id="21" name="a4_162"/>
          <p:cNvSpPr txBox="1"/>
          <p:nvPr/>
        </p:nvSpPr>
        <p:spPr>
          <a:xfrm>
            <a:off x="521208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Sécurité</a:t>
            </a:r>
            <a:endParaRPr lang="en-US" sz="1700" dirty="0"/>
          </a:p>
        </p:txBody>
      </p:sp>
      <p:sp>
        <p:nvSpPr>
          <p:cNvPr id="22" name="a4_163"/>
          <p:cNvSpPr txBox="1"/>
          <p:nvPr/>
        </p:nvSpPr>
        <p:spPr>
          <a:xfrm>
            <a:off x="521208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GPO sur mesure : mots de passe, mises à jour, restrictions</a:t>
            </a:r>
            <a:endParaRPr lang="en-US" sz="1400" dirty="0"/>
          </a:p>
        </p:txBody>
      </p:sp>
      <p:sp>
        <p:nvSpPr>
          <p:cNvPr id="23" name="a5_164"/>
          <p:cNvSpPr/>
          <p:nvPr/>
        </p:nvSpPr>
        <p:spPr>
          <a:xfrm>
            <a:off x="7680960" y="1828800"/>
            <a:ext cx="822960" cy="822960"/>
          </a:xfrm>
          <a:prstGeom prst="ellipse">
            <a:avLst/>
          </a:prstGeom>
          <a:solidFill>
            <a:schemeClr val="accent1"/>
          </a:solidFill>
          <a:ln w="12700">
            <a:solidFill>
              <a:schemeClr val="accent1"/>
            </a:solidFill>
            <a:prstDash val="solid"/>
          </a:ln>
        </p:spPr>
      </p:sp>
      <p:pic>
        <p:nvPicPr>
          <p:cNvPr id="24" name="a5_165" descr="preencoded.png">    </p:cNvPr>
          <p:cNvPicPr>
            <a:picLocks noChangeAspect="1"/>
          </p:cNvPicPr>
          <p:nvPr/>
        </p:nvPicPr>
        <p:blipFill>
          <a:blip r:embed="rId4"/>
          <a:stretch>
            <a:fillRect/>
          </a:stretch>
        </p:blipFill>
        <p:spPr>
          <a:xfrm>
            <a:off x="7894930" y="2042770"/>
            <a:ext cx="395021" cy="395021"/>
          </a:xfrm>
          <a:prstGeom prst="rect">
            <a:avLst/>
          </a:prstGeom>
        </p:spPr>
      </p:pic>
      <p:sp>
        <p:nvSpPr>
          <p:cNvPr id="25" name="a5_166"/>
          <p:cNvSpPr/>
          <p:nvPr/>
        </p:nvSpPr>
        <p:spPr>
          <a:xfrm>
            <a:off x="726948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6" name="a5_167"/>
          <p:cNvSpPr txBox="1"/>
          <p:nvPr/>
        </p:nvSpPr>
        <p:spPr>
          <a:xfrm>
            <a:off x="745236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4</a:t>
            </a:r>
            <a:endParaRPr lang="en-US" sz="1200" dirty="0"/>
          </a:p>
        </p:txBody>
      </p:sp>
      <p:sp>
        <p:nvSpPr>
          <p:cNvPr id="27" name="a5_168"/>
          <p:cNvSpPr txBox="1"/>
          <p:nvPr/>
        </p:nvSpPr>
        <p:spPr>
          <a:xfrm>
            <a:off x="745236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15 postes</a:t>
            </a:r>
            <a:endParaRPr lang="en-US" sz="1700" dirty="0"/>
          </a:p>
        </p:txBody>
      </p:sp>
      <p:sp>
        <p:nvSpPr>
          <p:cNvPr id="28" name="a5_169"/>
          <p:cNvSpPr txBox="1"/>
          <p:nvPr/>
        </p:nvSpPr>
        <p:spPr>
          <a:xfrm>
            <a:off x="745236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Intégration de chaque poste au domaine</a:t>
            </a:r>
            <a:endParaRPr lang="en-US" sz="1400" dirty="0"/>
          </a:p>
        </p:txBody>
      </p:sp>
      <p:sp>
        <p:nvSpPr>
          <p:cNvPr id="29" name="a6_170"/>
          <p:cNvSpPr/>
          <p:nvPr/>
        </p:nvSpPr>
        <p:spPr>
          <a:xfrm>
            <a:off x="9921240" y="1828800"/>
            <a:ext cx="822960" cy="822960"/>
          </a:xfrm>
          <a:prstGeom prst="ellipse">
            <a:avLst/>
          </a:prstGeom>
          <a:solidFill>
            <a:schemeClr val="accent2"/>
          </a:solidFill>
          <a:ln w="12700">
            <a:solidFill>
              <a:schemeClr val="accent2"/>
            </a:solidFill>
            <a:prstDash val="solid"/>
          </a:ln>
        </p:spPr>
      </p:sp>
      <p:pic>
        <p:nvPicPr>
          <p:cNvPr id="30" name="a6_171" descr="preencoded.png">    </p:cNvPr>
          <p:cNvPicPr>
            <a:picLocks noChangeAspect="1"/>
          </p:cNvPicPr>
          <p:nvPr/>
        </p:nvPicPr>
        <p:blipFill>
          <a:blip r:embed="rId5"/>
          <a:stretch>
            <a:fillRect/>
          </a:stretch>
        </p:blipFill>
        <p:spPr>
          <a:xfrm>
            <a:off x="10135210" y="2042770"/>
            <a:ext cx="395021" cy="395021"/>
          </a:xfrm>
          <a:prstGeom prst="rect">
            <a:avLst/>
          </a:prstGeom>
        </p:spPr>
      </p:pic>
      <p:sp>
        <p:nvSpPr>
          <p:cNvPr id="31" name="a6_172"/>
          <p:cNvSpPr/>
          <p:nvPr/>
        </p:nvSpPr>
        <p:spPr>
          <a:xfrm>
            <a:off x="950976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32" name="a6_173"/>
          <p:cNvSpPr txBox="1"/>
          <p:nvPr/>
        </p:nvSpPr>
        <p:spPr>
          <a:xfrm>
            <a:off x="969264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5</a:t>
            </a:r>
            <a:endParaRPr lang="en-US" sz="1200" dirty="0"/>
          </a:p>
        </p:txBody>
      </p:sp>
      <p:sp>
        <p:nvSpPr>
          <p:cNvPr id="33" name="a6_174"/>
          <p:cNvSpPr txBox="1"/>
          <p:nvPr/>
        </p:nvSpPr>
        <p:spPr>
          <a:xfrm>
            <a:off x="969264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Accès distant</a:t>
            </a:r>
            <a:endParaRPr lang="en-US" sz="1700" dirty="0"/>
          </a:p>
        </p:txBody>
      </p:sp>
      <p:sp>
        <p:nvSpPr>
          <p:cNvPr id="34" name="a6_175"/>
          <p:cNvSpPr txBox="1"/>
          <p:nvPr/>
        </p:nvSpPr>
        <p:spPr>
          <a:xfrm>
            <a:off x="969264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Tailscale configuré et prise en main</a:t>
            </a:r>
            <a:endParaRPr lang="en-US" sz="1400" dirty="0"/>
          </a:p>
        </p:txBody>
      </p:sp>
      <p:sp>
        <p:nvSpPr>
          <p:cNvPr id="35" name="a7_176"/>
          <p:cNvSpPr/>
          <p:nvPr/>
        </p:nvSpPr>
        <p:spPr>
          <a:xfrm>
            <a:off x="548640" y="5349240"/>
            <a:ext cx="11064240" cy="777240"/>
          </a:xfrm>
          <a:prstGeom prst="roundRect">
            <a:avLst>
              <a:gd name="adj" fmla="val 16471"/>
            </a:avLst>
          </a:prstGeom>
          <a:solidFill>
            <a:schemeClr val="tx2"/>
          </a:solidFill>
          <a:ln w="12700">
            <a:solidFill>
              <a:schemeClr val="tx2"/>
            </a:solidFill>
            <a:prstDash val="solid"/>
          </a:ln>
        </p:spPr>
      </p:sp>
      <p:sp>
        <p:nvSpPr>
          <p:cNvPr id="36" name="a7_177"/>
          <p:cNvSpPr txBox="1"/>
          <p:nvPr/>
        </p:nvSpPr>
        <p:spPr>
          <a:xfrm>
            <a:off x="822960" y="5349240"/>
            <a:ext cx="10515600" cy="777240"/>
          </a:xfrm>
          <a:prstGeom prst="rect">
            <a:avLst/>
          </a:prstGeom>
          <a:noFill/>
          <a:ln/>
        </p:spPr>
        <p:txBody>
          <a:bodyPr wrap="square" lIns="0" tIns="0" rIns="0" bIns="0" rtlCol="0" anchor="ctr"/>
          <a:lstStyle/>
          <a:p>
            <a:pPr indent="0" marL="0">
              <a:buNone/>
            </a:pPr>
            <a:r>
              <a:rPr lang="en-US" sz="1800" dirty="0">
                <a:solidFill>
                  <a:schemeClr val="accent4"/>
                </a:solidFill>
              </a:rPr>
              <a:t>Installation, configuration et déploiement complet : </a:t>
            </a:r>
            <a:pPr indent="0" marL="0">
              <a:buNone/>
            </a:pPr>
            <a:r>
              <a:rPr lang="en-US" sz="1800" b="1" dirty="0">
                <a:solidFill>
                  <a:schemeClr val="bg1"/>
                </a:solidFill>
              </a:rPr>
              <a:t>450 000 FCFA</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63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7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9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2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08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14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20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35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41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47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53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5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6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0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86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92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98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204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210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37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43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49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55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70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76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Votre investissement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 investissement unique</a:t>
            </a:r>
            <a:endParaRPr lang="en-US" sz="3200" dirty="0"/>
          </a:p>
        </p:txBody>
      </p:sp>
      <p:sp>
        <p:nvSpPr>
          <p:cNvPr id="4" name="a1_178"/>
          <p:cNvSpPr txBox="1"/>
          <p:nvPr/>
        </p:nvSpPr>
        <p:spPr>
          <a:xfrm>
            <a:off x="548640" y="1737360"/>
            <a:ext cx="6035040" cy="1645920"/>
          </a:xfrm>
          <a:prstGeom prst="rect">
            <a:avLst/>
          </a:prstGeom>
          <a:noFill/>
          <a:ln/>
        </p:spPr>
        <p:txBody>
          <a:bodyPr wrap="square" lIns="0" tIns="0" rIns="0" bIns="0" rtlCol="0" anchor="t"/>
          <a:lstStyle/>
          <a:p>
            <a:pPr indent="0" marL="0">
              <a:buNone/>
            </a:pPr>
            <a:r>
              <a:rPr lang="en-US" sz="2600" dirty="0">
                <a:solidFill>
                  <a:schemeClr val="tx1"/>
                </a:solidFill>
              </a:rPr>
              <a:t>15 postes administrés comme dans une grande entreprise, pour </a:t>
            </a:r>
            <a:pPr indent="0" marL="0">
              <a:buNone/>
            </a:pPr>
            <a:r>
              <a:rPr lang="en-US" sz="2600" b="1" dirty="0">
                <a:solidFill>
                  <a:schemeClr val="accent1"/>
                </a:solidFill>
              </a:rPr>
              <a:t>≈ 76 700 FCFA par poste.</a:t>
            </a:r>
            <a:endParaRPr lang="en-US" sz="2600" dirty="0"/>
          </a:p>
        </p:txBody>
      </p:sp>
      <p:sp>
        <p:nvSpPr>
          <p:cNvPr id="5" name="a1_179"/>
          <p:cNvSpPr txBox="1"/>
          <p:nvPr/>
        </p:nvSpPr>
        <p:spPr>
          <a:xfrm>
            <a:off x="548640" y="3429000"/>
            <a:ext cx="6035040" cy="365760"/>
          </a:xfrm>
          <a:prstGeom prst="rect">
            <a:avLst/>
          </a:prstGeom>
          <a:noFill/>
          <a:ln/>
        </p:spPr>
        <p:txBody>
          <a:bodyPr wrap="square" lIns="0" tIns="0" rIns="0" bIns="0" rtlCol="0" anchor="ctr"/>
          <a:lstStyle/>
          <a:p>
            <a:pPr indent="0" marL="0">
              <a:buNone/>
            </a:pPr>
            <a:r>
              <a:rPr lang="en-US" sz="1500" i="1" dirty="0">
                <a:solidFill>
                  <a:schemeClr val="accent6"/>
                </a:solidFill>
              </a:rPr>
              <a:t>Paiement unique · aucun abonnement obligatoire</a:t>
            </a:r>
            <a:endParaRPr lang="en-US" sz="1500" dirty="0"/>
          </a:p>
        </p:txBody>
      </p:sp>
      <p:sp>
        <p:nvSpPr>
          <p:cNvPr id="6" name="a2_180"/>
          <p:cNvSpPr/>
          <p:nvPr/>
        </p:nvSpPr>
        <p:spPr>
          <a:xfrm>
            <a:off x="7680960" y="1371600"/>
            <a:ext cx="3840480" cy="3840480"/>
          </a:xfrm>
          <a:prstGeom prst="ellipse">
            <a:avLst/>
          </a:prstGeom>
          <a:solidFill>
            <a:schemeClr val="accent1"/>
          </a:solidFill>
          <a:ln w="12700">
            <a:solidFill>
              <a:schemeClr val="accent1"/>
            </a:solidFill>
            <a:prstDash val="solid"/>
          </a:ln>
        </p:spPr>
      </p:sp>
      <p:sp>
        <p:nvSpPr>
          <p:cNvPr id="7" name="a2_181"/>
          <p:cNvSpPr txBox="1"/>
          <p:nvPr/>
        </p:nvSpPr>
        <p:spPr>
          <a:xfrm>
            <a:off x="7818120" y="2139696"/>
            <a:ext cx="3566160" cy="2304288"/>
          </a:xfrm>
          <a:prstGeom prst="rect">
            <a:avLst/>
          </a:prstGeom>
          <a:noFill/>
          <a:ln/>
        </p:spPr>
        <p:txBody>
          <a:bodyPr wrap="square" lIns="0" tIns="0" rIns="0" bIns="0" rtlCol="0" anchor="ctr"/>
          <a:lstStyle/>
          <a:p>
            <a:pPr algn="ctr" indent="0" marL="0">
              <a:buNone/>
            </a:pPr>
            <a:r>
              <a:rPr lang="en-US" sz="4000" b="1" dirty="0">
                <a:solidFill>
                  <a:schemeClr val="bg1"/>
                </a:solidFill>
              </a:rPr>
              <a:t>1 150 000</a:t>
            </a:r>
            <a:endParaRPr lang="en-US" sz="4000" dirty="0"/>
          </a:p>
          <a:p>
            <a:pPr algn="ctr" indent="0" marL="0">
              <a:buNone/>
            </a:pPr>
            <a:r>
              <a:rPr lang="en-US" sz="1600" dirty="0">
                <a:solidFill>
                  <a:schemeClr val="accent4"/>
                </a:solidFill>
              </a:rPr>
              <a:t>FCFA HT · investissement total</a:t>
            </a:r>
            <a:endParaRPr lang="en-US" sz="4000" dirty="0"/>
          </a:p>
        </p:txBody>
      </p:sp>
      <p:sp>
        <p:nvSpPr>
          <p:cNvPr id="8" name="a3_182"/>
          <p:cNvSpPr/>
          <p:nvPr/>
        </p:nvSpPr>
        <p:spPr>
          <a:xfrm>
            <a:off x="4754880" y="3931920"/>
            <a:ext cx="2377440" cy="2377440"/>
          </a:xfrm>
          <a:prstGeom prst="ellipse">
            <a:avLst/>
          </a:prstGeom>
          <a:solidFill>
            <a:schemeClr val="accent3"/>
          </a:solidFill>
          <a:ln w="12700">
            <a:solidFill>
              <a:schemeClr val="accent3"/>
            </a:solidFill>
            <a:prstDash val="solid"/>
          </a:ln>
        </p:spPr>
      </p:sp>
      <p:sp>
        <p:nvSpPr>
          <p:cNvPr id="9" name="a3_183"/>
          <p:cNvSpPr txBox="1"/>
          <p:nvPr/>
        </p:nvSpPr>
        <p:spPr>
          <a:xfrm>
            <a:off x="4892040" y="4407408"/>
            <a:ext cx="2103120" cy="1426464"/>
          </a:xfrm>
          <a:prstGeom prst="rect">
            <a:avLst/>
          </a:prstGeom>
          <a:noFill/>
          <a:ln/>
        </p:spPr>
        <p:txBody>
          <a:bodyPr wrap="square" lIns="0" tIns="0" rIns="0" bIns="0" rtlCol="0" anchor="ctr"/>
          <a:lstStyle/>
          <a:p>
            <a:pPr algn="ctr" indent="0" marL="0">
              <a:buNone/>
            </a:pPr>
            <a:r>
              <a:rPr lang="en-US" sz="2400" b="1" dirty="0">
                <a:solidFill>
                  <a:schemeClr val="bg1"/>
                </a:solidFill>
              </a:rPr>
              <a:t>500 000</a:t>
            </a:r>
            <a:endParaRPr lang="en-US" sz="2400" dirty="0"/>
          </a:p>
          <a:p>
            <a:pPr algn="ctr" indent="0" marL="0">
              <a:buNone/>
            </a:pPr>
            <a:r>
              <a:rPr lang="en-US" sz="1300" dirty="0">
                <a:solidFill>
                  <a:schemeClr val="bg1"/>
                </a:solidFill>
              </a:rPr>
              <a:t>Serveur</a:t>
            </a:r>
            <a:endParaRPr lang="en-US" sz="2400" dirty="0"/>
          </a:p>
        </p:txBody>
      </p:sp>
      <p:sp>
        <p:nvSpPr>
          <p:cNvPr id="10" name="a4_184"/>
          <p:cNvSpPr/>
          <p:nvPr/>
        </p:nvSpPr>
        <p:spPr>
          <a:xfrm>
            <a:off x="6949440" y="4343400"/>
            <a:ext cx="2011680" cy="2011680"/>
          </a:xfrm>
          <a:prstGeom prst="ellipse">
            <a:avLst/>
          </a:prstGeom>
          <a:solidFill>
            <a:schemeClr val="tx2"/>
          </a:solidFill>
          <a:ln w="12700">
            <a:solidFill>
              <a:schemeClr val="tx2"/>
            </a:solidFill>
            <a:prstDash val="solid"/>
          </a:ln>
        </p:spPr>
      </p:sp>
      <p:sp>
        <p:nvSpPr>
          <p:cNvPr id="11" name="a4_185"/>
          <p:cNvSpPr txBox="1"/>
          <p:nvPr/>
        </p:nvSpPr>
        <p:spPr>
          <a:xfrm>
            <a:off x="7086600" y="4745736"/>
            <a:ext cx="1737360" cy="1207008"/>
          </a:xfrm>
          <a:prstGeom prst="rect">
            <a:avLst/>
          </a:prstGeom>
          <a:noFill/>
          <a:ln/>
        </p:spPr>
        <p:txBody>
          <a:bodyPr wrap="square" lIns="0" tIns="0" rIns="0" bIns="0" rtlCol="0" anchor="ctr"/>
          <a:lstStyle/>
          <a:p>
            <a:pPr algn="ctr" indent="0" marL="0">
              <a:buNone/>
            </a:pPr>
            <a:r>
              <a:rPr lang="en-US" sz="2400" b="1" dirty="0">
                <a:solidFill>
                  <a:schemeClr val="bg1"/>
                </a:solidFill>
              </a:rPr>
              <a:t>450 000</a:t>
            </a:r>
            <a:endParaRPr lang="en-US" sz="2400" dirty="0"/>
          </a:p>
          <a:p>
            <a:pPr algn="ctr" indent="0" marL="0">
              <a:buNone/>
            </a:pPr>
            <a:r>
              <a:rPr lang="en-US" sz="1300" dirty="0">
                <a:solidFill>
                  <a:schemeClr val="accent4"/>
                </a:solidFill>
              </a:rPr>
              <a:t>Installation et 15 postes</a:t>
            </a:r>
            <a:endParaRPr lang="en-US" sz="2400" dirty="0"/>
          </a:p>
        </p:txBody>
      </p:sp>
      <p:sp>
        <p:nvSpPr>
          <p:cNvPr id="12" name="a5_186"/>
          <p:cNvSpPr/>
          <p:nvPr/>
        </p:nvSpPr>
        <p:spPr>
          <a:xfrm>
            <a:off x="9966960" y="4846320"/>
            <a:ext cx="1554480" cy="1554480"/>
          </a:xfrm>
          <a:prstGeom prst="ellipse">
            <a:avLst/>
          </a:prstGeom>
          <a:solidFill>
            <a:schemeClr val="bg2"/>
          </a:solidFill>
          <a:ln w="12700">
            <a:solidFill>
              <a:schemeClr val="bg2"/>
            </a:solidFill>
            <a:prstDash val="solid"/>
          </a:ln>
        </p:spPr>
      </p:sp>
      <p:sp>
        <p:nvSpPr>
          <p:cNvPr id="13" name="a5_187"/>
          <p:cNvSpPr txBox="1"/>
          <p:nvPr/>
        </p:nvSpPr>
        <p:spPr>
          <a:xfrm>
            <a:off x="10104120" y="5157216"/>
            <a:ext cx="1280160" cy="932688"/>
          </a:xfrm>
          <a:prstGeom prst="rect">
            <a:avLst/>
          </a:prstGeom>
          <a:noFill/>
          <a:ln/>
        </p:spPr>
        <p:txBody>
          <a:bodyPr wrap="square" lIns="0" tIns="0" rIns="0" bIns="0" rtlCol="0" anchor="ctr"/>
          <a:lstStyle/>
          <a:p>
            <a:pPr algn="ctr" indent="0" marL="0">
              <a:buNone/>
            </a:pPr>
            <a:r>
              <a:rPr lang="en-US" sz="2000" b="1" dirty="0">
                <a:solidFill>
                  <a:schemeClr val="tx2"/>
                </a:solidFill>
              </a:rPr>
              <a:t>200 000</a:t>
            </a:r>
            <a:endParaRPr lang="en-US" sz="2000" dirty="0"/>
          </a:p>
          <a:p>
            <a:pPr algn="ctr" indent="0" marL="0">
              <a:buNone/>
            </a:pPr>
            <a:r>
              <a:rPr lang="en-US" sz="1300" dirty="0">
                <a:solidFill>
                  <a:schemeClr val="accent6"/>
                </a:solidFill>
              </a:rPr>
              <a:t>Licences ×2</a:t>
            </a:r>
            <a:endParaRPr lang="en-US" sz="2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4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1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6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3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41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8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86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Après le déploiement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Nous restons </a:t>
            </a:r>
            <a:pPr algn="l" indent="0" marL="0">
              <a:buNone/>
            </a:pPr>
            <a:r>
              <a:rPr lang="en-US" sz="3200" b="1" dirty="0">
                <a:solidFill>
                  <a:schemeClr val="accent1"/>
                </a:solidFill>
              </a:rPr>
              <a:t>à vos côtés</a:t>
            </a:r>
            <a:endParaRPr lang="en-US" sz="3200" dirty="0"/>
          </a:p>
        </p:txBody>
      </p:sp>
      <p:sp>
        <p:nvSpPr>
          <p:cNvPr id="4" name="a1_188"/>
          <p:cNvSpPr/>
          <p:nvPr/>
        </p:nvSpPr>
        <p:spPr>
          <a:xfrm>
            <a:off x="548640" y="1645920"/>
            <a:ext cx="5394960" cy="4206240"/>
          </a:xfrm>
          <a:prstGeom prst="roundRect">
            <a:avLst>
              <a:gd name="adj" fmla="val 3043"/>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189"/>
          <p:cNvSpPr/>
          <p:nvPr/>
        </p:nvSpPr>
        <p:spPr>
          <a:xfrm>
            <a:off x="868680" y="1965960"/>
            <a:ext cx="822960" cy="822960"/>
          </a:xfrm>
          <a:prstGeom prst="ellipse">
            <a:avLst/>
          </a:prstGeom>
          <a:solidFill>
            <a:schemeClr val="accent1"/>
          </a:solidFill>
          <a:ln w="12700">
            <a:solidFill>
              <a:schemeClr val="accent1"/>
            </a:solidFill>
            <a:prstDash val="solid"/>
          </a:ln>
        </p:spPr>
      </p:sp>
      <p:pic>
        <p:nvPicPr>
          <p:cNvPr id="6" name="a1_19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a1_191"/>
          <p:cNvSpPr txBox="1"/>
          <p:nvPr/>
        </p:nvSpPr>
        <p:spPr>
          <a:xfrm>
            <a:off x="868680" y="2971800"/>
            <a:ext cx="4754880" cy="914400"/>
          </a:xfrm>
          <a:prstGeom prst="rect">
            <a:avLst/>
          </a:prstGeom>
          <a:noFill/>
          <a:ln/>
        </p:spPr>
        <p:txBody>
          <a:bodyPr wrap="square" lIns="0" tIns="0" rIns="0" bIns="0" rtlCol="0" anchor="ctr"/>
          <a:lstStyle/>
          <a:p>
            <a:pPr indent="0" marL="0">
              <a:buNone/>
            </a:pPr>
            <a:r>
              <a:rPr lang="en-US" sz="6000" b="1" dirty="0">
                <a:solidFill>
                  <a:schemeClr val="accent1"/>
                </a:solidFill>
              </a:rPr>
              <a:t>3 mois</a:t>
            </a:r>
            <a:endParaRPr lang="en-US" sz="6000" dirty="0"/>
          </a:p>
        </p:txBody>
      </p:sp>
      <p:sp>
        <p:nvSpPr>
          <p:cNvPr id="8" name="a1_192"/>
          <p:cNvSpPr txBox="1"/>
          <p:nvPr/>
        </p:nvSpPr>
        <p:spPr>
          <a:xfrm>
            <a:off x="868680" y="3886200"/>
            <a:ext cx="4754880" cy="457200"/>
          </a:xfrm>
          <a:prstGeom prst="rect">
            <a:avLst/>
          </a:prstGeom>
          <a:noFill/>
          <a:ln/>
        </p:spPr>
        <p:txBody>
          <a:bodyPr wrap="square" lIns="0" tIns="0" rIns="0" bIns="0" rtlCol="0" anchor="ctr"/>
          <a:lstStyle/>
          <a:p>
            <a:pPr indent="0" marL="0">
              <a:buNone/>
            </a:pPr>
            <a:r>
              <a:rPr lang="en-US" sz="2200" b="1" dirty="0">
                <a:solidFill>
                  <a:schemeClr val="tx2"/>
                </a:solidFill>
              </a:rPr>
              <a:t>de maintenance offerts</a:t>
            </a:r>
            <a:endParaRPr lang="en-US" sz="2200" dirty="0"/>
          </a:p>
        </p:txBody>
      </p:sp>
      <p:sp>
        <p:nvSpPr>
          <p:cNvPr id="9" name="a1_193"/>
          <p:cNvSpPr txBox="1"/>
          <p:nvPr/>
        </p:nvSpPr>
        <p:spPr>
          <a:xfrm>
            <a:off x="868680" y="4434840"/>
            <a:ext cx="4754880" cy="1097280"/>
          </a:xfrm>
          <a:prstGeom prst="rect">
            <a:avLst/>
          </a:prstGeom>
          <a:noFill/>
          <a:ln/>
        </p:spPr>
        <p:txBody>
          <a:bodyPr wrap="square" lIns="0" tIns="0" rIns="0" bIns="0" rtlCol="0" anchor="t"/>
          <a:lstStyle/>
          <a:p>
            <a:pPr indent="0" marL="0">
              <a:buNone/>
            </a:pPr>
            <a:r>
              <a:rPr lang="en-US" sz="1500" dirty="0">
                <a:solidFill>
                  <a:schemeClr val="accent6"/>
                </a:solidFill>
              </a:rPr>
              <a:t>Dès la mise en service : surveillance, corrections et ajustements des GPO, sans frais.</a:t>
            </a:r>
            <a:endParaRPr lang="en-US" sz="1500" dirty="0"/>
          </a:p>
        </p:txBody>
      </p:sp>
      <p:sp>
        <p:nvSpPr>
          <p:cNvPr id="10" name="a2_194"/>
          <p:cNvSpPr/>
          <p:nvPr/>
        </p:nvSpPr>
        <p:spPr>
          <a:xfrm>
            <a:off x="6126480" y="3749040"/>
            <a:ext cx="548640" cy="0"/>
          </a:xfrm>
          <a:prstGeom prst="line">
            <a:avLst/>
          </a:prstGeom>
          <a:noFill/>
          <a:ln w="25400">
            <a:solidFill>
              <a:schemeClr val="accent4"/>
            </a:solidFill>
            <a:prstDash val="solid"/>
            <a:tailEnd type="triangle"/>
          </a:ln>
        </p:spPr>
      </p:sp>
      <p:sp>
        <p:nvSpPr>
          <p:cNvPr id="11" name="a2_195"/>
          <p:cNvSpPr/>
          <p:nvPr/>
        </p:nvSpPr>
        <p:spPr>
          <a:xfrm>
            <a:off x="6858000" y="1645920"/>
            <a:ext cx="4754880" cy="4206240"/>
          </a:xfrm>
          <a:prstGeom prst="roundRect">
            <a:avLst>
              <a:gd name="adj" fmla="val 3043"/>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12" name="a2_196"/>
          <p:cNvSpPr/>
          <p:nvPr/>
        </p:nvSpPr>
        <p:spPr>
          <a:xfrm>
            <a:off x="7178040" y="1965960"/>
            <a:ext cx="822960" cy="822960"/>
          </a:xfrm>
          <a:prstGeom prst="ellipse">
            <a:avLst/>
          </a:prstGeom>
          <a:solidFill>
            <a:schemeClr val="accent2"/>
          </a:solidFill>
          <a:ln w="12700">
            <a:solidFill>
              <a:schemeClr val="accent2"/>
            </a:solidFill>
            <a:prstDash val="solid"/>
          </a:ln>
        </p:spPr>
      </p:sp>
      <p:pic>
        <p:nvPicPr>
          <p:cNvPr id="13" name="a2_197" descr="preencoded.png">    </p:cNvPr>
          <p:cNvPicPr>
            <a:picLocks noChangeAspect="1"/>
          </p:cNvPicPr>
          <p:nvPr/>
        </p:nvPicPr>
        <p:blipFill>
          <a:blip r:embed="rId2"/>
          <a:stretch>
            <a:fillRect/>
          </a:stretch>
        </p:blipFill>
        <p:spPr>
          <a:xfrm>
            <a:off x="7392010" y="2179930"/>
            <a:ext cx="395021" cy="395021"/>
          </a:xfrm>
          <a:prstGeom prst="rect">
            <a:avLst/>
          </a:prstGeom>
        </p:spPr>
      </p:pic>
      <p:sp>
        <p:nvSpPr>
          <p:cNvPr id="14" name="a2_198"/>
          <p:cNvSpPr txBox="1"/>
          <p:nvPr/>
        </p:nvSpPr>
        <p:spPr>
          <a:xfrm>
            <a:off x="7178040" y="2971800"/>
            <a:ext cx="4206240" cy="365760"/>
          </a:xfrm>
          <a:prstGeom prst="rect">
            <a:avLst/>
          </a:prstGeom>
          <a:noFill/>
          <a:ln/>
        </p:spPr>
        <p:txBody>
          <a:bodyPr wrap="square" lIns="0" tIns="0" rIns="0" bIns="0" rtlCol="0" anchor="ctr"/>
          <a:lstStyle/>
          <a:p>
            <a:pPr indent="0" marL="0">
              <a:buNone/>
            </a:pPr>
            <a:r>
              <a:rPr lang="en-US" sz="1600" dirty="0">
                <a:solidFill>
                  <a:schemeClr val="accent4"/>
                </a:solidFill>
              </a:rPr>
              <a:t>Ensuite, en option</a:t>
            </a:r>
            <a:endParaRPr lang="en-US" sz="1600" dirty="0"/>
          </a:p>
        </p:txBody>
      </p:sp>
      <p:sp>
        <p:nvSpPr>
          <p:cNvPr id="15" name="a2_199"/>
          <p:cNvSpPr txBox="1"/>
          <p:nvPr/>
        </p:nvSpPr>
        <p:spPr>
          <a:xfrm>
            <a:off x="7178040" y="3337560"/>
            <a:ext cx="4206240" cy="548640"/>
          </a:xfrm>
          <a:prstGeom prst="rect">
            <a:avLst/>
          </a:prstGeom>
          <a:noFill/>
          <a:ln/>
        </p:spPr>
        <p:txBody>
          <a:bodyPr wrap="square" lIns="0" tIns="0" rIns="0" bIns="0" rtlCol="0" anchor="ctr"/>
          <a:lstStyle/>
          <a:p>
            <a:pPr indent="0" marL="0">
              <a:buNone/>
            </a:pPr>
            <a:r>
              <a:rPr lang="en-US" sz="2800" b="1" dirty="0">
                <a:solidFill>
                  <a:schemeClr val="bg1"/>
                </a:solidFill>
              </a:rPr>
              <a:t>à partir de 100 000 FCFA</a:t>
            </a:r>
            <a:endParaRPr lang="en-US" sz="2800" dirty="0"/>
          </a:p>
        </p:txBody>
      </p:sp>
      <p:sp>
        <p:nvSpPr>
          <p:cNvPr id="16" name="a2_200"/>
          <p:cNvSpPr txBox="1"/>
          <p:nvPr/>
        </p:nvSpPr>
        <p:spPr>
          <a:xfrm>
            <a:off x="7178040" y="3886200"/>
            <a:ext cx="4206240" cy="365760"/>
          </a:xfrm>
          <a:prstGeom prst="rect">
            <a:avLst/>
          </a:prstGeom>
          <a:noFill/>
          <a:ln/>
        </p:spPr>
        <p:txBody>
          <a:bodyPr wrap="square" lIns="0" tIns="0" rIns="0" bIns="0" rtlCol="0" anchor="ctr"/>
          <a:lstStyle/>
          <a:p>
            <a:pPr indent="0" marL="0">
              <a:buNone/>
            </a:pPr>
            <a:r>
              <a:rPr lang="en-US" sz="1500" dirty="0">
                <a:solidFill>
                  <a:schemeClr val="accent4"/>
                </a:solidFill>
              </a:rPr>
              <a:t>par trimestre · formule à définir ensemble</a:t>
            </a:r>
            <a:endParaRPr lang="en-US" sz="1500" dirty="0"/>
          </a:p>
        </p:txBody>
      </p:sp>
      <p:sp>
        <p:nvSpPr>
          <p:cNvPr id="17" name="a3_201"/>
          <p:cNvSpPr txBox="1"/>
          <p:nvPr/>
        </p:nvSpPr>
        <p:spPr>
          <a:xfrm>
            <a:off x="7178040" y="4389120"/>
            <a:ext cx="4206240"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Mises à jour et supervision du serveur</a:t>
            </a:r>
            <a:endParaRPr lang="en-US" sz="1500" dirty="0"/>
          </a:p>
          <a:p>
            <a:pPr marL="342900" indent="-342900">
              <a:spcAft>
                <a:spcPts val="600"/>
              </a:spcAft>
              <a:buSzPct val="100000"/>
              <a:buChar char="•"/>
            </a:pPr>
            <a:r>
              <a:rPr lang="en-US" sz="1500" dirty="0">
                <a:solidFill>
                  <a:schemeClr val="bg1"/>
                </a:solidFill>
              </a:rPr>
              <a:t>Gestion des comptes et des GPO</a:t>
            </a:r>
            <a:endParaRPr lang="en-US" sz="1500" dirty="0"/>
          </a:p>
          <a:p>
            <a:pPr marL="342900" indent="-342900">
              <a:spcAft>
                <a:spcPts val="600"/>
              </a:spcAft>
              <a:buSzPct val="100000"/>
              <a:buChar char="•"/>
            </a:pPr>
            <a:r>
              <a:rPr lang="en-US" sz="1500" dirty="0">
                <a:solidFill>
                  <a:schemeClr val="bg1"/>
                </a:solidFill>
              </a:rPr>
              <a:t>Assistance à distance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51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5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6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69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75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81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90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Et en cadeau</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Votre site web vitrine </a:t>
            </a:r>
            <a:pPr algn="l" indent="0" marL="0">
              <a:buNone/>
            </a:pPr>
            <a:r>
              <a:rPr lang="en-US" sz="3200" b="1" dirty="0">
                <a:solidFill>
                  <a:schemeClr val="accent1"/>
                </a:solidFill>
              </a:rPr>
              <a:t>offert</a:t>
            </a:r>
            <a:endParaRPr lang="en-US" sz="3200" dirty="0"/>
          </a:p>
        </p:txBody>
      </p:sp>
      <p:sp>
        <p:nvSpPr>
          <p:cNvPr id="4" name="a1_202"/>
          <p:cNvSpPr/>
          <p:nvPr/>
        </p:nvSpPr>
        <p:spPr>
          <a:xfrm>
            <a:off x="548640" y="1600200"/>
            <a:ext cx="5669280" cy="4480560"/>
          </a:xfrm>
          <a:prstGeom prst="roundRect">
            <a:avLst>
              <a:gd name="adj" fmla="val 2857"/>
            </a:avLst>
          </a:prstGeom>
          <a:solidFill>
            <a:srgbClr val="DCE5F7"/>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203"/>
          <p:cNvSpPr/>
          <p:nvPr/>
        </p:nvSpPr>
        <p:spPr>
          <a:xfrm>
            <a:off x="685800" y="2011680"/>
            <a:ext cx="5394960" cy="3931920"/>
          </a:xfrm>
          <a:prstGeom prst="rect">
            <a:avLst/>
          </a:prstGeom>
          <a:solidFill>
            <a:schemeClr val="bg1"/>
          </a:solidFill>
          <a:ln w="12700">
            <a:solidFill>
              <a:schemeClr val="bg1"/>
            </a:solidFill>
            <a:prstDash val="solid"/>
          </a:ln>
        </p:spPr>
      </p:sp>
      <p:sp>
        <p:nvSpPr>
          <p:cNvPr id="6" name="a1_204"/>
          <p:cNvSpPr/>
          <p:nvPr/>
        </p:nvSpPr>
        <p:spPr>
          <a:xfrm>
            <a:off x="822960" y="1737360"/>
            <a:ext cx="146304" cy="146304"/>
          </a:xfrm>
          <a:prstGeom prst="ellipse">
            <a:avLst/>
          </a:prstGeom>
          <a:solidFill>
            <a:srgbClr val="E5484D"/>
          </a:solidFill>
          <a:ln w="12700">
            <a:solidFill>
              <a:srgbClr val="E5484D"/>
            </a:solidFill>
            <a:prstDash val="solid"/>
          </a:ln>
        </p:spPr>
      </p:sp>
      <p:sp>
        <p:nvSpPr>
          <p:cNvPr id="7" name="a1_205"/>
          <p:cNvSpPr/>
          <p:nvPr/>
        </p:nvSpPr>
        <p:spPr>
          <a:xfrm>
            <a:off x="1078992" y="1737360"/>
            <a:ext cx="146304" cy="146304"/>
          </a:xfrm>
          <a:prstGeom prst="ellipse">
            <a:avLst/>
          </a:prstGeom>
          <a:solidFill>
            <a:srgbClr val="F5B700"/>
          </a:solidFill>
          <a:ln w="12700">
            <a:solidFill>
              <a:srgbClr val="F5B700"/>
            </a:solidFill>
            <a:prstDash val="solid"/>
          </a:ln>
        </p:spPr>
      </p:sp>
      <p:sp>
        <p:nvSpPr>
          <p:cNvPr id="8" name="a1_206"/>
          <p:cNvSpPr/>
          <p:nvPr/>
        </p:nvSpPr>
        <p:spPr>
          <a:xfrm>
            <a:off x="1335024" y="1737360"/>
            <a:ext cx="146304" cy="146304"/>
          </a:xfrm>
          <a:prstGeom prst="ellipse">
            <a:avLst/>
          </a:prstGeom>
          <a:solidFill>
            <a:srgbClr val="16B37A"/>
          </a:solidFill>
          <a:ln w="12700">
            <a:solidFill>
              <a:srgbClr val="16B37A"/>
            </a:solidFill>
            <a:prstDash val="solid"/>
          </a:ln>
        </p:spPr>
      </p:sp>
      <p:sp>
        <p:nvSpPr>
          <p:cNvPr id="9" name="a1_207"/>
          <p:cNvSpPr/>
          <p:nvPr/>
        </p:nvSpPr>
        <p:spPr>
          <a:xfrm>
            <a:off x="685800" y="2011680"/>
            <a:ext cx="5394960" cy="1737360"/>
          </a:xfrm>
          <a:prstGeom prst="rect">
            <a:avLst/>
          </a:prstGeom>
          <a:solidFill>
            <a:schemeClr val="accent1"/>
          </a:solidFill>
          <a:ln w="12700">
            <a:solidFill>
              <a:schemeClr val="accent1"/>
            </a:solidFill>
            <a:prstDash val="solid"/>
          </a:ln>
        </p:spPr>
      </p:sp>
      <p:sp>
        <p:nvSpPr>
          <p:cNvPr id="10" name="a1_208"/>
          <p:cNvSpPr txBox="1"/>
          <p:nvPr/>
        </p:nvSpPr>
        <p:spPr>
          <a:xfrm>
            <a:off x="960120" y="2240280"/>
            <a:ext cx="4846320" cy="548640"/>
          </a:xfrm>
          <a:prstGeom prst="rect">
            <a:avLst/>
          </a:prstGeom>
          <a:noFill/>
          <a:ln/>
        </p:spPr>
        <p:txBody>
          <a:bodyPr wrap="square" lIns="0" tIns="0" rIns="0" bIns="0" rtlCol="0" anchor="ctr"/>
          <a:lstStyle/>
          <a:p>
            <a:pPr indent="0" marL="0">
              <a:buNone/>
            </a:pPr>
            <a:r>
              <a:rPr lang="en-US" sz="2600" b="1" dirty="0">
                <a:solidFill>
                  <a:schemeClr val="bg1"/>
                </a:solidFill>
              </a:rPr>
              <a:t>Votre Entreprise</a:t>
            </a:r>
            <a:endParaRPr lang="en-US" sz="2600" dirty="0"/>
          </a:p>
        </p:txBody>
      </p:sp>
      <p:sp>
        <p:nvSpPr>
          <p:cNvPr id="11" name="a1_209"/>
          <p:cNvSpPr txBox="1"/>
          <p:nvPr/>
        </p:nvSpPr>
        <p:spPr>
          <a:xfrm>
            <a:off x="960120" y="2788920"/>
            <a:ext cx="4846320" cy="365760"/>
          </a:xfrm>
          <a:prstGeom prst="rect">
            <a:avLst/>
          </a:prstGeom>
          <a:noFill/>
          <a:ln/>
        </p:spPr>
        <p:txBody>
          <a:bodyPr wrap="square" lIns="0" tIns="0" rIns="0" bIns="0" rtlCol="0" anchor="ctr"/>
          <a:lstStyle/>
          <a:p>
            <a:pPr indent="0" marL="0">
              <a:buNone/>
            </a:pPr>
            <a:r>
              <a:rPr lang="en-US" sz="1400" dirty="0">
                <a:solidFill>
                  <a:schemeClr val="accent4"/>
                </a:solidFill>
              </a:rPr>
              <a:t>Votre savoir-faire, visible partout</a:t>
            </a:r>
            <a:endParaRPr lang="en-US" sz="1400" dirty="0"/>
          </a:p>
        </p:txBody>
      </p:sp>
      <p:sp>
        <p:nvSpPr>
          <p:cNvPr id="12" name="a1_210"/>
          <p:cNvSpPr/>
          <p:nvPr/>
        </p:nvSpPr>
        <p:spPr>
          <a:xfrm>
            <a:off x="960120" y="3246120"/>
            <a:ext cx="1554480" cy="347472"/>
          </a:xfrm>
          <a:prstGeom prst="roundRect">
            <a:avLst>
              <a:gd name="adj" fmla="val 50000"/>
            </a:avLst>
          </a:prstGeom>
          <a:solidFill>
            <a:schemeClr val="bg1"/>
          </a:solidFill>
          <a:ln w="12700">
            <a:solidFill>
              <a:schemeClr val="bg1"/>
            </a:solidFill>
            <a:prstDash val="solid"/>
          </a:ln>
        </p:spPr>
      </p:sp>
      <p:sp>
        <p:nvSpPr>
          <p:cNvPr id="13" name="a1_211"/>
          <p:cNvSpPr txBox="1"/>
          <p:nvPr/>
        </p:nvSpPr>
        <p:spPr>
          <a:xfrm>
            <a:off x="960120" y="3246120"/>
            <a:ext cx="1554480" cy="347472"/>
          </a:xfrm>
          <a:prstGeom prst="rect">
            <a:avLst/>
          </a:prstGeom>
          <a:noFill/>
          <a:ln/>
        </p:spPr>
        <p:txBody>
          <a:bodyPr wrap="square" lIns="0" tIns="0" rIns="0" bIns="0" rtlCol="0" anchor="ctr"/>
          <a:lstStyle/>
          <a:p>
            <a:pPr algn="ctr" indent="0" marL="0">
              <a:buNone/>
            </a:pPr>
            <a:r>
              <a:rPr lang="en-US" sz="1200" b="1" dirty="0">
                <a:solidFill>
                  <a:schemeClr val="accent1"/>
                </a:solidFill>
              </a:rPr>
              <a:t>Nous contacter</a:t>
            </a:r>
            <a:endParaRPr lang="en-US" sz="1200" dirty="0"/>
          </a:p>
        </p:txBody>
      </p:sp>
      <p:sp>
        <p:nvSpPr>
          <p:cNvPr id="14" name="a1_212"/>
          <p:cNvSpPr/>
          <p:nvPr/>
        </p:nvSpPr>
        <p:spPr>
          <a:xfrm>
            <a:off x="960120" y="3977640"/>
            <a:ext cx="1463040" cy="1737360"/>
          </a:xfrm>
          <a:prstGeom prst="roundRect">
            <a:avLst>
              <a:gd name="adj" fmla="val 8750"/>
            </a:avLst>
          </a:prstGeom>
          <a:solidFill>
            <a:schemeClr val="bg2"/>
          </a:solidFill>
          <a:ln w="12700">
            <a:solidFill>
              <a:schemeClr val="bg2"/>
            </a:solidFill>
            <a:prstDash val="solid"/>
          </a:ln>
        </p:spPr>
      </p:sp>
      <p:sp>
        <p:nvSpPr>
          <p:cNvPr id="15" name="a1_213"/>
          <p:cNvSpPr/>
          <p:nvPr/>
        </p:nvSpPr>
        <p:spPr>
          <a:xfrm>
            <a:off x="1417320" y="4206240"/>
            <a:ext cx="548640" cy="548640"/>
          </a:xfrm>
          <a:prstGeom prst="ellipse">
            <a:avLst/>
          </a:prstGeom>
          <a:solidFill>
            <a:schemeClr val="accent1"/>
          </a:solidFill>
          <a:ln w="12700">
            <a:solidFill>
              <a:schemeClr val="accent1"/>
            </a:solidFill>
            <a:prstDash val="solid"/>
          </a:ln>
        </p:spPr>
      </p:sp>
      <p:pic>
        <p:nvPicPr>
          <p:cNvPr id="16" name="a1_214" descr="preencoded.png">    </p:cNvPr>
          <p:cNvPicPr>
            <a:picLocks noChangeAspect="1"/>
          </p:cNvPicPr>
          <p:nvPr/>
        </p:nvPicPr>
        <p:blipFill>
          <a:blip r:embed="rId1"/>
          <a:stretch>
            <a:fillRect/>
          </a:stretch>
        </p:blipFill>
        <p:spPr>
          <a:xfrm>
            <a:off x="1559966" y="4348886"/>
            <a:ext cx="263347" cy="263347"/>
          </a:xfrm>
          <a:prstGeom prst="rect">
            <a:avLst/>
          </a:prstGeom>
        </p:spPr>
      </p:pic>
      <p:sp>
        <p:nvSpPr>
          <p:cNvPr id="17" name="a1_215"/>
          <p:cNvSpPr txBox="1"/>
          <p:nvPr/>
        </p:nvSpPr>
        <p:spPr>
          <a:xfrm>
            <a:off x="960120"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Services</a:t>
            </a:r>
            <a:endParaRPr lang="en-US" sz="1400" dirty="0"/>
          </a:p>
        </p:txBody>
      </p:sp>
      <p:sp>
        <p:nvSpPr>
          <p:cNvPr id="18" name="a1_216"/>
          <p:cNvSpPr/>
          <p:nvPr/>
        </p:nvSpPr>
        <p:spPr>
          <a:xfrm>
            <a:off x="2624328" y="3977640"/>
            <a:ext cx="1463040" cy="1737360"/>
          </a:xfrm>
          <a:prstGeom prst="roundRect">
            <a:avLst>
              <a:gd name="adj" fmla="val 8750"/>
            </a:avLst>
          </a:prstGeom>
          <a:solidFill>
            <a:schemeClr val="bg2"/>
          </a:solidFill>
          <a:ln w="12700">
            <a:solidFill>
              <a:schemeClr val="bg2"/>
            </a:solidFill>
            <a:prstDash val="solid"/>
          </a:ln>
        </p:spPr>
      </p:sp>
      <p:sp>
        <p:nvSpPr>
          <p:cNvPr id="19" name="a1_217"/>
          <p:cNvSpPr/>
          <p:nvPr/>
        </p:nvSpPr>
        <p:spPr>
          <a:xfrm>
            <a:off x="3081528" y="4206240"/>
            <a:ext cx="548640" cy="548640"/>
          </a:xfrm>
          <a:prstGeom prst="ellipse">
            <a:avLst/>
          </a:prstGeom>
          <a:solidFill>
            <a:schemeClr val="accent1"/>
          </a:solidFill>
          <a:ln w="12700">
            <a:solidFill>
              <a:schemeClr val="accent1"/>
            </a:solidFill>
            <a:prstDash val="solid"/>
          </a:ln>
        </p:spPr>
      </p:sp>
      <p:pic>
        <p:nvPicPr>
          <p:cNvPr id="20" name="a1_218" descr="preencoded.png">    </p:cNvPr>
          <p:cNvPicPr>
            <a:picLocks noChangeAspect="1"/>
          </p:cNvPicPr>
          <p:nvPr/>
        </p:nvPicPr>
        <p:blipFill>
          <a:blip r:embed="rId2"/>
          <a:stretch>
            <a:fillRect/>
          </a:stretch>
        </p:blipFill>
        <p:spPr>
          <a:xfrm>
            <a:off x="3224174" y="4348886"/>
            <a:ext cx="263347" cy="263347"/>
          </a:xfrm>
          <a:prstGeom prst="rect">
            <a:avLst/>
          </a:prstGeom>
        </p:spPr>
      </p:pic>
      <p:sp>
        <p:nvSpPr>
          <p:cNvPr id="21" name="a1_219"/>
          <p:cNvSpPr txBox="1"/>
          <p:nvPr/>
        </p:nvSpPr>
        <p:spPr>
          <a:xfrm>
            <a:off x="2624328"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Réalisations</a:t>
            </a:r>
            <a:endParaRPr lang="en-US" sz="1400" dirty="0"/>
          </a:p>
        </p:txBody>
      </p:sp>
      <p:sp>
        <p:nvSpPr>
          <p:cNvPr id="22" name="a1_220"/>
          <p:cNvSpPr/>
          <p:nvPr/>
        </p:nvSpPr>
        <p:spPr>
          <a:xfrm>
            <a:off x="4288536" y="3977640"/>
            <a:ext cx="1463040" cy="1737360"/>
          </a:xfrm>
          <a:prstGeom prst="roundRect">
            <a:avLst>
              <a:gd name="adj" fmla="val 8750"/>
            </a:avLst>
          </a:prstGeom>
          <a:solidFill>
            <a:schemeClr val="bg2"/>
          </a:solidFill>
          <a:ln w="12700">
            <a:solidFill>
              <a:schemeClr val="bg2"/>
            </a:solidFill>
            <a:prstDash val="solid"/>
          </a:ln>
        </p:spPr>
      </p:sp>
      <p:sp>
        <p:nvSpPr>
          <p:cNvPr id="23" name="a1_221"/>
          <p:cNvSpPr/>
          <p:nvPr/>
        </p:nvSpPr>
        <p:spPr>
          <a:xfrm>
            <a:off x="4745736" y="4206240"/>
            <a:ext cx="548640" cy="548640"/>
          </a:xfrm>
          <a:prstGeom prst="ellipse">
            <a:avLst/>
          </a:prstGeom>
          <a:solidFill>
            <a:schemeClr val="accent1"/>
          </a:solidFill>
          <a:ln w="12700">
            <a:solidFill>
              <a:schemeClr val="accent1"/>
            </a:solidFill>
            <a:prstDash val="solid"/>
          </a:ln>
        </p:spPr>
      </p:sp>
      <p:pic>
        <p:nvPicPr>
          <p:cNvPr id="24" name="a1_222" descr="preencoded.png">    </p:cNvPr>
          <p:cNvPicPr>
            <a:picLocks noChangeAspect="1"/>
          </p:cNvPicPr>
          <p:nvPr/>
        </p:nvPicPr>
        <p:blipFill>
          <a:blip r:embed="rId3"/>
          <a:stretch>
            <a:fillRect/>
          </a:stretch>
        </p:blipFill>
        <p:spPr>
          <a:xfrm>
            <a:off x="4888382" y="4348886"/>
            <a:ext cx="263347" cy="263347"/>
          </a:xfrm>
          <a:prstGeom prst="rect">
            <a:avLst/>
          </a:prstGeom>
        </p:spPr>
      </p:pic>
      <p:sp>
        <p:nvSpPr>
          <p:cNvPr id="25" name="a1_223"/>
          <p:cNvSpPr txBox="1"/>
          <p:nvPr/>
        </p:nvSpPr>
        <p:spPr>
          <a:xfrm>
            <a:off x="4288536"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Contact</a:t>
            </a:r>
            <a:endParaRPr lang="en-US" sz="1400" dirty="0"/>
          </a:p>
        </p:txBody>
      </p:sp>
      <p:sp>
        <p:nvSpPr>
          <p:cNvPr id="26" name="a2_224"/>
          <p:cNvSpPr txBox="1"/>
          <p:nvPr/>
        </p:nvSpPr>
        <p:spPr>
          <a:xfrm>
            <a:off x="6675120" y="1645920"/>
            <a:ext cx="4937760" cy="411480"/>
          </a:xfrm>
          <a:prstGeom prst="rect">
            <a:avLst/>
          </a:prstGeom>
          <a:noFill/>
          <a:ln/>
        </p:spPr>
        <p:txBody>
          <a:bodyPr wrap="square" lIns="0" tIns="0" rIns="0" bIns="0" rtlCol="0" anchor="ctr"/>
          <a:lstStyle/>
          <a:p>
            <a:pPr indent="0" marL="0">
              <a:buNone/>
            </a:pPr>
            <a:r>
              <a:rPr lang="en-US" sz="1800" strike="sngStrike" dirty="0">
                <a:solidFill>
                  <a:schemeClr val="accent6"/>
                </a:solidFill>
              </a:rPr>
              <a:t>Valeur 365 000 FCFA</a:t>
            </a:r>
            <a:endParaRPr lang="en-US" sz="1800" dirty="0"/>
          </a:p>
        </p:txBody>
      </p:sp>
      <p:sp>
        <p:nvSpPr>
          <p:cNvPr id="27" name="a2_225"/>
          <p:cNvSpPr txBox="1"/>
          <p:nvPr/>
        </p:nvSpPr>
        <p:spPr>
          <a:xfrm>
            <a:off x="6675120" y="2011680"/>
            <a:ext cx="4937760" cy="822960"/>
          </a:xfrm>
          <a:prstGeom prst="rect">
            <a:avLst/>
          </a:prstGeom>
          <a:noFill/>
          <a:ln/>
        </p:spPr>
        <p:txBody>
          <a:bodyPr wrap="square" lIns="0" tIns="0" rIns="0" bIns="0" rtlCol="0" anchor="ctr"/>
          <a:lstStyle/>
          <a:p>
            <a:pPr indent="0" marL="0">
              <a:buNone/>
            </a:pPr>
            <a:r>
              <a:rPr lang="en-US" sz="5400" b="1" dirty="0">
                <a:solidFill>
                  <a:schemeClr val="accent1"/>
                </a:solidFill>
              </a:rPr>
              <a:t>OFFERT</a:t>
            </a:r>
            <a:endParaRPr lang="en-US" sz="5400" dirty="0"/>
          </a:p>
        </p:txBody>
      </p:sp>
      <p:sp>
        <p:nvSpPr>
          <p:cNvPr id="28" name="a3_226"/>
          <p:cNvSpPr/>
          <p:nvPr/>
        </p:nvSpPr>
        <p:spPr>
          <a:xfrm>
            <a:off x="6675120" y="3063240"/>
            <a:ext cx="438912" cy="438912"/>
          </a:xfrm>
          <a:prstGeom prst="ellipse">
            <a:avLst/>
          </a:prstGeom>
          <a:solidFill>
            <a:schemeClr val="bg2"/>
          </a:solidFill>
          <a:ln w="12700">
            <a:solidFill>
              <a:schemeClr val="bg2"/>
            </a:solidFill>
            <a:prstDash val="solid"/>
          </a:ln>
        </p:spPr>
      </p:sp>
      <p:pic>
        <p:nvPicPr>
          <p:cNvPr id="29" name="a3_227" descr="preencoded.png">    </p:cNvPr>
          <p:cNvPicPr>
            <a:picLocks noChangeAspect="1"/>
          </p:cNvPicPr>
          <p:nvPr/>
        </p:nvPicPr>
        <p:blipFill>
          <a:blip r:embed="rId4"/>
          <a:stretch>
            <a:fillRect/>
          </a:stretch>
        </p:blipFill>
        <p:spPr>
          <a:xfrm>
            <a:off x="6789237" y="3177357"/>
            <a:ext cx="210678" cy="210678"/>
          </a:xfrm>
          <a:prstGeom prst="rect">
            <a:avLst/>
          </a:prstGeom>
        </p:spPr>
      </p:pic>
      <p:sp>
        <p:nvSpPr>
          <p:cNvPr id="30" name="a3_228"/>
          <p:cNvSpPr txBox="1"/>
          <p:nvPr/>
        </p:nvSpPr>
        <p:spPr>
          <a:xfrm>
            <a:off x="7269480" y="3063240"/>
            <a:ext cx="4389120" cy="438912"/>
          </a:xfrm>
          <a:prstGeom prst="rect">
            <a:avLst/>
          </a:prstGeom>
          <a:noFill/>
          <a:ln/>
        </p:spPr>
        <p:txBody>
          <a:bodyPr wrap="square" lIns="0" tIns="0" rIns="0" bIns="0" rtlCol="0" anchor="ctr"/>
          <a:lstStyle/>
          <a:p>
            <a:pPr indent="0" marL="0">
              <a:buNone/>
            </a:pPr>
            <a:r>
              <a:rPr lang="en-US" sz="1500" dirty="0">
                <a:solidFill>
                  <a:schemeClr val="tx1"/>
                </a:solidFill>
              </a:rPr>
              <a:t>Adapté au mobile, à la tablette et à l'ordinateur</a:t>
            </a:r>
            <a:endParaRPr lang="en-US" sz="1500" dirty="0"/>
          </a:p>
        </p:txBody>
      </p:sp>
      <p:sp>
        <p:nvSpPr>
          <p:cNvPr id="31" name="a4_229"/>
          <p:cNvSpPr/>
          <p:nvPr/>
        </p:nvSpPr>
        <p:spPr>
          <a:xfrm>
            <a:off x="6675120" y="3630168"/>
            <a:ext cx="438912" cy="438912"/>
          </a:xfrm>
          <a:prstGeom prst="ellipse">
            <a:avLst/>
          </a:prstGeom>
          <a:solidFill>
            <a:schemeClr val="bg2"/>
          </a:solidFill>
          <a:ln w="12700">
            <a:solidFill>
              <a:schemeClr val="bg2"/>
            </a:solidFill>
            <a:prstDash val="solid"/>
          </a:ln>
        </p:spPr>
      </p:sp>
      <p:pic>
        <p:nvPicPr>
          <p:cNvPr id="32" name="a4_230" descr="preencoded.png">    </p:cNvPr>
          <p:cNvPicPr>
            <a:picLocks noChangeAspect="1"/>
          </p:cNvPicPr>
          <p:nvPr/>
        </p:nvPicPr>
        <p:blipFill>
          <a:blip r:embed="rId5"/>
          <a:stretch>
            <a:fillRect/>
          </a:stretch>
        </p:blipFill>
        <p:spPr>
          <a:xfrm>
            <a:off x="6789237" y="3744285"/>
            <a:ext cx="210678" cy="210678"/>
          </a:xfrm>
          <a:prstGeom prst="rect">
            <a:avLst/>
          </a:prstGeom>
        </p:spPr>
      </p:pic>
      <p:sp>
        <p:nvSpPr>
          <p:cNvPr id="33" name="a4_231"/>
          <p:cNvSpPr txBox="1"/>
          <p:nvPr/>
        </p:nvSpPr>
        <p:spPr>
          <a:xfrm>
            <a:off x="7269480" y="3630168"/>
            <a:ext cx="4389120" cy="438912"/>
          </a:xfrm>
          <a:prstGeom prst="rect">
            <a:avLst/>
          </a:prstGeom>
          <a:noFill/>
          <a:ln/>
        </p:spPr>
        <p:txBody>
          <a:bodyPr wrap="square" lIns="0" tIns="0" rIns="0" bIns="0" rtlCol="0" anchor="ctr"/>
          <a:lstStyle/>
          <a:p>
            <a:pPr indent="0" marL="0">
              <a:buNone/>
            </a:pPr>
            <a:r>
              <a:rPr lang="en-US" sz="1500" dirty="0">
                <a:solidFill>
                  <a:schemeClr val="tx1"/>
                </a:solidFill>
              </a:rPr>
              <a:t>Accueil, À propos, Services, Réalisations, Contact</a:t>
            </a:r>
            <a:endParaRPr lang="en-US" sz="1500" dirty="0"/>
          </a:p>
        </p:txBody>
      </p:sp>
      <p:sp>
        <p:nvSpPr>
          <p:cNvPr id="34" name="a5_232"/>
          <p:cNvSpPr/>
          <p:nvPr/>
        </p:nvSpPr>
        <p:spPr>
          <a:xfrm>
            <a:off x="6675120" y="4197096"/>
            <a:ext cx="438912" cy="438912"/>
          </a:xfrm>
          <a:prstGeom prst="ellipse">
            <a:avLst/>
          </a:prstGeom>
          <a:solidFill>
            <a:schemeClr val="bg2"/>
          </a:solidFill>
          <a:ln w="12700">
            <a:solidFill>
              <a:schemeClr val="bg2"/>
            </a:solidFill>
            <a:prstDash val="solid"/>
          </a:ln>
        </p:spPr>
      </p:sp>
      <p:pic>
        <p:nvPicPr>
          <p:cNvPr id="35" name="a5_233" descr="preencoded.png">    </p:cNvPr>
          <p:cNvPicPr>
            <a:picLocks noChangeAspect="1"/>
          </p:cNvPicPr>
          <p:nvPr/>
        </p:nvPicPr>
        <p:blipFill>
          <a:blip r:embed="rId6"/>
          <a:stretch>
            <a:fillRect/>
          </a:stretch>
        </p:blipFill>
        <p:spPr>
          <a:xfrm>
            <a:off x="6789237" y="4311213"/>
            <a:ext cx="210678" cy="210678"/>
          </a:xfrm>
          <a:prstGeom prst="rect">
            <a:avLst/>
          </a:prstGeom>
        </p:spPr>
      </p:pic>
      <p:sp>
        <p:nvSpPr>
          <p:cNvPr id="36" name="a5_234"/>
          <p:cNvSpPr txBox="1"/>
          <p:nvPr/>
        </p:nvSpPr>
        <p:spPr>
          <a:xfrm>
            <a:off x="7269480" y="4197096"/>
            <a:ext cx="4389120" cy="438912"/>
          </a:xfrm>
          <a:prstGeom prst="rect">
            <a:avLst/>
          </a:prstGeom>
          <a:noFill/>
          <a:ln/>
        </p:spPr>
        <p:txBody>
          <a:bodyPr wrap="square" lIns="0" tIns="0" rIns="0" bIns="0" rtlCol="0" anchor="ctr"/>
          <a:lstStyle/>
          <a:p>
            <a:pPr indent="0" marL="0">
              <a:buNone/>
            </a:pPr>
            <a:r>
              <a:rPr lang="en-US" sz="1500" dirty="0">
                <a:solidFill>
                  <a:schemeClr val="tx1"/>
                </a:solidFill>
              </a:rPr>
              <a:t>Formulaire de contact, Google Maps et WhatsApp</a:t>
            </a:r>
            <a:endParaRPr lang="en-US" sz="1500" dirty="0"/>
          </a:p>
        </p:txBody>
      </p:sp>
      <p:sp>
        <p:nvSpPr>
          <p:cNvPr id="37" name="a6_235"/>
          <p:cNvSpPr/>
          <p:nvPr/>
        </p:nvSpPr>
        <p:spPr>
          <a:xfrm>
            <a:off x="6675120" y="4764024"/>
            <a:ext cx="438912" cy="438912"/>
          </a:xfrm>
          <a:prstGeom prst="ellipse">
            <a:avLst/>
          </a:prstGeom>
          <a:solidFill>
            <a:schemeClr val="bg2"/>
          </a:solidFill>
          <a:ln w="12700">
            <a:solidFill>
              <a:schemeClr val="bg2"/>
            </a:solidFill>
            <a:prstDash val="solid"/>
          </a:ln>
        </p:spPr>
      </p:sp>
      <p:pic>
        <p:nvPicPr>
          <p:cNvPr id="38" name="a6_236" descr="preencoded.png">    </p:cNvPr>
          <p:cNvPicPr>
            <a:picLocks noChangeAspect="1"/>
          </p:cNvPicPr>
          <p:nvPr/>
        </p:nvPicPr>
        <p:blipFill>
          <a:blip r:embed="rId7"/>
          <a:stretch>
            <a:fillRect/>
          </a:stretch>
        </p:blipFill>
        <p:spPr>
          <a:xfrm>
            <a:off x="6789237" y="4878141"/>
            <a:ext cx="210678" cy="210678"/>
          </a:xfrm>
          <a:prstGeom prst="rect">
            <a:avLst/>
          </a:prstGeom>
        </p:spPr>
      </p:pic>
      <p:sp>
        <p:nvSpPr>
          <p:cNvPr id="39" name="a6_237"/>
          <p:cNvSpPr txBox="1"/>
          <p:nvPr/>
        </p:nvSpPr>
        <p:spPr>
          <a:xfrm>
            <a:off x="7269480" y="4764024"/>
            <a:ext cx="4389120" cy="438912"/>
          </a:xfrm>
          <a:prstGeom prst="rect">
            <a:avLst/>
          </a:prstGeom>
          <a:noFill/>
          <a:ln/>
        </p:spPr>
        <p:txBody>
          <a:bodyPr wrap="square" lIns="0" tIns="0" rIns="0" bIns="0" rtlCol="0" anchor="ctr"/>
          <a:lstStyle/>
          <a:p>
            <a:pPr indent="0" marL="0">
              <a:buNone/>
            </a:pPr>
            <a:r>
              <a:rPr lang="en-US" sz="1500" dirty="0">
                <a:solidFill>
                  <a:schemeClr val="tx1"/>
                </a:solidFill>
              </a:rPr>
              <a:t>Visible sur Google, sécurisé en HTTPS</a:t>
            </a:r>
            <a:endParaRPr lang="en-US" sz="1500" dirty="0"/>
          </a:p>
        </p:txBody>
      </p:sp>
      <p:sp>
        <p:nvSpPr>
          <p:cNvPr id="40" name="a7_238"/>
          <p:cNvSpPr/>
          <p:nvPr/>
        </p:nvSpPr>
        <p:spPr>
          <a:xfrm>
            <a:off x="6675120" y="5440680"/>
            <a:ext cx="4937760" cy="685800"/>
          </a:xfrm>
          <a:prstGeom prst="roundRect">
            <a:avLst>
              <a:gd name="adj" fmla="val 18667"/>
            </a:avLst>
          </a:prstGeom>
          <a:solidFill>
            <a:schemeClr val="tx2"/>
          </a:solidFill>
          <a:ln w="12700">
            <a:solidFill>
              <a:schemeClr val="tx2"/>
            </a:solidFill>
            <a:prstDash val="solid"/>
          </a:ln>
        </p:spPr>
      </p:sp>
      <p:sp>
        <p:nvSpPr>
          <p:cNvPr id="41" name="a7_239"/>
          <p:cNvSpPr txBox="1"/>
          <p:nvPr/>
        </p:nvSpPr>
        <p:spPr>
          <a:xfrm>
            <a:off x="6858000" y="5440680"/>
            <a:ext cx="4663440" cy="685800"/>
          </a:xfrm>
          <a:prstGeom prst="rect">
            <a:avLst/>
          </a:prstGeom>
          <a:noFill/>
          <a:ln/>
        </p:spPr>
        <p:txBody>
          <a:bodyPr wrap="square" lIns="0" tIns="0" rIns="0" bIns="0" rtlCol="0" anchor="ctr"/>
          <a:lstStyle/>
          <a:p>
            <a:pPr indent="0" marL="0">
              <a:buNone/>
            </a:pPr>
            <a:r>
              <a:rPr lang="en-US" sz="1500" dirty="0">
                <a:solidFill>
                  <a:schemeClr val="accent4"/>
                </a:solidFill>
              </a:rPr>
              <a:t>Valeur totale 1 515 000 FCFA  →  </a:t>
            </a:r>
            <a:pPr indent="0" marL="0">
              <a:buNone/>
            </a:pPr>
            <a:r>
              <a:rPr lang="en-US" sz="1500" b="1" dirty="0">
                <a:solidFill>
                  <a:schemeClr val="bg1"/>
                </a:solidFill>
              </a:rPr>
              <a:t>vous payez 1 150 000 FCFA</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3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4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4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54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6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66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72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78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84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90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96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02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08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14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20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26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45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5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90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96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02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35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4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147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18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18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192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25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31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37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70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76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Option · proposition séparée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Et si un ransomware frappait demain ?</a:t>
            </a:r>
            <a:endParaRPr lang="en-US" sz="4000" dirty="0"/>
          </a:p>
        </p:txBody>
      </p:sp>
      <p:sp>
        <p:nvSpPr>
          <p:cNvPr id="4" name="a1_240"/>
          <p:cNvSpPr txBox="1"/>
          <p:nvPr/>
        </p:nvSpPr>
        <p:spPr>
          <a:xfrm>
            <a:off x="731520" y="4023360"/>
            <a:ext cx="6583680" cy="1097280"/>
          </a:xfrm>
          <a:prstGeom prst="rect">
            <a:avLst/>
          </a:prstGeom>
          <a:noFill/>
          <a:ln/>
        </p:spPr>
        <p:txBody>
          <a:bodyPr wrap="square" lIns="0" tIns="0" rIns="0" bIns="0" rtlCol="0" anchor="t"/>
          <a:lstStyle/>
          <a:p>
            <a:pPr indent="0" marL="0">
              <a:buNone/>
            </a:pPr>
            <a:r>
              <a:rPr lang="en-US" sz="2000" dirty="0">
                <a:solidFill>
                  <a:schemeClr val="accent4"/>
                </a:solidFill>
              </a:rPr>
              <a:t>Un poste infecté peut chiffrer les fichiers partagés et paralyser toute l'activité. Ajoutons une protection professionnelle.</a:t>
            </a:r>
            <a:endParaRPr lang="en-US" sz="2000" dirty="0"/>
          </a:p>
        </p:txBody>
      </p:sp>
      <p:sp>
        <p:nvSpPr>
          <p:cNvPr id="5" name="a2_241"/>
          <p:cNvSpPr/>
          <p:nvPr/>
        </p:nvSpPr>
        <p:spPr>
          <a:xfrm>
            <a:off x="8778240" y="2103120"/>
            <a:ext cx="2377440" cy="2377440"/>
          </a:xfrm>
          <a:prstGeom prst="ellipse">
            <a:avLst/>
          </a:prstGeom>
          <a:solidFill>
            <a:schemeClr val="bg1"/>
          </a:solidFill>
          <a:ln w="12700">
            <a:solidFill>
              <a:schemeClr val="bg1"/>
            </a:solidFill>
            <a:prstDash val="solid"/>
          </a:ln>
        </p:spPr>
      </p:sp>
      <p:pic>
        <p:nvPicPr>
          <p:cNvPr id="6" name="a2_242" descr="preencoded.png">    </p:cNvPr>
          <p:cNvPicPr>
            <a:picLocks noChangeAspect="1"/>
          </p:cNvPicPr>
          <p:nvPr/>
        </p:nvPicPr>
        <p:blipFill>
          <a:blip r:embed="rId1"/>
          <a:stretch>
            <a:fillRect/>
          </a:stretch>
        </p:blipFill>
        <p:spPr>
          <a:xfrm>
            <a:off x="9396374" y="2721254"/>
            <a:ext cx="1141171" cy="1141171"/>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Option sécurité · comment ça fonctionne</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Une console, </a:t>
            </a:r>
            <a:pPr algn="l" indent="0" marL="0">
              <a:buNone/>
            </a:pPr>
            <a:r>
              <a:rPr lang="en-US" sz="3200" b="1" dirty="0">
                <a:solidFill>
                  <a:schemeClr val="accent1"/>
                </a:solidFill>
              </a:rPr>
              <a:t>tous les appareils protégés</a:t>
            </a:r>
            <a:endParaRPr lang="en-US" sz="3200" dirty="0"/>
          </a:p>
        </p:txBody>
      </p:sp>
      <p:sp>
        <p:nvSpPr>
          <p:cNvPr id="4" name="a1_243"/>
          <p:cNvSpPr/>
          <p:nvPr/>
        </p:nvSpPr>
        <p:spPr>
          <a:xfrm>
            <a:off x="640080" y="3017520"/>
            <a:ext cx="1097280" cy="1097280"/>
          </a:xfrm>
          <a:prstGeom prst="ellipse">
            <a:avLst/>
          </a:prstGeom>
          <a:solidFill>
            <a:schemeClr val="accent2"/>
          </a:solidFill>
          <a:ln w="12700">
            <a:solidFill>
              <a:schemeClr val="accent2"/>
            </a:solidFill>
            <a:prstDash val="solid"/>
          </a:ln>
        </p:spPr>
      </p:sp>
      <p:pic>
        <p:nvPicPr>
          <p:cNvPr id="5" name="a1_244" descr="preencoded.png">    </p:cNvPr>
          <p:cNvPicPr>
            <a:picLocks noChangeAspect="1"/>
          </p:cNvPicPr>
          <p:nvPr/>
        </p:nvPicPr>
        <p:blipFill>
          <a:blip r:embed="rId1"/>
          <a:stretch>
            <a:fillRect/>
          </a:stretch>
        </p:blipFill>
        <p:spPr>
          <a:xfrm>
            <a:off x="925373" y="3302813"/>
            <a:ext cx="526694" cy="526694"/>
          </a:xfrm>
          <a:prstGeom prst="rect">
            <a:avLst/>
          </a:prstGeom>
        </p:spPr>
      </p:pic>
      <p:sp>
        <p:nvSpPr>
          <p:cNvPr id="6" name="a1_245"/>
          <p:cNvSpPr txBox="1"/>
          <p:nvPr/>
        </p:nvSpPr>
        <p:spPr>
          <a:xfrm>
            <a:off x="274320" y="4206240"/>
            <a:ext cx="1828800" cy="365760"/>
          </a:xfrm>
          <a:prstGeom prst="rect">
            <a:avLst/>
          </a:prstGeom>
          <a:noFill/>
          <a:ln/>
        </p:spPr>
        <p:txBody>
          <a:bodyPr wrap="square" lIns="0" tIns="0" rIns="0" bIns="0" rtlCol="0" anchor="ctr"/>
          <a:lstStyle/>
          <a:p>
            <a:pPr algn="ctr" indent="0" marL="0">
              <a:buNone/>
            </a:pPr>
            <a:r>
              <a:rPr lang="en-US" sz="1500" b="1" dirty="0">
                <a:solidFill>
                  <a:schemeClr val="tx2"/>
                </a:solidFill>
              </a:rPr>
              <a:t>Administrateur</a:t>
            </a:r>
            <a:endParaRPr lang="en-US" sz="1500" dirty="0"/>
          </a:p>
        </p:txBody>
      </p:sp>
      <p:sp>
        <p:nvSpPr>
          <p:cNvPr id="7" name="a2_246"/>
          <p:cNvSpPr/>
          <p:nvPr/>
        </p:nvSpPr>
        <p:spPr>
          <a:xfrm>
            <a:off x="1828800" y="3566160"/>
            <a:ext cx="731520" cy="0"/>
          </a:xfrm>
          <a:prstGeom prst="line">
            <a:avLst/>
          </a:prstGeom>
          <a:noFill/>
          <a:ln w="38100">
            <a:solidFill>
              <a:schemeClr val="accent2"/>
            </a:solidFill>
            <a:prstDash val="dash"/>
          </a:ln>
        </p:spPr>
      </p:sp>
      <p:sp>
        <p:nvSpPr>
          <p:cNvPr id="8" name="a2_247"/>
          <p:cNvSpPr/>
          <p:nvPr/>
        </p:nvSpPr>
        <p:spPr>
          <a:xfrm>
            <a:off x="2651760" y="2834640"/>
            <a:ext cx="2103120" cy="1463040"/>
          </a:xfrm>
          <a:prstGeom prst="roundRect">
            <a:avLst>
              <a:gd name="adj" fmla="val 8750"/>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9" name="a2_248"/>
          <p:cNvSpPr txBox="1"/>
          <p:nvPr/>
        </p:nvSpPr>
        <p:spPr>
          <a:xfrm>
            <a:off x="2788920" y="2834640"/>
            <a:ext cx="1828800" cy="1463040"/>
          </a:xfrm>
          <a:prstGeom prst="rect">
            <a:avLst/>
          </a:prstGeom>
          <a:noFill/>
          <a:ln/>
        </p:spPr>
        <p:txBody>
          <a:bodyPr wrap="square" lIns="0" tIns="0" rIns="0" bIns="0" rtlCol="0" anchor="ctr"/>
          <a:lstStyle/>
          <a:p>
            <a:pPr algn="ctr" indent="0" marL="0">
              <a:buNone/>
            </a:pPr>
            <a:r>
              <a:rPr lang="en-US" sz="1600" b="1" dirty="0">
                <a:solidFill>
                  <a:schemeClr val="bg1"/>
                </a:solidFill>
              </a:rPr>
              <a:t>Console de gestion</a:t>
            </a:r>
            <a:endParaRPr lang="en-US" sz="1600" dirty="0"/>
          </a:p>
          <a:p>
            <a:pPr algn="ctr" indent="0" marL="0">
              <a:buNone/>
            </a:pPr>
            <a:r>
              <a:rPr lang="en-US" sz="1300" dirty="0">
                <a:solidFill>
                  <a:schemeClr val="bg1"/>
                </a:solidFill>
              </a:rPr>
              <a:t>dans le cloud (ou sur site)</a:t>
            </a:r>
            <a:endParaRPr lang="en-US" sz="1600" dirty="0"/>
          </a:p>
        </p:txBody>
      </p:sp>
      <p:sp>
        <p:nvSpPr>
          <p:cNvPr id="10" name="a3_249"/>
          <p:cNvSpPr/>
          <p:nvPr/>
        </p:nvSpPr>
        <p:spPr>
          <a:xfrm>
            <a:off x="4846320" y="3566160"/>
            <a:ext cx="822960" cy="0"/>
          </a:xfrm>
          <a:prstGeom prst="line">
            <a:avLst/>
          </a:prstGeom>
          <a:noFill/>
          <a:ln w="38100">
            <a:solidFill>
              <a:schemeClr val="accent1"/>
            </a:solidFill>
            <a:prstDash val="solid"/>
            <a:headEnd type="triangle"/>
            <a:tailEnd type="triangle"/>
          </a:ln>
        </p:spPr>
      </p:sp>
      <p:sp>
        <p:nvSpPr>
          <p:cNvPr id="11" name="a3_250"/>
          <p:cNvSpPr/>
          <p:nvPr/>
        </p:nvSpPr>
        <p:spPr>
          <a:xfrm>
            <a:off x="5852160" y="1600200"/>
            <a:ext cx="3931920" cy="3931920"/>
          </a:xfrm>
          <a:prstGeom prst="ellipse">
            <a:avLst/>
          </a:prstGeom>
          <a:solidFill>
            <a:schemeClr val="bg2"/>
          </a:solidFill>
          <a:ln w="19050">
            <a:solidFill>
              <a:schemeClr val="accent4"/>
            </a:solidFill>
            <a:prstDash val="dash"/>
          </a:ln>
        </p:spPr>
      </p:sp>
      <p:sp>
        <p:nvSpPr>
          <p:cNvPr id="12" name="a3_251"/>
          <p:cNvSpPr/>
          <p:nvPr/>
        </p:nvSpPr>
        <p:spPr>
          <a:xfrm>
            <a:off x="7406640" y="3154680"/>
            <a:ext cx="822960" cy="822960"/>
          </a:xfrm>
          <a:prstGeom prst="ellipse">
            <a:avLst/>
          </a:prstGeom>
          <a:solidFill>
            <a:schemeClr val="accent1"/>
          </a:solidFill>
          <a:ln w="12700">
            <a:solidFill>
              <a:schemeClr val="accent1"/>
            </a:solidFill>
            <a:prstDash val="solid"/>
          </a:ln>
        </p:spPr>
      </p:sp>
      <p:pic>
        <p:nvPicPr>
          <p:cNvPr id="13" name="a3_252" descr="preencoded.png">    </p:cNvPr>
          <p:cNvPicPr>
            <a:picLocks noChangeAspect="1"/>
          </p:cNvPicPr>
          <p:nvPr/>
        </p:nvPicPr>
        <p:blipFill>
          <a:blip r:embed="rId2"/>
          <a:stretch>
            <a:fillRect/>
          </a:stretch>
        </p:blipFill>
        <p:spPr>
          <a:xfrm>
            <a:off x="7620610" y="3368650"/>
            <a:ext cx="395021" cy="395021"/>
          </a:xfrm>
          <a:prstGeom prst="rect">
            <a:avLst/>
          </a:prstGeom>
        </p:spPr>
      </p:pic>
      <p:sp>
        <p:nvSpPr>
          <p:cNvPr id="14" name="a4_253"/>
          <p:cNvSpPr/>
          <p:nvPr/>
        </p:nvSpPr>
        <p:spPr>
          <a:xfrm>
            <a:off x="7498080" y="1737360"/>
            <a:ext cx="640080" cy="640080"/>
          </a:xfrm>
          <a:prstGeom prst="ellipse">
            <a:avLst/>
          </a:prstGeom>
          <a:solidFill>
            <a:schemeClr val="bg1"/>
          </a:solidFill>
          <a:ln w="12700">
            <a:solidFill>
              <a:schemeClr val="bg1"/>
            </a:solidFill>
            <a:prstDash val="solid"/>
          </a:ln>
        </p:spPr>
      </p:sp>
      <p:pic>
        <p:nvPicPr>
          <p:cNvPr id="15" name="a4_254" descr="preencoded.png">    </p:cNvPr>
          <p:cNvPicPr>
            <a:picLocks noChangeAspect="1"/>
          </p:cNvPicPr>
          <p:nvPr/>
        </p:nvPicPr>
        <p:blipFill>
          <a:blip r:embed="rId3"/>
          <a:stretch>
            <a:fillRect/>
          </a:stretch>
        </p:blipFill>
        <p:spPr>
          <a:xfrm>
            <a:off x="7664501" y="1903781"/>
            <a:ext cx="307238" cy="307238"/>
          </a:xfrm>
          <a:prstGeom prst="rect">
            <a:avLst/>
          </a:prstGeom>
        </p:spPr>
      </p:pic>
      <p:sp>
        <p:nvSpPr>
          <p:cNvPr id="16" name="a4_255"/>
          <p:cNvSpPr/>
          <p:nvPr/>
        </p:nvSpPr>
        <p:spPr>
          <a:xfrm>
            <a:off x="8804704" y="2491740"/>
            <a:ext cx="640080" cy="640080"/>
          </a:xfrm>
          <a:prstGeom prst="ellipse">
            <a:avLst/>
          </a:prstGeom>
          <a:solidFill>
            <a:schemeClr val="bg1"/>
          </a:solidFill>
          <a:ln w="12700">
            <a:solidFill>
              <a:schemeClr val="bg1"/>
            </a:solidFill>
            <a:prstDash val="solid"/>
          </a:ln>
        </p:spPr>
      </p:sp>
      <p:pic>
        <p:nvPicPr>
          <p:cNvPr id="17" name="a4_256" descr="preencoded.png">    </p:cNvPr>
          <p:cNvPicPr>
            <a:picLocks noChangeAspect="1"/>
          </p:cNvPicPr>
          <p:nvPr/>
        </p:nvPicPr>
        <p:blipFill>
          <a:blip r:embed="rId4"/>
          <a:stretch>
            <a:fillRect/>
          </a:stretch>
        </p:blipFill>
        <p:spPr>
          <a:xfrm>
            <a:off x="8971125" y="2658161"/>
            <a:ext cx="307238" cy="307238"/>
          </a:xfrm>
          <a:prstGeom prst="rect">
            <a:avLst/>
          </a:prstGeom>
        </p:spPr>
      </p:pic>
      <p:sp>
        <p:nvSpPr>
          <p:cNvPr id="18" name="a4_257"/>
          <p:cNvSpPr/>
          <p:nvPr/>
        </p:nvSpPr>
        <p:spPr>
          <a:xfrm>
            <a:off x="8804704" y="4000500"/>
            <a:ext cx="640080" cy="640080"/>
          </a:xfrm>
          <a:prstGeom prst="ellipse">
            <a:avLst/>
          </a:prstGeom>
          <a:solidFill>
            <a:schemeClr val="bg1"/>
          </a:solidFill>
          <a:ln w="12700">
            <a:solidFill>
              <a:schemeClr val="bg1"/>
            </a:solidFill>
            <a:prstDash val="solid"/>
          </a:ln>
        </p:spPr>
      </p:sp>
      <p:pic>
        <p:nvPicPr>
          <p:cNvPr id="19" name="a4_258" descr="preencoded.png">    </p:cNvPr>
          <p:cNvPicPr>
            <a:picLocks noChangeAspect="1"/>
          </p:cNvPicPr>
          <p:nvPr/>
        </p:nvPicPr>
        <p:blipFill>
          <a:blip r:embed="rId5"/>
          <a:stretch>
            <a:fillRect/>
          </a:stretch>
        </p:blipFill>
        <p:spPr>
          <a:xfrm>
            <a:off x="8971125" y="4166921"/>
            <a:ext cx="307238" cy="307238"/>
          </a:xfrm>
          <a:prstGeom prst="rect">
            <a:avLst/>
          </a:prstGeom>
        </p:spPr>
      </p:pic>
      <p:sp>
        <p:nvSpPr>
          <p:cNvPr id="20" name="a4_259"/>
          <p:cNvSpPr/>
          <p:nvPr/>
        </p:nvSpPr>
        <p:spPr>
          <a:xfrm>
            <a:off x="7498080" y="4754880"/>
            <a:ext cx="640080" cy="640080"/>
          </a:xfrm>
          <a:prstGeom prst="ellipse">
            <a:avLst/>
          </a:prstGeom>
          <a:solidFill>
            <a:schemeClr val="bg1"/>
          </a:solidFill>
          <a:ln w="12700">
            <a:solidFill>
              <a:schemeClr val="bg1"/>
            </a:solidFill>
            <a:prstDash val="solid"/>
          </a:ln>
        </p:spPr>
      </p:sp>
      <p:pic>
        <p:nvPicPr>
          <p:cNvPr id="21" name="a4_260" descr="preencoded.png">    </p:cNvPr>
          <p:cNvPicPr>
            <a:picLocks noChangeAspect="1"/>
          </p:cNvPicPr>
          <p:nvPr/>
        </p:nvPicPr>
        <p:blipFill>
          <a:blip r:embed="rId6"/>
          <a:stretch>
            <a:fillRect/>
          </a:stretch>
        </p:blipFill>
        <p:spPr>
          <a:xfrm>
            <a:off x="7664501" y="4921301"/>
            <a:ext cx="307238" cy="307238"/>
          </a:xfrm>
          <a:prstGeom prst="rect">
            <a:avLst/>
          </a:prstGeom>
        </p:spPr>
      </p:pic>
      <p:sp>
        <p:nvSpPr>
          <p:cNvPr id="22" name="a4_261"/>
          <p:cNvSpPr/>
          <p:nvPr/>
        </p:nvSpPr>
        <p:spPr>
          <a:xfrm>
            <a:off x="6191456" y="4000500"/>
            <a:ext cx="640080" cy="640080"/>
          </a:xfrm>
          <a:prstGeom prst="ellipse">
            <a:avLst/>
          </a:prstGeom>
          <a:solidFill>
            <a:schemeClr val="bg1"/>
          </a:solidFill>
          <a:ln w="12700">
            <a:solidFill>
              <a:schemeClr val="bg1"/>
            </a:solidFill>
            <a:prstDash val="solid"/>
          </a:ln>
        </p:spPr>
      </p:sp>
      <p:pic>
        <p:nvPicPr>
          <p:cNvPr id="23" name="a4_262" descr="preencoded.png">    </p:cNvPr>
          <p:cNvPicPr>
            <a:picLocks noChangeAspect="1"/>
          </p:cNvPicPr>
          <p:nvPr/>
        </p:nvPicPr>
        <p:blipFill>
          <a:blip r:embed="rId7"/>
          <a:stretch>
            <a:fillRect/>
          </a:stretch>
        </p:blipFill>
        <p:spPr>
          <a:xfrm>
            <a:off x="6357876" y="4166921"/>
            <a:ext cx="307238" cy="307238"/>
          </a:xfrm>
          <a:prstGeom prst="rect">
            <a:avLst/>
          </a:prstGeom>
        </p:spPr>
      </p:pic>
      <p:sp>
        <p:nvSpPr>
          <p:cNvPr id="24" name="a4_263"/>
          <p:cNvSpPr/>
          <p:nvPr/>
        </p:nvSpPr>
        <p:spPr>
          <a:xfrm>
            <a:off x="6191456" y="2491740"/>
            <a:ext cx="640080" cy="640080"/>
          </a:xfrm>
          <a:prstGeom prst="ellipse">
            <a:avLst/>
          </a:prstGeom>
          <a:solidFill>
            <a:schemeClr val="bg1"/>
          </a:solidFill>
          <a:ln w="12700">
            <a:solidFill>
              <a:schemeClr val="bg1"/>
            </a:solidFill>
            <a:prstDash val="solid"/>
          </a:ln>
        </p:spPr>
      </p:sp>
      <p:pic>
        <p:nvPicPr>
          <p:cNvPr id="25" name="a4_264" descr="preencoded.png">    </p:cNvPr>
          <p:cNvPicPr>
            <a:picLocks noChangeAspect="1"/>
          </p:cNvPicPr>
          <p:nvPr/>
        </p:nvPicPr>
        <p:blipFill>
          <a:blip r:embed="rId8"/>
          <a:stretch>
            <a:fillRect/>
          </a:stretch>
        </p:blipFill>
        <p:spPr>
          <a:xfrm>
            <a:off x="6357876" y="2658161"/>
            <a:ext cx="307238" cy="307238"/>
          </a:xfrm>
          <a:prstGeom prst="rect">
            <a:avLst/>
          </a:prstGeom>
        </p:spPr>
      </p:pic>
      <p:sp>
        <p:nvSpPr>
          <p:cNvPr id="26" name="a4_265"/>
          <p:cNvSpPr txBox="1"/>
          <p:nvPr/>
        </p:nvSpPr>
        <p:spPr>
          <a:xfrm>
            <a:off x="5486400" y="5623560"/>
            <a:ext cx="4663440" cy="365760"/>
          </a:xfrm>
          <a:prstGeom prst="rect">
            <a:avLst/>
          </a:prstGeom>
          <a:noFill/>
          <a:ln/>
        </p:spPr>
        <p:txBody>
          <a:bodyPr wrap="square" lIns="0" tIns="0" rIns="0" bIns="0" rtlCol="0" anchor="ctr"/>
          <a:lstStyle/>
          <a:p>
            <a:pPr algn="ctr" indent="0" marL="0">
              <a:buNone/>
            </a:pPr>
            <a:r>
              <a:rPr lang="en-US" sz="1400" b="1" dirty="0">
                <a:solidFill>
                  <a:schemeClr val="tx2"/>
                </a:solidFill>
              </a:rPr>
              <a:t>Windows · macOS · Linux · serveurs · Android · iOS</a:t>
            </a:r>
            <a:endParaRPr lang="en-US" sz="1400" dirty="0"/>
          </a:p>
        </p:txBody>
      </p:sp>
      <p:sp>
        <p:nvSpPr>
          <p:cNvPr id="27" name="a5_266"/>
          <p:cNvSpPr/>
          <p:nvPr/>
        </p:nvSpPr>
        <p:spPr>
          <a:xfrm>
            <a:off x="10058400" y="1737360"/>
            <a:ext cx="1600200" cy="777240"/>
          </a:xfrm>
          <a:prstGeom prst="roundRect">
            <a:avLst>
              <a:gd name="adj" fmla="val 16471"/>
            </a:avLst>
          </a:prstGeom>
          <a:solidFill>
            <a:schemeClr val="accent1"/>
          </a:solidFill>
          <a:ln w="12700">
            <a:solidFill>
              <a:schemeClr val="accent1"/>
            </a:solidFill>
            <a:prstDash val="solid"/>
          </a:ln>
        </p:spPr>
      </p:sp>
      <p:sp>
        <p:nvSpPr>
          <p:cNvPr id="28" name="a5_267"/>
          <p:cNvSpPr txBox="1"/>
          <p:nvPr/>
        </p:nvSpPr>
        <p:spPr>
          <a:xfrm>
            <a:off x="10104120" y="173736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Protection des terminaux</a:t>
            </a:r>
            <a:endParaRPr lang="en-US" sz="1200" dirty="0"/>
          </a:p>
        </p:txBody>
      </p:sp>
      <p:sp>
        <p:nvSpPr>
          <p:cNvPr id="29" name="a6_268"/>
          <p:cNvSpPr/>
          <p:nvPr/>
        </p:nvSpPr>
        <p:spPr>
          <a:xfrm>
            <a:off x="10058400" y="2697480"/>
            <a:ext cx="1600200" cy="777240"/>
          </a:xfrm>
          <a:prstGeom prst="roundRect">
            <a:avLst>
              <a:gd name="adj" fmla="val 16471"/>
            </a:avLst>
          </a:prstGeom>
          <a:solidFill>
            <a:schemeClr val="accent1"/>
          </a:solidFill>
          <a:ln w="12700">
            <a:solidFill>
              <a:schemeClr val="accent1"/>
            </a:solidFill>
            <a:prstDash val="solid"/>
          </a:ln>
        </p:spPr>
      </p:sp>
      <p:sp>
        <p:nvSpPr>
          <p:cNvPr id="30" name="a6_269"/>
          <p:cNvSpPr txBox="1"/>
          <p:nvPr/>
        </p:nvSpPr>
        <p:spPr>
          <a:xfrm>
            <a:off x="10104120" y="269748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Contrôles Web, appareils, applications</a:t>
            </a:r>
            <a:endParaRPr lang="en-US" sz="1200" dirty="0"/>
          </a:p>
        </p:txBody>
      </p:sp>
      <p:sp>
        <p:nvSpPr>
          <p:cNvPr id="31" name="a7_270"/>
          <p:cNvSpPr/>
          <p:nvPr/>
        </p:nvSpPr>
        <p:spPr>
          <a:xfrm>
            <a:off x="10058400" y="3657600"/>
            <a:ext cx="1600200" cy="777240"/>
          </a:xfrm>
          <a:prstGeom prst="roundRect">
            <a:avLst>
              <a:gd name="adj" fmla="val 16471"/>
            </a:avLst>
          </a:prstGeom>
          <a:solidFill>
            <a:schemeClr val="accent1"/>
          </a:solidFill>
          <a:ln w="12700">
            <a:solidFill>
              <a:schemeClr val="accent1"/>
            </a:solidFill>
            <a:prstDash val="solid"/>
          </a:ln>
        </p:spPr>
      </p:sp>
      <p:sp>
        <p:nvSpPr>
          <p:cNvPr id="32" name="a7_271"/>
          <p:cNvSpPr txBox="1"/>
          <p:nvPr/>
        </p:nvSpPr>
        <p:spPr>
          <a:xfrm>
            <a:off x="10104120" y="365760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Analyse des causes</a:t>
            </a:r>
            <a:endParaRPr lang="en-US" sz="1200" dirty="0"/>
          </a:p>
        </p:txBody>
      </p:sp>
      <p:sp>
        <p:nvSpPr>
          <p:cNvPr id="33" name="a8_272"/>
          <p:cNvSpPr/>
          <p:nvPr/>
        </p:nvSpPr>
        <p:spPr>
          <a:xfrm>
            <a:off x="10058400" y="4617720"/>
            <a:ext cx="1600200" cy="777240"/>
          </a:xfrm>
          <a:prstGeom prst="roundRect">
            <a:avLst>
              <a:gd name="adj" fmla="val 16471"/>
            </a:avLst>
          </a:prstGeom>
          <a:solidFill>
            <a:schemeClr val="accent1"/>
          </a:solidFill>
          <a:ln w="12700">
            <a:solidFill>
              <a:schemeClr val="accent1"/>
            </a:solidFill>
            <a:prstDash val="solid"/>
          </a:ln>
        </p:spPr>
      </p:sp>
      <p:sp>
        <p:nvSpPr>
          <p:cNvPr id="34" name="a8_273"/>
          <p:cNvSpPr txBox="1"/>
          <p:nvPr/>
        </p:nvSpPr>
        <p:spPr>
          <a:xfrm>
            <a:off x="10104120" y="461772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Campagnes de phishing simulées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4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51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6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2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8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5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6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7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7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8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95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201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207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80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86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70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76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315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32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Option sécurité</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Kaspersky Next </a:t>
            </a:r>
            <a:pPr algn="l" indent="0" marL="0">
              <a:buNone/>
            </a:pPr>
            <a:r>
              <a:rPr lang="en-US" sz="3200" b="1" dirty="0">
                <a:solidFill>
                  <a:schemeClr val="accent1"/>
                </a:solidFill>
              </a:rPr>
              <a:t>EDR Foundations</a:t>
            </a:r>
            <a:endParaRPr lang="en-US" sz="3200" dirty="0"/>
          </a:p>
        </p:txBody>
      </p:sp>
      <p:sp>
        <p:nvSpPr>
          <p:cNvPr id="4" name="a1_274"/>
          <p:cNvSpPr/>
          <p:nvPr/>
        </p:nvSpPr>
        <p:spPr>
          <a:xfrm>
            <a:off x="548640" y="160020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275"/>
          <p:cNvSpPr/>
          <p:nvPr/>
        </p:nvSpPr>
        <p:spPr>
          <a:xfrm>
            <a:off x="777240" y="1920240"/>
            <a:ext cx="640080" cy="640080"/>
          </a:xfrm>
          <a:prstGeom prst="ellipse">
            <a:avLst/>
          </a:prstGeom>
          <a:solidFill>
            <a:schemeClr val="accent1"/>
          </a:solidFill>
          <a:ln w="12700">
            <a:solidFill>
              <a:schemeClr val="accent1"/>
            </a:solidFill>
            <a:prstDash val="solid"/>
          </a:ln>
        </p:spPr>
      </p:sp>
      <p:pic>
        <p:nvPicPr>
          <p:cNvPr id="6" name="a1_276" descr="preencoded.png">    </p:cNvPr>
          <p:cNvPicPr>
            <a:picLocks noChangeAspect="1"/>
          </p:cNvPicPr>
          <p:nvPr/>
        </p:nvPicPr>
        <p:blipFill>
          <a:blip r:embed="rId1"/>
          <a:stretch>
            <a:fillRect/>
          </a:stretch>
        </p:blipFill>
        <p:spPr>
          <a:xfrm>
            <a:off x="943661" y="2086661"/>
            <a:ext cx="307238" cy="307238"/>
          </a:xfrm>
          <a:prstGeom prst="rect">
            <a:avLst/>
          </a:prstGeom>
        </p:spPr>
      </p:pic>
      <p:sp>
        <p:nvSpPr>
          <p:cNvPr id="7" name="a1_277"/>
          <p:cNvSpPr txBox="1"/>
          <p:nvPr/>
        </p:nvSpPr>
        <p:spPr>
          <a:xfrm>
            <a:off x="1600200" y="178308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Protège vos données</a:t>
            </a:r>
            <a:endParaRPr lang="en-US" sz="1500" dirty="0"/>
          </a:p>
        </p:txBody>
      </p:sp>
      <p:sp>
        <p:nvSpPr>
          <p:cNvPr id="8" name="a1_278"/>
          <p:cNvSpPr txBox="1"/>
          <p:nvPr/>
        </p:nvSpPr>
        <p:spPr>
          <a:xfrm>
            <a:off x="1600200" y="214884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Anti-ransomware et anti-malware éprouvés</a:t>
            </a:r>
            <a:endParaRPr lang="en-US" sz="1300" dirty="0"/>
          </a:p>
        </p:txBody>
      </p:sp>
      <p:sp>
        <p:nvSpPr>
          <p:cNvPr id="9" name="a1_279"/>
          <p:cNvSpPr/>
          <p:nvPr/>
        </p:nvSpPr>
        <p:spPr>
          <a:xfrm>
            <a:off x="4069080" y="160020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0" name="a1_280"/>
          <p:cNvSpPr/>
          <p:nvPr/>
        </p:nvSpPr>
        <p:spPr>
          <a:xfrm>
            <a:off x="4297680" y="1920240"/>
            <a:ext cx="640080" cy="640080"/>
          </a:xfrm>
          <a:prstGeom prst="ellipse">
            <a:avLst/>
          </a:prstGeom>
          <a:solidFill>
            <a:schemeClr val="accent1"/>
          </a:solidFill>
          <a:ln w="12700">
            <a:solidFill>
              <a:schemeClr val="accent1"/>
            </a:solidFill>
            <a:prstDash val="solid"/>
          </a:ln>
        </p:spPr>
      </p:sp>
      <p:pic>
        <p:nvPicPr>
          <p:cNvPr id="11" name="a1_281" descr="preencoded.png">    </p:cNvPr>
          <p:cNvPicPr>
            <a:picLocks noChangeAspect="1"/>
          </p:cNvPicPr>
          <p:nvPr/>
        </p:nvPicPr>
        <p:blipFill>
          <a:blip r:embed="rId2"/>
          <a:stretch>
            <a:fillRect/>
          </a:stretch>
        </p:blipFill>
        <p:spPr>
          <a:xfrm>
            <a:off x="4464101" y="2086661"/>
            <a:ext cx="307238" cy="307238"/>
          </a:xfrm>
          <a:prstGeom prst="rect">
            <a:avLst/>
          </a:prstGeom>
        </p:spPr>
      </p:pic>
      <p:sp>
        <p:nvSpPr>
          <p:cNvPr id="12" name="a1_282"/>
          <p:cNvSpPr txBox="1"/>
          <p:nvPr/>
        </p:nvSpPr>
        <p:spPr>
          <a:xfrm>
            <a:off x="5120640" y="178308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Bloque les malwares</a:t>
            </a:r>
            <a:endParaRPr lang="en-US" sz="1500" dirty="0"/>
          </a:p>
        </p:txBody>
      </p:sp>
      <p:sp>
        <p:nvSpPr>
          <p:cNvPr id="13" name="a1_283"/>
          <p:cNvSpPr txBox="1"/>
          <p:nvPr/>
        </p:nvSpPr>
        <p:spPr>
          <a:xfrm>
            <a:off x="5120640" y="214884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Connus et inconnus : fichiers, Web et e-mails</a:t>
            </a:r>
            <a:endParaRPr lang="en-US" sz="1300" dirty="0"/>
          </a:p>
        </p:txBody>
      </p:sp>
      <p:sp>
        <p:nvSpPr>
          <p:cNvPr id="14" name="a2_284"/>
          <p:cNvSpPr/>
          <p:nvPr/>
        </p:nvSpPr>
        <p:spPr>
          <a:xfrm>
            <a:off x="548640" y="306324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5" name="a2_285"/>
          <p:cNvSpPr/>
          <p:nvPr/>
        </p:nvSpPr>
        <p:spPr>
          <a:xfrm>
            <a:off x="777240" y="3383280"/>
            <a:ext cx="640080" cy="640080"/>
          </a:xfrm>
          <a:prstGeom prst="ellipse">
            <a:avLst/>
          </a:prstGeom>
          <a:solidFill>
            <a:schemeClr val="accent1"/>
          </a:solidFill>
          <a:ln w="12700">
            <a:solidFill>
              <a:schemeClr val="accent1"/>
            </a:solidFill>
            <a:prstDash val="solid"/>
          </a:ln>
        </p:spPr>
      </p:sp>
      <p:pic>
        <p:nvPicPr>
          <p:cNvPr id="16" name="a2_286" descr="preencoded.png">    </p:cNvPr>
          <p:cNvPicPr>
            <a:picLocks noChangeAspect="1"/>
          </p:cNvPicPr>
          <p:nvPr/>
        </p:nvPicPr>
        <p:blipFill>
          <a:blip r:embed="rId3"/>
          <a:stretch>
            <a:fillRect/>
          </a:stretch>
        </p:blipFill>
        <p:spPr>
          <a:xfrm>
            <a:off x="943661" y="3549701"/>
            <a:ext cx="307238" cy="307238"/>
          </a:xfrm>
          <a:prstGeom prst="rect">
            <a:avLst/>
          </a:prstGeom>
        </p:spPr>
      </p:pic>
      <p:sp>
        <p:nvSpPr>
          <p:cNvPr id="17" name="a2_287"/>
          <p:cNvSpPr txBox="1"/>
          <p:nvPr/>
        </p:nvSpPr>
        <p:spPr>
          <a:xfrm>
            <a:off x="1600200" y="324612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Applications à jour</a:t>
            </a:r>
            <a:endParaRPr lang="en-US" sz="1500" dirty="0"/>
          </a:p>
        </p:txBody>
      </p:sp>
      <p:sp>
        <p:nvSpPr>
          <p:cNvPr id="18" name="a2_288"/>
          <p:cNvSpPr txBox="1"/>
          <p:nvPr/>
        </p:nvSpPr>
        <p:spPr>
          <a:xfrm>
            <a:off x="1600200" y="361188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Détection automatique des logiciels obsolètes</a:t>
            </a:r>
            <a:endParaRPr lang="en-US" sz="1300" dirty="0"/>
          </a:p>
        </p:txBody>
      </p:sp>
      <p:sp>
        <p:nvSpPr>
          <p:cNvPr id="19" name="a2_289"/>
          <p:cNvSpPr/>
          <p:nvPr/>
        </p:nvSpPr>
        <p:spPr>
          <a:xfrm>
            <a:off x="4069080" y="306324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0" name="a2_290"/>
          <p:cNvSpPr/>
          <p:nvPr/>
        </p:nvSpPr>
        <p:spPr>
          <a:xfrm>
            <a:off x="4297680" y="3383280"/>
            <a:ext cx="640080" cy="640080"/>
          </a:xfrm>
          <a:prstGeom prst="ellipse">
            <a:avLst/>
          </a:prstGeom>
          <a:solidFill>
            <a:schemeClr val="accent1"/>
          </a:solidFill>
          <a:ln w="12700">
            <a:solidFill>
              <a:schemeClr val="accent1"/>
            </a:solidFill>
            <a:prstDash val="solid"/>
          </a:ln>
        </p:spPr>
      </p:sp>
      <p:pic>
        <p:nvPicPr>
          <p:cNvPr id="21" name="a2_291" descr="preencoded.png">    </p:cNvPr>
          <p:cNvPicPr>
            <a:picLocks noChangeAspect="1"/>
          </p:cNvPicPr>
          <p:nvPr/>
        </p:nvPicPr>
        <p:blipFill>
          <a:blip r:embed="rId4"/>
          <a:stretch>
            <a:fillRect/>
          </a:stretch>
        </p:blipFill>
        <p:spPr>
          <a:xfrm>
            <a:off x="4464101" y="3549701"/>
            <a:ext cx="307238" cy="307238"/>
          </a:xfrm>
          <a:prstGeom prst="rect">
            <a:avLst/>
          </a:prstGeom>
        </p:spPr>
      </p:pic>
      <p:sp>
        <p:nvSpPr>
          <p:cNvPr id="22" name="a2_292"/>
          <p:cNvSpPr txBox="1"/>
          <p:nvPr/>
        </p:nvSpPr>
        <p:spPr>
          <a:xfrm>
            <a:off x="5120640" y="324612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Contrôle des usages</a:t>
            </a:r>
            <a:endParaRPr lang="en-US" sz="1500" dirty="0"/>
          </a:p>
        </p:txBody>
      </p:sp>
      <p:sp>
        <p:nvSpPr>
          <p:cNvPr id="23" name="a2_293"/>
          <p:cNvSpPr txBox="1"/>
          <p:nvPr/>
        </p:nvSpPr>
        <p:spPr>
          <a:xfrm>
            <a:off x="5120640" y="361188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Applications, Web et périphériques encadrés</a:t>
            </a:r>
            <a:endParaRPr lang="en-US" sz="1300" dirty="0"/>
          </a:p>
        </p:txBody>
      </p:sp>
      <p:sp>
        <p:nvSpPr>
          <p:cNvPr id="24" name="a3_294"/>
          <p:cNvSpPr/>
          <p:nvPr/>
        </p:nvSpPr>
        <p:spPr>
          <a:xfrm>
            <a:off x="548640" y="452628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5" name="a3_295"/>
          <p:cNvSpPr/>
          <p:nvPr/>
        </p:nvSpPr>
        <p:spPr>
          <a:xfrm>
            <a:off x="777240" y="4846320"/>
            <a:ext cx="640080" cy="640080"/>
          </a:xfrm>
          <a:prstGeom prst="ellipse">
            <a:avLst/>
          </a:prstGeom>
          <a:solidFill>
            <a:schemeClr val="accent1"/>
          </a:solidFill>
          <a:ln w="12700">
            <a:solidFill>
              <a:schemeClr val="accent1"/>
            </a:solidFill>
            <a:prstDash val="solid"/>
          </a:ln>
        </p:spPr>
      </p:sp>
      <p:pic>
        <p:nvPicPr>
          <p:cNvPr id="26" name="a3_296" descr="preencoded.png">    </p:cNvPr>
          <p:cNvPicPr>
            <a:picLocks noChangeAspect="1"/>
          </p:cNvPicPr>
          <p:nvPr/>
        </p:nvPicPr>
        <p:blipFill>
          <a:blip r:embed="rId5"/>
          <a:stretch>
            <a:fillRect/>
          </a:stretch>
        </p:blipFill>
        <p:spPr>
          <a:xfrm>
            <a:off x="943661" y="5012741"/>
            <a:ext cx="307238" cy="307238"/>
          </a:xfrm>
          <a:prstGeom prst="rect">
            <a:avLst/>
          </a:prstGeom>
        </p:spPr>
      </p:pic>
      <p:sp>
        <p:nvSpPr>
          <p:cNvPr id="27" name="a3_297"/>
          <p:cNvSpPr txBox="1"/>
          <p:nvPr/>
        </p:nvSpPr>
        <p:spPr>
          <a:xfrm>
            <a:off x="1600200" y="470916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Attaques avancées</a:t>
            </a:r>
            <a:endParaRPr lang="en-US" sz="1500" dirty="0"/>
          </a:p>
        </p:txBody>
      </p:sp>
      <p:sp>
        <p:nvSpPr>
          <p:cNvPr id="28" name="a3_298"/>
          <p:cNvSpPr txBox="1"/>
          <p:nvPr/>
        </p:nvSpPr>
        <p:spPr>
          <a:xfrm>
            <a:off x="1600200" y="507492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Détectées, éliminées, avec analyse des causes</a:t>
            </a:r>
            <a:endParaRPr lang="en-US" sz="1300" dirty="0"/>
          </a:p>
        </p:txBody>
      </p:sp>
      <p:sp>
        <p:nvSpPr>
          <p:cNvPr id="29" name="a3_299"/>
          <p:cNvSpPr/>
          <p:nvPr/>
        </p:nvSpPr>
        <p:spPr>
          <a:xfrm>
            <a:off x="4069080" y="452628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30" name="a3_300"/>
          <p:cNvSpPr/>
          <p:nvPr/>
        </p:nvSpPr>
        <p:spPr>
          <a:xfrm>
            <a:off x="4297680" y="4846320"/>
            <a:ext cx="640080" cy="640080"/>
          </a:xfrm>
          <a:prstGeom prst="ellipse">
            <a:avLst/>
          </a:prstGeom>
          <a:solidFill>
            <a:schemeClr val="accent1"/>
          </a:solidFill>
          <a:ln w="12700">
            <a:solidFill>
              <a:schemeClr val="accent1"/>
            </a:solidFill>
            <a:prstDash val="solid"/>
          </a:ln>
        </p:spPr>
      </p:sp>
      <p:pic>
        <p:nvPicPr>
          <p:cNvPr id="31" name="a3_301" descr="preencoded.png">    </p:cNvPr>
          <p:cNvPicPr>
            <a:picLocks noChangeAspect="1"/>
          </p:cNvPicPr>
          <p:nvPr/>
        </p:nvPicPr>
        <p:blipFill>
          <a:blip r:embed="rId6"/>
          <a:stretch>
            <a:fillRect/>
          </a:stretch>
        </p:blipFill>
        <p:spPr>
          <a:xfrm>
            <a:off x="4464101" y="5012741"/>
            <a:ext cx="307238" cy="307238"/>
          </a:xfrm>
          <a:prstGeom prst="rect">
            <a:avLst/>
          </a:prstGeom>
        </p:spPr>
      </p:pic>
      <p:sp>
        <p:nvSpPr>
          <p:cNvPr id="32" name="a3_302"/>
          <p:cNvSpPr txBox="1"/>
          <p:nvPr/>
        </p:nvSpPr>
        <p:spPr>
          <a:xfrm>
            <a:off x="5120640" y="470916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Alertes</a:t>
            </a:r>
            <a:endParaRPr lang="en-US" sz="1500" dirty="0"/>
          </a:p>
        </p:txBody>
      </p:sp>
      <p:sp>
        <p:nvSpPr>
          <p:cNvPr id="33" name="a3_303"/>
          <p:cNvSpPr txBox="1"/>
          <p:nvPr/>
        </p:nvSpPr>
        <p:spPr>
          <a:xfrm>
            <a:off x="5120640" y="507492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Activités suspectes et failles signalées</a:t>
            </a:r>
            <a:endParaRPr lang="en-US" sz="1300" dirty="0"/>
          </a:p>
        </p:txBody>
      </p:sp>
      <p:sp>
        <p:nvSpPr>
          <p:cNvPr id="34" name="a5_304"/>
          <p:cNvSpPr/>
          <p:nvPr/>
        </p:nvSpPr>
        <p:spPr>
          <a:xfrm>
            <a:off x="7772400" y="1645920"/>
            <a:ext cx="3840480" cy="4251960"/>
          </a:xfrm>
          <a:prstGeom prst="roundRect">
            <a:avLst>
              <a:gd name="adj" fmla="val 3333"/>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35" name="a5_305"/>
          <p:cNvSpPr/>
          <p:nvPr/>
        </p:nvSpPr>
        <p:spPr>
          <a:xfrm>
            <a:off x="8046720" y="1920240"/>
            <a:ext cx="822960" cy="822960"/>
          </a:xfrm>
          <a:prstGeom prst="ellipse">
            <a:avLst/>
          </a:prstGeom>
          <a:solidFill>
            <a:schemeClr val="accent2"/>
          </a:solidFill>
          <a:ln w="12700">
            <a:solidFill>
              <a:schemeClr val="accent2"/>
            </a:solidFill>
            <a:prstDash val="solid"/>
          </a:ln>
        </p:spPr>
      </p:sp>
      <p:pic>
        <p:nvPicPr>
          <p:cNvPr id="36" name="a5_306" descr="preencoded.png">    </p:cNvPr>
          <p:cNvPicPr>
            <a:picLocks noChangeAspect="1"/>
          </p:cNvPicPr>
          <p:nvPr/>
        </p:nvPicPr>
        <p:blipFill>
          <a:blip r:embed="rId7"/>
          <a:stretch>
            <a:fillRect/>
          </a:stretch>
        </p:blipFill>
        <p:spPr>
          <a:xfrm>
            <a:off x="8260690" y="2134210"/>
            <a:ext cx="395021" cy="395021"/>
          </a:xfrm>
          <a:prstGeom prst="rect">
            <a:avLst/>
          </a:prstGeom>
        </p:spPr>
      </p:pic>
      <p:sp>
        <p:nvSpPr>
          <p:cNvPr id="37" name="a5_307"/>
          <p:cNvSpPr txBox="1"/>
          <p:nvPr/>
        </p:nvSpPr>
        <p:spPr>
          <a:xfrm>
            <a:off x="8046720" y="2880360"/>
            <a:ext cx="3291840" cy="914400"/>
          </a:xfrm>
          <a:prstGeom prst="rect">
            <a:avLst/>
          </a:prstGeom>
          <a:noFill/>
          <a:ln/>
        </p:spPr>
        <p:txBody>
          <a:bodyPr wrap="square" lIns="0" tIns="0" rIns="0" bIns="0" rtlCol="0" anchor="t"/>
          <a:lstStyle/>
          <a:p>
            <a:pPr indent="0" marL="0">
              <a:buNone/>
            </a:pPr>
            <a:r>
              <a:rPr lang="en-US" sz="2200" b="1" dirty="0">
                <a:solidFill>
                  <a:schemeClr val="bg1"/>
                </a:solidFill>
              </a:rPr>
              <a:t>Combien vous coûterait une journée d'arrêt ?</a:t>
            </a:r>
            <a:endParaRPr lang="en-US" sz="2200" dirty="0"/>
          </a:p>
        </p:txBody>
      </p:sp>
      <p:sp>
        <p:nvSpPr>
          <p:cNvPr id="38" name="a6_308"/>
          <p:cNvSpPr txBox="1"/>
          <p:nvPr/>
        </p:nvSpPr>
        <p:spPr>
          <a:xfrm>
            <a:off x="8046720" y="3840480"/>
            <a:ext cx="3291840" cy="1188720"/>
          </a:xfrm>
          <a:prstGeom prst="rect">
            <a:avLst/>
          </a:prstGeom>
          <a:noFill/>
          <a:ln/>
        </p:spPr>
        <p:txBody>
          <a:bodyPr wrap="square" lIns="0" tIns="0" rIns="0" bIns="0" rtlCol="0" anchor="t"/>
          <a:lstStyle/>
          <a:p>
            <a:pPr indent="0" marL="0">
              <a:buNone/>
            </a:pPr>
            <a:r>
              <a:rPr lang="en-US" sz="1400" dirty="0">
                <a:solidFill>
                  <a:schemeClr val="accent4"/>
                </a:solidFill>
              </a:rPr>
              <a:t>Fichiers chiffrés, clients en attente, données perdues… La vraie question n'est pas le prix de la protection, mais celui d'une attaque.</a:t>
            </a:r>
            <a:endParaRPr lang="en-US" sz="1400" dirty="0"/>
          </a:p>
        </p:txBody>
      </p:sp>
      <p:sp>
        <p:nvSpPr>
          <p:cNvPr id="39" name="a7_309"/>
          <p:cNvSpPr/>
          <p:nvPr/>
        </p:nvSpPr>
        <p:spPr>
          <a:xfrm>
            <a:off x="8046720" y="5166360"/>
            <a:ext cx="3291840" cy="457200"/>
          </a:xfrm>
          <a:prstGeom prst="roundRect">
            <a:avLst>
              <a:gd name="adj" fmla="val 50000"/>
            </a:avLst>
          </a:prstGeom>
          <a:solidFill>
            <a:schemeClr val="accent2"/>
          </a:solidFill>
          <a:ln w="12700">
            <a:solidFill>
              <a:schemeClr val="accent2"/>
            </a:solidFill>
            <a:prstDash val="solid"/>
          </a:ln>
        </p:spPr>
      </p:sp>
      <p:sp>
        <p:nvSpPr>
          <p:cNvPr id="40" name="a7_310"/>
          <p:cNvSpPr txBox="1"/>
          <p:nvPr/>
        </p:nvSpPr>
        <p:spPr>
          <a:xfrm>
            <a:off x="8046720" y="5166360"/>
            <a:ext cx="3291840" cy="457200"/>
          </a:xfrm>
          <a:prstGeom prst="rect">
            <a:avLst/>
          </a:prstGeom>
          <a:noFill/>
          <a:ln/>
        </p:spPr>
        <p:txBody>
          <a:bodyPr wrap="square" lIns="0" tIns="0" rIns="0" bIns="0" rtlCol="0" anchor="ctr"/>
          <a:lstStyle/>
          <a:p>
            <a:pPr algn="ctr" indent="0" marL="0">
              <a:buNone/>
            </a:pPr>
            <a:r>
              <a:rPr lang="en-US" sz="1300" b="1" dirty="0">
                <a:solidFill>
                  <a:schemeClr val="bg1"/>
                </a:solidFill>
              </a:rPr>
              <a:t>Parlons-en · démonstration sur demande</a:t>
            </a:r>
            <a:endParaRPr lang="en-US" sz="1300" dirty="0"/>
          </a:p>
        </p:txBody>
      </p:sp>
      <p:sp>
        <p:nvSpPr>
          <p:cNvPr id="41" name="a7_31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100" i="1" dirty="0">
                <a:solidFill>
                  <a:schemeClr val="accent6"/>
                </a:solidFill>
              </a:rPr>
              <a:t>Option indépendante de l'infrastructure · offre adaptée à la taille de votre parc</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3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4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4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54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4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5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5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6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7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8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8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9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9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90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96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02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08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14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12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26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32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38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144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18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18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192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198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25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70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76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82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Prochaine étape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Prêt à reprendre le contrôle ?</a:t>
            </a:r>
            <a:endParaRPr lang="en-US" sz="4000" dirty="0"/>
          </a:p>
        </p:txBody>
      </p:sp>
      <p:sp>
        <p:nvSpPr>
          <p:cNvPr id="4" name="a1_312"/>
          <p:cNvSpPr txBox="1"/>
          <p:nvPr/>
        </p:nvSpPr>
        <p:spPr>
          <a:xfrm>
            <a:off x="731520" y="3749040"/>
            <a:ext cx="6400800" cy="548640"/>
          </a:xfrm>
          <a:prstGeom prst="rect">
            <a:avLst/>
          </a:prstGeom>
          <a:noFill/>
          <a:ln/>
        </p:spPr>
        <p:txBody>
          <a:bodyPr wrap="square" lIns="0" tIns="0" rIns="0" bIns="0" rtlCol="0" anchor="ctr"/>
          <a:lstStyle/>
          <a:p>
            <a:pPr indent="0" marL="0">
              <a:buNone/>
            </a:pPr>
            <a:r>
              <a:rPr lang="en-US" sz="2000" dirty="0">
                <a:solidFill>
                  <a:schemeClr val="accent4"/>
                </a:solidFill>
              </a:rPr>
              <a:t>Votre infrastructure opérationnelle en 1 à 2 semaines.</a:t>
            </a:r>
            <a:endParaRPr lang="en-US" sz="2000" dirty="0"/>
          </a:p>
        </p:txBody>
      </p:sp>
      <p:sp>
        <p:nvSpPr>
          <p:cNvPr id="5" name="a2_313"/>
          <p:cNvSpPr/>
          <p:nvPr/>
        </p:nvSpPr>
        <p:spPr>
          <a:xfrm>
            <a:off x="7863840" y="146304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6" name="a2_314"/>
          <p:cNvSpPr/>
          <p:nvPr/>
        </p:nvSpPr>
        <p:spPr>
          <a:xfrm>
            <a:off x="8092440" y="1691640"/>
            <a:ext cx="731520" cy="731520"/>
          </a:xfrm>
          <a:prstGeom prst="ellipse">
            <a:avLst/>
          </a:prstGeom>
          <a:solidFill>
            <a:schemeClr val="accent1"/>
          </a:solidFill>
          <a:ln w="12700">
            <a:solidFill>
              <a:schemeClr val="accent1"/>
            </a:solidFill>
            <a:prstDash val="solid"/>
          </a:ln>
        </p:spPr>
      </p:sp>
      <p:pic>
        <p:nvPicPr>
          <p:cNvPr id="7" name="a2_315" descr="preencoded.png">    </p:cNvPr>
          <p:cNvPicPr>
            <a:picLocks noChangeAspect="1"/>
          </p:cNvPicPr>
          <p:nvPr/>
        </p:nvPicPr>
        <p:blipFill>
          <a:blip r:embed="rId1"/>
          <a:stretch>
            <a:fillRect/>
          </a:stretch>
        </p:blipFill>
        <p:spPr>
          <a:xfrm>
            <a:off x="8282635" y="1881835"/>
            <a:ext cx="351130" cy="351130"/>
          </a:xfrm>
          <a:prstGeom prst="rect">
            <a:avLst/>
          </a:prstGeom>
        </p:spPr>
      </p:pic>
      <p:sp>
        <p:nvSpPr>
          <p:cNvPr id="8" name="a2_316"/>
          <p:cNvSpPr txBox="1"/>
          <p:nvPr/>
        </p:nvSpPr>
        <p:spPr>
          <a:xfrm>
            <a:off x="9006840" y="146304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Validation de la proposition</a:t>
            </a:r>
            <a:endParaRPr lang="en-US" sz="1600" dirty="0"/>
          </a:p>
        </p:txBody>
      </p:sp>
      <p:sp>
        <p:nvSpPr>
          <p:cNvPr id="9" name="a3_317"/>
          <p:cNvSpPr/>
          <p:nvPr/>
        </p:nvSpPr>
        <p:spPr>
          <a:xfrm>
            <a:off x="7863840" y="288036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10" name="a3_318"/>
          <p:cNvSpPr/>
          <p:nvPr/>
        </p:nvSpPr>
        <p:spPr>
          <a:xfrm>
            <a:off x="8092440" y="3108960"/>
            <a:ext cx="731520" cy="731520"/>
          </a:xfrm>
          <a:prstGeom prst="ellipse">
            <a:avLst/>
          </a:prstGeom>
          <a:solidFill>
            <a:schemeClr val="accent1"/>
          </a:solidFill>
          <a:ln w="12700">
            <a:solidFill>
              <a:schemeClr val="accent1"/>
            </a:solidFill>
            <a:prstDash val="solid"/>
          </a:ln>
        </p:spPr>
      </p:sp>
      <p:pic>
        <p:nvPicPr>
          <p:cNvPr id="11" name="a3_319" descr="preencoded.png">    </p:cNvPr>
          <p:cNvPicPr>
            <a:picLocks noChangeAspect="1"/>
          </p:cNvPicPr>
          <p:nvPr/>
        </p:nvPicPr>
        <p:blipFill>
          <a:blip r:embed="rId2"/>
          <a:stretch>
            <a:fillRect/>
          </a:stretch>
        </p:blipFill>
        <p:spPr>
          <a:xfrm>
            <a:off x="8282635" y="3299155"/>
            <a:ext cx="351130" cy="351130"/>
          </a:xfrm>
          <a:prstGeom prst="rect">
            <a:avLst/>
          </a:prstGeom>
        </p:spPr>
      </p:pic>
      <p:sp>
        <p:nvSpPr>
          <p:cNvPr id="12" name="a3_320"/>
          <p:cNvSpPr txBox="1"/>
          <p:nvPr/>
        </p:nvSpPr>
        <p:spPr>
          <a:xfrm>
            <a:off x="9006840" y="288036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Livraison et installation du serveur</a:t>
            </a:r>
            <a:endParaRPr lang="en-US" sz="1600" dirty="0"/>
          </a:p>
        </p:txBody>
      </p:sp>
      <p:sp>
        <p:nvSpPr>
          <p:cNvPr id="13" name="a4_321"/>
          <p:cNvSpPr/>
          <p:nvPr/>
        </p:nvSpPr>
        <p:spPr>
          <a:xfrm>
            <a:off x="7863840" y="429768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14" name="a4_322"/>
          <p:cNvSpPr/>
          <p:nvPr/>
        </p:nvSpPr>
        <p:spPr>
          <a:xfrm>
            <a:off x="8092440" y="4526280"/>
            <a:ext cx="731520" cy="731520"/>
          </a:xfrm>
          <a:prstGeom prst="ellipse">
            <a:avLst/>
          </a:prstGeom>
          <a:solidFill>
            <a:schemeClr val="accent1"/>
          </a:solidFill>
          <a:ln w="12700">
            <a:solidFill>
              <a:schemeClr val="accent1"/>
            </a:solidFill>
            <a:prstDash val="solid"/>
          </a:ln>
        </p:spPr>
      </p:sp>
      <p:pic>
        <p:nvPicPr>
          <p:cNvPr id="15" name="a4_323" descr="preencoded.png">    </p:cNvPr>
          <p:cNvPicPr>
            <a:picLocks noChangeAspect="1"/>
          </p:cNvPicPr>
          <p:nvPr/>
        </p:nvPicPr>
        <p:blipFill>
          <a:blip r:embed="rId3"/>
          <a:stretch>
            <a:fillRect/>
          </a:stretch>
        </p:blipFill>
        <p:spPr>
          <a:xfrm>
            <a:off x="8282635" y="4716475"/>
            <a:ext cx="351130" cy="351130"/>
          </a:xfrm>
          <a:prstGeom prst="rect">
            <a:avLst/>
          </a:prstGeom>
        </p:spPr>
      </p:pic>
      <p:sp>
        <p:nvSpPr>
          <p:cNvPr id="16" name="a4_324"/>
          <p:cNvSpPr txBox="1"/>
          <p:nvPr/>
        </p:nvSpPr>
        <p:spPr>
          <a:xfrm>
            <a:off x="9006840" y="429768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Mise en service et site en ligne</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63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0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35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41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53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Infra Bleu">
  <a:themeElements>
    <a:clrScheme name="Infra Bleu">
      <a:dk1>
        <a:srgbClr val="0B1B3F"/>
      </a:dk1>
      <a:lt1>
        <a:srgbClr val="FFFFFF"/>
      </a:lt1>
      <a:dk2>
        <a:srgbClr val="0B2A6F"/>
      </a:dk2>
      <a:lt2>
        <a:srgbClr val="EEF3FD"/>
      </a:lt2>
      <a:accent1>
        <a:srgbClr val="2F6BFF"/>
      </a:accent1>
      <a:accent2>
        <a:srgbClr val="00B8D4"/>
      </a:accent2>
      <a:accent3>
        <a:srgbClr val="7FA4FF"/>
      </a:accent3>
      <a:accent4>
        <a:srgbClr val="C9D8FF"/>
      </a:accent4>
      <a:accent5>
        <a:srgbClr val="16B37A"/>
      </a:accent5>
      <a:accent6>
        <a:srgbClr val="64748B"/>
      </a:accent6>
      <a:hlink>
        <a:srgbClr val="2F6BFF"/>
      </a:hlink>
      <a:folHlink>
        <a:srgbClr val="0B2A6F"/>
      </a:folHlink>
    </a:clrScheme>
    <a:fontScheme name="Infra Ble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Proposition – Infrastructure serveur pour PME</dc:title>
  <dc:subject>Proxmox, Windows Server, Active Directory, GPO, Tailscale</dc:subject>
  <dc:creator>PptxGenJS</dc:creator>
  <cp:lastModifiedBy>PptxGenJS</cp:lastModifiedBy>
  <cp:revision>1</cp:revision>
  <dcterms:created xsi:type="dcterms:W3CDTF">2026-10-30T03:09:46Z</dcterms:created>
  <dcterms:modified xsi:type="dcterms:W3CDTF">2026-10-30T03:09:46Z</dcterms:modified>
</cp:coreProperties>
</file>