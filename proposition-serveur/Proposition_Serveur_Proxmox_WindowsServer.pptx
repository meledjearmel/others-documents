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d7a6a69-af80-d05d-287d-16060f4fa823}">
          <p14:sldIdLst>
            <p14:sldId id="256"/>
            <p14:sldId id="257"/>
          </p14:sldIdLst>
        </p14:section>
        <p14:section name="Architecture" id="{75014c26-52b3-50c2-e375-b01ed2af7018}">
          <p14:sldIdLst>
            <p14:sldId id="258"/>
          </p14:sldIdLst>
        </p14:section>
        <p14:section name="Chiffrage" id="{9c32729b-f995-871f-9405-ef1d0b251683}">
          <p14:sldIdLst>
            <p14:sldId id="259"/>
            <p14:sldId id="260"/>
            <p14:sldId id="261"/>
            <p14:sldId id="262"/>
          </p14:sldIdLst>
        </p14:section>
        <p14:section name="Bonus" id="{2a2b43a2-a9bc-0bd8-ddf6-08c5be73046d}">
          <p14:sldIdLst>
            <p14:sldId id="263"/>
          </p14:sldIdLst>
        </p14:section>
        <p14:section name="Conclusion" id="{98a150b5-01c0-786d-7b1b-611cb1c6bd9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C6E"/>
              </a:solidFill>
              <a:effectLst/>
            </c:spPr>
          </c:dPt>
          <c:dPt>
            <c:idx val="1"/>
            <c:bubble3D val="0"/>
            <c:spPr>
              <a:solidFill>
                <a:srgbClr val="3A6B8C"/>
              </a:solidFill>
              <a:effectLst/>
            </c:spPr>
          </c:dPt>
          <c:dPt>
            <c:idx val="2"/>
            <c:bubble3D val="0"/>
            <c:spPr>
              <a:solidFill>
                <a:srgbClr val="E57A2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Serveur</c:v>
                </c:pt>
                <c:pt idx="1">
                  <c:v>Licence Windows</c:v>
                </c:pt>
                <c:pt idx="2">
                  <c:v>Installation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2200000</c:v>
                </c:pt>
                <c:pt idx="1">
                  <c:v>700000</c:v>
                </c:pt>
                <c:pt idx="2">
                  <c:v>750000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Prix indicatifs HT en FCFA – octobre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infrastructure informatique clé en main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Serveur Proxmox + Windows Server pour administrer les postes de votre entreprise — et votre site web vitrine offert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046720" y="1097280"/>
            <a:ext cx="3566160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126187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9620" y="1421892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052560" y="1188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Serveur Proxmox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046720" y="2286000"/>
            <a:ext cx="3566160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0" y="24505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620" y="2610612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052560" y="23774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Windows Server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046720" y="3474720"/>
            <a:ext cx="3566160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0" y="363931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9620" y="3799332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2560" y="35661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 · DNS · DHCP · GPO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8046720" y="4663440"/>
            <a:ext cx="3566160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229600" y="4828032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9620" y="4988052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52560" y="47548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Site vitrine offert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vous proposons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28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 serveur virtualisé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2423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Proxmox VE (gratuit) héberge Windows Server et laisse de la place pour évoluer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116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52360" y="1828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Des comptes centralisés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52360" y="2423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Active Directory : un compte par employé, connexion sur n'importe quel poste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68680" y="42062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3891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828800" y="42062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Des postes maîtrisés (GPO)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828800" y="4800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Mots de passe, mises à jour, restrictions et paramètres appliqués automatiquement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17220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92240" y="42062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3891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52360" y="42062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Une administration à distance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52360" y="4800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L'administrateur gère tout depuis n'importe où, en sécurité, via Tailscale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: simple et évolutive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498080" cy="402336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373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00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Serveur physique — Proxmox VE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22960" y="2377440"/>
            <a:ext cx="69494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1560" y="25603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860" y="267462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5603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Machine virtuelle · Windows Server 2025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1051560" y="3246120"/>
            <a:ext cx="1554480" cy="16459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3383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Active Directory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Comptes et groupes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715768" y="3246120"/>
            <a:ext cx="1554480" cy="16459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07208" y="3383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DNS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807208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Résolution des noms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379976" y="3246120"/>
            <a:ext cx="1554480" cy="16459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71416" y="3383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DHCP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4471416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Adresses IP des postes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044184" y="3246120"/>
            <a:ext cx="1554480" cy="16459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135624" y="3383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GPO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135624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Règles sur les postes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412480" y="1371600"/>
            <a:ext cx="3200400" cy="4023360"/>
          </a:xfrm>
          <a:prstGeom prst="roundRect">
            <a:avLst>
              <a:gd name="adj" fmla="val 3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686800" y="164592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828800"/>
            <a:ext cx="365760" cy="36576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686800" y="260604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Administrateur à distance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Tunnel chiffré Tailscale vers le serveur : aucun port ouvert sur Internet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5737860"/>
            <a:ext cx="228600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1887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Postes des employés joints au domaine (10 à 25)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Matériel et licence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420624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459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8516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Serveur tour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54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Dell T160 / HPE ML30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Xeon · 32 Go RAM · 2×960 Go SSD en RAID1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754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2 200 000 FCFA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343400" y="1371600"/>
            <a:ext cx="3611880" cy="420624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63440" y="164592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180" y="18516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Windows Server 2025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3154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Édition Standard 16 cœurs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Licence perpétuelle, 1 serveur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754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700 000 FCFA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8138160" y="137160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Gratuits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412480" y="23774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5374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23544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Proxmox VE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 abonnement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8412480" y="34747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63474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35440" y="3474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Tailscale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offre gratuite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412480" y="4754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0 FCFA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Onduleur recommandé (≈ 300 000 FCFA, non inclus). Sauvegarde et stockage : hors périmètre, à définir.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 et mise en service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680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813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Installation Proxmox VE, RAID, réseau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371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150 000 FCFA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7680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2585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258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1488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Windows Server : Active Directory, DNS, DHCP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250 000 FCFA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7680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0358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035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926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Stratégies de groupe (GPO) + intégration des postes au domaine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200 000 FCFA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7680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8130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7033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Accès distant administrateur via Tailscale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7033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50 000 FCFA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7680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45902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4805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Documentation + prise en main administrateur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480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100 000 FCFA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595360" y="1371600"/>
            <a:ext cx="3017520" cy="374904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69680" y="164592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828800"/>
            <a:ext cx="365760" cy="36576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86968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Forfait installation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1089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750 000 FCFA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8869680" y="3931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Mise en service en 1 à 2 semaines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Récapitulatif de l'investissement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49377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463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Serveur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1463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2 200 000 FCFA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Licence Windows Server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148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700 000 FCFA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Installation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2834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750 000 FCFA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1792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922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Total HT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43891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3 650 000 FCFA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5212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TVA 18 % en sus : 4 307 000 FCFA TTC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Après l'installation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FCFA / an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Aucune licence annuelle : Proxmox VE et Tailscale sont gratuits, Windows Server est perpétuel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9202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517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75 000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566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FCFA / mois · option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114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Maintenance : supervision, mises à jour, assistance à distance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92024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6517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≈ 30 000</a:t>
            </a:r>
            <a:endParaRPr lang="en-US" sz="44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566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FCFA / an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4114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Nom de domaine et hébergement du site vitrine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cadeau : votre site web vitrine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4480560"/>
          </a:xfrm>
          <a:prstGeom prst="roundRect">
            <a:avLst>
              <a:gd name="adj" fmla="val 244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783080"/>
            <a:ext cx="5212080" cy="3931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508760"/>
            <a:ext cx="164592" cy="16459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508760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83080"/>
            <a:ext cx="5212080" cy="17373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011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Entreprise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560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Votre slogan ici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3017520"/>
            <a:ext cx="1463040" cy="320040"/>
          </a:xfrm>
          <a:prstGeom prst="roundRect">
            <a:avLst>
              <a:gd name="adj" fmla="val 2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Nous contacter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60120" y="3749040"/>
            <a:ext cx="1417320" cy="173736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17320" y="3931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050" y="405765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60120" y="4572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Services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560320" y="3749040"/>
            <a:ext cx="1417320" cy="173736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17520" y="3931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0" y="4057650"/>
            <a:ext cx="251460" cy="2514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560320" y="4572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160520" y="3749040"/>
            <a:ext cx="1417320" cy="173736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617720" y="3931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450" y="4057650"/>
            <a:ext cx="251460" cy="2514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160520" y="4572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Contact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492240" y="1371600"/>
            <a:ext cx="219456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92240" y="1371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OFFERT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869680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Valeur 500 000 FCFA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6492240" y="22402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7970" y="236601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178040" y="22402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Adapté mobile, tablette et ordinateur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6492240" y="297180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970" y="3097530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178040" y="297180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 pages : Accueil, À propos, Services, Réalisations, Contact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6492240" y="370332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7970" y="3829050"/>
            <a:ext cx="251460" cy="25146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178040" y="37033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Formulaire de contact, Google Maps, WhatsApp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6492240" y="443484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7970" y="4560570"/>
            <a:ext cx="251460" cy="2514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178040" y="443484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Référencement de base et HTTPS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6492240" y="516636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7970" y="5292090"/>
            <a:ext cx="251460" cy="25146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7178040" y="516636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E-mails professionnels à votre nom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Votre infrastructure opérationnelle en 1 à 2 semaines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863840" y="1097280"/>
            <a:ext cx="37490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4173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6002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006840" y="12344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Valider le nombre de postes et les GPO souhaitées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863840" y="2697480"/>
            <a:ext cx="37490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92440" y="30175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2004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00684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Signature du devis et commande du serveur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4297680"/>
            <a:ext cx="37490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92440" y="46177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480060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06840" y="44348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Installation, mise en service et remise du site vitrine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fra PME">
  <a:themeElements>
    <a:clrScheme name="Infra PME">
      <a:dk1>
        <a:srgbClr val="1B1F24"/>
      </a:dk1>
      <a:lt1>
        <a:srgbClr val="FFFFFF"/>
      </a:lt1>
      <a:dk2>
        <a:srgbClr val="0F3D3E"/>
      </a:dk2>
      <a:lt2>
        <a:srgbClr val="EEF4F3"/>
      </a:lt2>
      <a:accent1>
        <a:srgbClr val="0F7C6E"/>
      </a:accent1>
      <a:accent2>
        <a:srgbClr val="E57A2E"/>
      </a:accent2>
      <a:accent3>
        <a:srgbClr val="3A6B8C"/>
      </a:accent3>
      <a:accent4>
        <a:srgbClr val="8FB8AE"/>
      </a:accent4>
      <a:accent5>
        <a:srgbClr val="C9D6D3"/>
      </a:accent5>
      <a:accent6>
        <a:srgbClr val="5C6670"/>
      </a:accent6>
      <a:hlink>
        <a:srgbClr val="0F7C6E"/>
      </a:hlink>
      <a:folHlink>
        <a:srgbClr val="3A6B8C"/>
      </a:folHlink>
    </a:clrScheme>
    <a:fontScheme name="Infra P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Proposition infrastructure serveur PME</dc:title>
  <dc:subject>PptxGenJS Presentation</dc:subject>
  <dc:creator>PptxGenJS</dc:creator>
  <cp:lastModifiedBy>PptxGenJS</cp:lastModifiedBy>
  <cp:revision>1</cp:revision>
  <dcterms:created xsi:type="dcterms:W3CDTF">2026-10-28T23:59:53Z</dcterms:created>
  <dcterms:modified xsi:type="dcterms:W3CDTF">2026-10-28T23:59:53Z</dcterms:modified>
</cp:coreProperties>
</file>