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ea01f0f-fd15-cea6-2855-63fbfe0b900b}">
          <p14:sldIdLst>
            <p14:sldId id="256"/>
          </p14:sldIdLst>
        </p14:section>
        <p14:section name="Le constat" id="{4ee3d018-3193-0371-63ec-aa3962e6cf44}">
          <p14:sldIdLst>
            <p14:sldId id="257"/>
            <p14:sldId id="258"/>
          </p14:sldIdLst>
        </p14:section>
        <p14:section name="La solution" id="{9406cd11-4fb1-d568-e8f8-8b2d1911f51c}">
          <p14:sldIdLst>
            <p14:sldId id="259"/>
            <p14:sldId id="260"/>
            <p14:sldId id="261"/>
            <p14:sldId id="262"/>
          </p14:sldIdLst>
        </p14:section>
        <p14:section name="Investissement" id="{f2c9a59d-de72-3f24-90f5-5c5a06e5f500}">
          <p14:sldIdLst>
            <p14:sldId id="263"/>
            <p14:sldId id="264"/>
            <p14:sldId id="265"/>
            <p14:sldId id="266"/>
          </p14:sldIdLst>
        </p14:section>
        <p14:section name="Option sécurité" id="{57dac7cb-0be2-7308-57dd-affef8e7e857}">
          <p14:sldIdLst>
            <p14:sldId id="267"/>
            <p14:sldId id="268"/>
            <p14:sldId id="269"/>
          </p14:sldIdLst>
        </p14:section>
        <p14:section name="Conclusion" id="{353f6f49-6cef-37c7-313d-e0e62f04e286}">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Accroche : aujourd'hui, l'informatique de l'entreprise fonctionne… jusqu'au jour où elle ne fonctionne plus. Cette proposition montre comment, avec un seul serveur, on passe d'un parc de postes isolés à un système géré, sécurisé et administré à distance — comme dans une grande entreprise, au budget d'une PME.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réagir le client : « Vous reconnaissez-vous à l'une de ces étapes ? » Avec 15 postes, l'entreprise est exactement au moment où le bricolage devient un risque. Chaque départ d'employé, chaque virus, chaque panne coûte du temps et de l'argent.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Laisser la phrase s'installer. Le message : on ne vend pas du matériel, on vend de la tranquillité et du contrôle.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couche par couche, de bas en haut : un serveur, Proxmox qui le rend évolutif, Windows Server qui est le standard mondial pour gérer un réseau d'entreprise, puis Active Directory et les GPO qui donnent le contrôle sur les 15 postes.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slide qui vend. Insister sur le départ d'un employé : aujourd'hui, un ancien salarié peut encore accéder aux données. Demain : un clic et c'est fini.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Tailscale crée un tunnel chiffré : l'administrateur gère tout le parc à distance, sans exposer le serveur sur Internet. Résultat : un problème réglé en quelques minutes, sans attendre un déplacement.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Rassurer : ce ne sont pas des solutions exotiques. Et surtout, pas d'abonnement : une fois installé, le système appartient à l'entreprise.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client n'a rien à gérer : du serveur jusqu'au dernier poste, tout est installé, configuré et testé. Le forfait couvre les 15 postes.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total puis ramener au coût par poste : environ 77 000 FCFA par poste, une seule fois. À comparer au coût d'une seule journée d'arrêt ou d'une perte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Rassurer : le client n'est pas laissé seul. Trois mois offerts pour qu'il constate la valeur, puis une maintenance trimestrielle à partir de 100 000 FCFA, à discuter selon ses besoins.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geste commercial : le site vitrine, d'une valeur de 365 000 FCFA, est offert. L'entreprise gagne à la fois un outil interne solide et une vitrine pour attirer de nouveaux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l'infrastructure organise le parc, mais il faut aussi le protéger. Cette option est indépendante de la proposition principale : le client peut la prendre maintenant ou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L'administrateur pilote la sécurité de tous les appareils depuis une seule console, à distance, comme pour le reste de l'infrastructure. Les postes, le serveur et les téléphones sont couverts.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comme une assurance : environ 40 000 FCFA par mois pour protéger 15 postes contre les ransomwares. Le coût d'une seule attaque (données perdues, jours d'arrêt) dépasse largement ce montant.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par une question fermée : « On planifie l'installation pour quelle semaine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uvertur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lair-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Bleu-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5852160" cy="201168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3" name="Text 0"/>
          <p:cNvSpPr/>
          <p:nvPr>
            <p:ph idx="101" type="body" hasCustomPrompt="1"/>
          </p:nvPr>
        </p:nvSpPr>
        <p:spPr>
          <a:xfrm>
            <a:off x="548640" y="4069080"/>
            <a:ext cx="5394960" cy="9144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ai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6"/>
                </a:solidFill>
              </a:rPr>
              <a:t>Proposition commerciale · Infrastructure informatique · Prix HT en FCFA</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eu">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6400800" cy="41148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
        <p:nvSpPr>
          <p:cNvPr id="3" name="Text 0"/>
          <p:cNvSpPr/>
          <p:nvPr>
            <p:ph idx="101" type="title" hasCustomPrompt="1"/>
          </p:nvPr>
        </p:nvSpPr>
        <p:spPr>
          <a:xfrm>
            <a:off x="731520" y="2468880"/>
            <a:ext cx="676656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3.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slideLayout" Target="../slideLayouts/slideLayout3.xml"/><Relationship Id="rId2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3.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1_0"/>
          <p:cNvSpPr/>
          <p:nvPr/>
        </p:nvSpPr>
        <p:spPr>
          <a:xfrm>
            <a:off x="548640" y="548640"/>
            <a:ext cx="548640" cy="548640"/>
          </a:xfrm>
          <a:prstGeom prst="ellipse">
            <a:avLst/>
          </a:prstGeom>
          <a:solidFill>
            <a:schemeClr val="accent1"/>
          </a:solidFill>
          <a:ln w="12700">
            <a:solidFill>
              <a:schemeClr val="accent1"/>
            </a:solidFill>
            <a:prstDash val="solid"/>
          </a:ln>
        </p:spPr>
      </p:sp>
      <p:pic>
        <p:nvPicPr>
          <p:cNvPr id="3" name="a1_1" descr="preencoded.png">    </p:cNvPr>
          <p:cNvPicPr>
            <a:picLocks noChangeAspect="1"/>
          </p:cNvPicPr>
          <p:nvPr/>
        </p:nvPicPr>
        <p:blipFill>
          <a:blip r:embed="rId1"/>
          <a:stretch>
            <a:fillRect/>
          </a:stretch>
        </p:blipFill>
        <p:spPr>
          <a:xfrm>
            <a:off x="691286" y="691286"/>
            <a:ext cx="263347" cy="263347"/>
          </a:xfrm>
          <a:prstGeom prst="rect">
            <a:avLst/>
          </a:prstGeom>
        </p:spPr>
      </p:pic>
      <p:sp>
        <p:nvSpPr>
          <p:cNvPr id="4" name="a1_2"/>
          <p:cNvSpPr txBox="1"/>
          <p:nvPr/>
        </p:nvSpPr>
        <p:spPr>
          <a:xfrm>
            <a:off x="1234440" y="548640"/>
            <a:ext cx="4572000" cy="548640"/>
          </a:xfrm>
          <a:prstGeom prst="rect">
            <a:avLst/>
          </a:prstGeom>
          <a:noFill/>
          <a:ln/>
        </p:spPr>
        <p:txBody>
          <a:bodyPr wrap="square" lIns="0" tIns="0" rIns="0" bIns="0" rtlCol="0" anchor="ctr"/>
          <a:lstStyle/>
          <a:p>
            <a:pPr indent="0" marL="0">
              <a:buNone/>
            </a:pPr>
            <a:r>
              <a:rPr lang="en-US" sz="1400" b="1" spc="200" kern="0" dirty="0">
                <a:solidFill>
                  <a:schemeClr val="accent1"/>
                </a:solidFill>
              </a:rPr>
              <a:t>PROPOSITION COMMERCIALE</a:t>
            </a:r>
            <a:endParaRPr lang="en-US" sz="1400" dirty="0"/>
          </a:p>
        </p:txBody>
      </p:sp>
      <p:sp>
        <p:nvSpPr>
          <p:cNvPr id="5" name="Text 0"/>
          <p:cNvSpPr/>
          <p:nvPr>
            <p:ph idx="100" type="title" hasCustomPrompt="1"/>
          </p:nvPr>
        </p:nvSpPr>
        <p:spPr>
          <a:xfrm>
            <a:off x="548640" y="1920240"/>
            <a:ext cx="5852160" cy="2011680"/>
          </a:xfrm>
          <a:prstGeom prst="rect">
            <a:avLst/>
          </a:prstGeom>
          <a:noFill/>
          <a:ln/>
        </p:spPr>
        <p:txBody>
          <a:bodyPr wrap="square" rtlCol="0" anchor="b"/>
          <a:lstStyle/>
          <a:p>
            <a:pPr algn="l" indent="0" marL="0">
              <a:buNone/>
            </a:pPr>
            <a:r>
              <a:rPr lang="en-US" sz="4400" b="1" dirty="0">
                <a:solidFill>
                  <a:schemeClr val="tx1"/>
                </a:solidFill>
              </a:rPr>
              <a:t>Reprenez le </a:t>
            </a:r>
            <a:pPr algn="l" indent="0" marL="0">
              <a:buNone/>
            </a:pPr>
            <a:r>
              <a:rPr lang="en-US" sz="4400" b="1" dirty="0">
                <a:solidFill>
                  <a:schemeClr val="accent1"/>
                </a:solidFill>
              </a:rPr>
              <a:t>contrôle</a:t>
            </a:r>
            <a:pPr algn="l" indent="0" marL="0">
              <a:buNone/>
            </a:pPr>
            <a:r>
              <a:rPr lang="en-US" sz="4400" b="1" dirty="0">
                <a:solidFill>
                  <a:schemeClr val="tx1"/>
                </a:solidFill>
              </a:rPr>
              <a:t> de votre parc informatique</a:t>
            </a:r>
            <a:endParaRPr lang="en-US" sz="4400" dirty="0"/>
          </a:p>
        </p:txBody>
      </p:sp>
      <p:sp>
        <p:nvSpPr>
          <p:cNvPr id="6" name="Text 0"/>
          <p:cNvSpPr/>
          <p:nvPr>
            <p:ph idx="101" type="body" hasCustomPrompt="1"/>
          </p:nvPr>
        </p:nvSpPr>
        <p:spPr>
          <a:xfrm>
            <a:off x="548640" y="4069080"/>
            <a:ext cx="5394960" cy="914400"/>
          </a:xfrm>
          <a:prstGeom prst="rect">
            <a:avLst/>
          </a:prstGeom>
          <a:noFill/>
          <a:ln/>
        </p:spPr>
        <p:txBody>
          <a:bodyPr wrap="square" rtlCol="0" anchor="t"/>
          <a:lstStyle/>
          <a:p>
            <a:pPr indent="0" marL="0">
              <a:buNone/>
            </a:pPr>
            <a:r>
              <a:rPr lang="en-US" sz="1800" dirty="0">
                <a:solidFill>
                  <a:schemeClr val="accent6"/>
                </a:solidFill>
              </a:rPr>
              <a:t>Un serveur, une administration centralisée, 15 postes sous contrôle — et votre site web offert.</a:t>
            </a:r>
            <a:endParaRPr lang="en-US" sz="1800" dirty="0"/>
          </a:p>
        </p:txBody>
      </p:sp>
      <p:sp>
        <p:nvSpPr>
          <p:cNvPr id="7" name="a2_3"/>
          <p:cNvSpPr/>
          <p:nvPr/>
        </p:nvSpPr>
        <p:spPr>
          <a:xfrm>
            <a:off x="548640" y="5257800"/>
            <a:ext cx="1463040" cy="384048"/>
          </a:xfrm>
          <a:prstGeom prst="roundRect">
            <a:avLst>
              <a:gd name="adj" fmla="val 50000"/>
            </a:avLst>
          </a:prstGeom>
          <a:solidFill>
            <a:schemeClr val="bg2"/>
          </a:solidFill>
          <a:ln w="12700">
            <a:solidFill>
              <a:schemeClr val="accent4"/>
            </a:solidFill>
            <a:prstDash val="solid"/>
          </a:ln>
        </p:spPr>
      </p:sp>
      <p:sp>
        <p:nvSpPr>
          <p:cNvPr id="8" name="a2_4"/>
          <p:cNvSpPr txBox="1"/>
          <p:nvPr/>
        </p:nvSpPr>
        <p:spPr>
          <a:xfrm>
            <a:off x="548640" y="5257800"/>
            <a:ext cx="1463040" cy="384048"/>
          </a:xfrm>
          <a:prstGeom prst="rect">
            <a:avLst/>
          </a:prstGeom>
          <a:noFill/>
          <a:ln/>
        </p:spPr>
        <p:txBody>
          <a:bodyPr wrap="square" lIns="0" tIns="0" rIns="0" bIns="0" rtlCol="0" anchor="ctr"/>
          <a:lstStyle/>
          <a:p>
            <a:pPr algn="ctr" indent="0" marL="0">
              <a:buNone/>
            </a:pPr>
            <a:r>
              <a:rPr lang="en-US" sz="1300" b="1" dirty="0">
                <a:solidFill>
                  <a:schemeClr val="tx2"/>
                </a:solidFill>
              </a:rPr>
              <a:t>Proxmox VE</a:t>
            </a:r>
            <a:endParaRPr lang="en-US" sz="1300" dirty="0"/>
          </a:p>
        </p:txBody>
      </p:sp>
      <p:sp>
        <p:nvSpPr>
          <p:cNvPr id="9" name="a2_5"/>
          <p:cNvSpPr/>
          <p:nvPr/>
        </p:nvSpPr>
        <p:spPr>
          <a:xfrm>
            <a:off x="2148840" y="5257800"/>
            <a:ext cx="1828800" cy="384048"/>
          </a:xfrm>
          <a:prstGeom prst="roundRect">
            <a:avLst>
              <a:gd name="adj" fmla="val 50000"/>
            </a:avLst>
          </a:prstGeom>
          <a:solidFill>
            <a:schemeClr val="bg2"/>
          </a:solidFill>
          <a:ln w="12700">
            <a:solidFill>
              <a:schemeClr val="accent4"/>
            </a:solidFill>
            <a:prstDash val="solid"/>
          </a:ln>
        </p:spPr>
      </p:sp>
      <p:sp>
        <p:nvSpPr>
          <p:cNvPr id="10" name="a2_6"/>
          <p:cNvSpPr txBox="1"/>
          <p:nvPr/>
        </p:nvSpPr>
        <p:spPr>
          <a:xfrm>
            <a:off x="2148840" y="5257800"/>
            <a:ext cx="1828800" cy="384048"/>
          </a:xfrm>
          <a:prstGeom prst="rect">
            <a:avLst/>
          </a:prstGeom>
          <a:noFill/>
          <a:ln/>
        </p:spPr>
        <p:txBody>
          <a:bodyPr wrap="square" lIns="0" tIns="0" rIns="0" bIns="0" rtlCol="0" anchor="ctr"/>
          <a:lstStyle/>
          <a:p>
            <a:pPr algn="ctr" indent="0" marL="0">
              <a:buNone/>
            </a:pPr>
            <a:r>
              <a:rPr lang="en-US" sz="1300" b="1" dirty="0">
                <a:solidFill>
                  <a:schemeClr val="tx2"/>
                </a:solidFill>
              </a:rPr>
              <a:t>Windows Server</a:t>
            </a:r>
            <a:endParaRPr lang="en-US" sz="1300" dirty="0"/>
          </a:p>
        </p:txBody>
      </p:sp>
      <p:sp>
        <p:nvSpPr>
          <p:cNvPr id="11" name="a2_7"/>
          <p:cNvSpPr/>
          <p:nvPr/>
        </p:nvSpPr>
        <p:spPr>
          <a:xfrm>
            <a:off x="4114800" y="5257800"/>
            <a:ext cx="2194560" cy="384048"/>
          </a:xfrm>
          <a:prstGeom prst="roundRect">
            <a:avLst>
              <a:gd name="adj" fmla="val 50000"/>
            </a:avLst>
          </a:prstGeom>
          <a:solidFill>
            <a:schemeClr val="bg2"/>
          </a:solidFill>
          <a:ln w="12700">
            <a:solidFill>
              <a:schemeClr val="accent4"/>
            </a:solidFill>
            <a:prstDash val="solid"/>
          </a:ln>
        </p:spPr>
      </p:sp>
      <p:sp>
        <p:nvSpPr>
          <p:cNvPr id="12" name="a2_8"/>
          <p:cNvSpPr txBox="1"/>
          <p:nvPr/>
        </p:nvSpPr>
        <p:spPr>
          <a:xfrm>
            <a:off x="4114800" y="5257800"/>
            <a:ext cx="2194560" cy="384048"/>
          </a:xfrm>
          <a:prstGeom prst="rect">
            <a:avLst/>
          </a:prstGeom>
          <a:noFill/>
          <a:ln/>
        </p:spPr>
        <p:txBody>
          <a:bodyPr wrap="square" lIns="0" tIns="0" rIns="0" bIns="0" rtlCol="0" anchor="ctr"/>
          <a:lstStyle/>
          <a:p>
            <a:pPr algn="ctr" indent="0" marL="0">
              <a:buNone/>
            </a:pPr>
            <a:r>
              <a:rPr lang="en-US" sz="1300" b="1" dirty="0">
                <a:solidFill>
                  <a:schemeClr val="tx2"/>
                </a:solidFill>
              </a:rPr>
              <a:t>Administration à distance</a:t>
            </a:r>
            <a:endParaRPr lang="en-US" sz="1300" dirty="0"/>
          </a:p>
        </p:txBody>
      </p:sp>
      <p:pic>
        <p:nvPicPr>
          <p:cNvPr id="13" name="a1_9" descr="preencoded.png">    </p:cNvPr>
          <p:cNvPicPr>
            <a:picLocks noChangeAspect="1"/>
          </p:cNvPicPr>
          <p:nvPr/>
        </p:nvPicPr>
        <p:blipFill>
          <a:blip r:embed="rId2"/>
          <a:stretch>
            <a:fillRect/>
          </a:stretch>
        </p:blipFill>
        <p:spPr>
          <a:xfrm>
            <a:off x="6309360" y="685800"/>
            <a:ext cx="5760720" cy="4608576"/>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6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anim calcmode="lin" valueType="num">
                                <p:cBhvr>
                                  <p:cTn id="11" dur="600" decel="100000" fill="hold"/>
                                  <p:tgtEl>
                                    <p:spTgt spid="3"/>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12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decel="100000" fill="hold"/>
                                  <p:tgtEl>
                                    <p:spTgt spid="4"/>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18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600"/>
                                  <p:tgtEl>
                                    <p:spTgt spid="13"/>
                                  </p:tgtEl>
                                </p:cBhvr>
                              </p:animEffect>
                              <p:anim calcmode="lin" valueType="num">
                                <p:cBhvr>
                                  <p:cTn id="19" dur="600" decel="100000" fill="hold"/>
                                  <p:tgtEl>
                                    <p:spTgt spid="13"/>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4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p:cTn id="23" dur="600" decel="100000" fill="hold"/>
                                  <p:tgtEl>
                                    <p:spTgt spid="7"/>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51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anim calcmode="lin" valueType="num">
                                <p:cBhvr>
                                  <p:cTn id="27" dur="600" decel="100000" fill="hold"/>
                                  <p:tgtEl>
                                    <p:spTgt spid="8"/>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57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anim calcmode="lin" valueType="num">
                                <p:cBhvr>
                                  <p:cTn id="31" dur="600" decel="100000" fill="hold"/>
                                  <p:tgtEl>
                                    <p:spTgt spid="9"/>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63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600"/>
                                  <p:tgtEl>
                                    <p:spTgt spid="10"/>
                                  </p:tgtEl>
                                </p:cBhvr>
                              </p:animEffect>
                              <p:anim calcmode="lin" valueType="num">
                                <p:cBhvr>
                                  <p:cTn id="35" dur="600" decel="100000" fill="hold"/>
                                  <p:tgtEl>
                                    <p:spTgt spid="10"/>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69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p:cTn id="39" dur="600" decel="100000" fill="hold"/>
                                  <p:tgtEl>
                                    <p:spTgt spid="11"/>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7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600"/>
                                  <p:tgtEl>
                                    <p:spTgt spid="12"/>
                                  </p:tgtEl>
                                </p:cBhvr>
                              </p:animEffect>
                              <p:anim calcmode="lin" valueType="num">
                                <p:cBhvr>
                                  <p:cTn id="43" dur="600" decel="100000" fill="hold"/>
                                  <p:tgtEl>
                                    <p:spTgt spid="12"/>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p>
            <a:pPr indent="0" marL="0">
              <a:buNone/>
            </a:pPr>
            <a:r>
              <a:rPr lang="en-US" sz="1400" b="1" dirty="0">
                <a:solidFill>
                  <a:schemeClr val="accent1"/>
                </a:solidFill>
              </a:rPr>
              <a:t>Le constat</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p>
            <a:pPr algn="l" indent="0" marL="0">
              <a:buNone/>
            </a:pPr>
            <a:r>
              <a:rPr lang="en-US" sz="3200" b="1" dirty="0">
                <a:solidFill>
                  <a:schemeClr val="tx1"/>
                </a:solidFill>
              </a:rPr>
              <a:t>Plus l'entreprise grandit, plus le </a:t>
            </a:r>
            <a:pPr algn="l" indent="0" marL="0">
              <a:buNone/>
            </a:pPr>
            <a:r>
              <a:rPr lang="en-US" sz="3200" b="1" dirty="0">
                <a:solidFill>
                  <a:schemeClr val="accent1"/>
                </a:solidFill>
              </a:rPr>
              <a:t>désordre coûte cher</a:t>
            </a:r>
            <a:endParaRPr lang="en-US" sz="3200" dirty="0"/>
          </a:p>
        </p:txBody>
      </p:sp>
      <p:pic>
        <p:nvPicPr>
          <p:cNvPr id="4" name="a1_10" descr="preencoded.png">    </p:cNvPr>
          <p:cNvPicPr>
            <a:picLocks noChangeAspect="1"/>
          </p:cNvPicPr>
          <p:nvPr/>
        </p:nvPicPr>
        <p:blipFill>
          <a:blip r:embed="rId1"/>
          <a:stretch>
            <a:fillRect/>
          </a:stretch>
        </p:blipFill>
        <p:spPr>
          <a:xfrm>
            <a:off x="0" y="0"/>
            <a:ext cx="12191695" cy="6858000"/>
          </a:xfrm>
          <a:prstGeom prst="rect">
            <a:avLst/>
          </a:prstGeom>
        </p:spPr>
      </p:pic>
      <p:sp>
        <p:nvSpPr>
          <p:cNvPr id="5" name="a2_11"/>
          <p:cNvSpPr/>
          <p:nvPr/>
        </p:nvSpPr>
        <p:spPr>
          <a:xfrm>
            <a:off x="2854604" y="5454999"/>
            <a:ext cx="256032" cy="256032"/>
          </a:xfrm>
          <a:prstGeom prst="ellipse">
            <a:avLst/>
          </a:prstGeom>
          <a:solidFill>
            <a:schemeClr val="accent1"/>
          </a:solidFill>
          <a:ln w="38100">
            <a:solidFill>
              <a:srgbClr val="FFFFFF"/>
            </a:solidFill>
            <a:prstDash val="solid"/>
          </a:ln>
        </p:spPr>
      </p:sp>
      <p:sp>
        <p:nvSpPr>
          <p:cNvPr id="6" name="a2_12"/>
          <p:cNvSpPr txBox="1"/>
          <p:nvPr/>
        </p:nvSpPr>
        <p:spPr>
          <a:xfrm>
            <a:off x="548640" y="4805775"/>
            <a:ext cx="3931920" cy="457200"/>
          </a:xfrm>
          <a:prstGeom prst="rect">
            <a:avLst/>
          </a:prstGeom>
          <a:noFill/>
          <a:ln/>
        </p:spPr>
        <p:txBody>
          <a:bodyPr wrap="square" lIns="0" tIns="0" rIns="0" bIns="0" rtlCol="0" anchor="b"/>
          <a:lstStyle/>
          <a:p>
            <a:pPr algn="l" indent="0" marL="0">
              <a:buNone/>
            </a:pPr>
            <a:r>
              <a:rPr lang="en-US" sz="1500" dirty="0">
                <a:solidFill>
                  <a:schemeClr val="tx1"/>
                </a:solidFill>
              </a:rPr>
              <a:t>Quelques postes : tout se règle « à la main »</a:t>
            </a:r>
            <a:endParaRPr lang="en-US" sz="1500" dirty="0"/>
          </a:p>
        </p:txBody>
      </p:sp>
      <p:sp>
        <p:nvSpPr>
          <p:cNvPr id="7" name="a3_13"/>
          <p:cNvSpPr/>
          <p:nvPr/>
        </p:nvSpPr>
        <p:spPr>
          <a:xfrm>
            <a:off x="5375442" y="4202744"/>
            <a:ext cx="256032" cy="256032"/>
          </a:xfrm>
          <a:prstGeom prst="ellipse">
            <a:avLst/>
          </a:prstGeom>
          <a:solidFill>
            <a:schemeClr val="accent1"/>
          </a:solidFill>
          <a:ln w="38100">
            <a:solidFill>
              <a:srgbClr val="FFFFFF"/>
            </a:solidFill>
            <a:prstDash val="solid"/>
          </a:ln>
        </p:spPr>
      </p:sp>
      <p:sp>
        <p:nvSpPr>
          <p:cNvPr id="8" name="a3_14"/>
          <p:cNvSpPr txBox="1"/>
          <p:nvPr/>
        </p:nvSpPr>
        <p:spPr>
          <a:xfrm>
            <a:off x="1342938" y="3782120"/>
            <a:ext cx="3931920" cy="457200"/>
          </a:xfrm>
          <a:prstGeom prst="rect">
            <a:avLst/>
          </a:prstGeom>
          <a:noFill/>
          <a:ln/>
        </p:spPr>
        <p:txBody>
          <a:bodyPr wrap="square" lIns="0" tIns="0" rIns="0" bIns="0" rtlCol="0" anchor="b"/>
          <a:lstStyle/>
          <a:p>
            <a:pPr algn="r" indent="0" marL="0">
              <a:buNone/>
            </a:pPr>
            <a:r>
              <a:rPr lang="en-US" sz="1500" dirty="0">
                <a:solidFill>
                  <a:schemeClr val="tx1"/>
                </a:solidFill>
              </a:rPr>
              <a:t>Les mots de passe circulent, chacun installe ce qu'il veut</a:t>
            </a:r>
            <a:endParaRPr lang="en-US" sz="1500" dirty="0"/>
          </a:p>
        </p:txBody>
      </p:sp>
      <p:sp>
        <p:nvSpPr>
          <p:cNvPr id="9" name="a4_15"/>
          <p:cNvSpPr/>
          <p:nvPr/>
        </p:nvSpPr>
        <p:spPr>
          <a:xfrm>
            <a:off x="7617554" y="2697991"/>
            <a:ext cx="256032" cy="256032"/>
          </a:xfrm>
          <a:prstGeom prst="ellipse">
            <a:avLst/>
          </a:prstGeom>
          <a:solidFill>
            <a:schemeClr val="accent1"/>
          </a:solidFill>
          <a:ln w="38100">
            <a:solidFill>
              <a:srgbClr val="FFFFFF"/>
            </a:solidFill>
            <a:prstDash val="solid"/>
          </a:ln>
        </p:spPr>
      </p:sp>
      <p:sp>
        <p:nvSpPr>
          <p:cNvPr id="10" name="a4_16"/>
          <p:cNvSpPr txBox="1"/>
          <p:nvPr/>
        </p:nvSpPr>
        <p:spPr>
          <a:xfrm>
            <a:off x="3585050" y="2277367"/>
            <a:ext cx="3931920" cy="457200"/>
          </a:xfrm>
          <a:prstGeom prst="rect">
            <a:avLst/>
          </a:prstGeom>
          <a:noFill/>
          <a:ln/>
        </p:spPr>
        <p:txBody>
          <a:bodyPr wrap="square" lIns="0" tIns="0" rIns="0" bIns="0" rtlCol="0" anchor="b"/>
          <a:lstStyle/>
          <a:p>
            <a:pPr algn="r" indent="0" marL="0">
              <a:buNone/>
            </a:pPr>
            <a:r>
              <a:rPr lang="en-US" sz="1500" dirty="0">
                <a:solidFill>
                  <a:schemeClr val="tx1"/>
                </a:solidFill>
              </a:rPr>
              <a:t>Personne ne sait plus qui a accès à quoi</a:t>
            </a:r>
            <a:endParaRPr lang="en-US" sz="1500" dirty="0"/>
          </a:p>
        </p:txBody>
      </p:sp>
      <p:sp>
        <p:nvSpPr>
          <p:cNvPr id="11" name="a5_17"/>
          <p:cNvSpPr/>
          <p:nvPr/>
        </p:nvSpPr>
        <p:spPr>
          <a:xfrm>
            <a:off x="10180107" y="1627129"/>
            <a:ext cx="256032" cy="256032"/>
          </a:xfrm>
          <a:prstGeom prst="ellipse">
            <a:avLst/>
          </a:prstGeom>
          <a:solidFill>
            <a:srgbClr val="E5484D"/>
          </a:solidFill>
          <a:ln w="38100">
            <a:solidFill>
              <a:srgbClr val="FFFFFF"/>
            </a:solidFill>
            <a:prstDash val="solid"/>
          </a:ln>
        </p:spPr>
      </p:sp>
      <p:sp>
        <p:nvSpPr>
          <p:cNvPr id="12" name="a5_18"/>
          <p:cNvSpPr txBox="1"/>
          <p:nvPr/>
        </p:nvSpPr>
        <p:spPr>
          <a:xfrm>
            <a:off x="5644683" y="1526545"/>
            <a:ext cx="4389120" cy="457200"/>
          </a:xfrm>
          <a:prstGeom prst="rect">
            <a:avLst/>
          </a:prstGeom>
          <a:noFill/>
          <a:ln/>
        </p:spPr>
        <p:txBody>
          <a:bodyPr wrap="square" lIns="0" tIns="0" rIns="0" bIns="0" rtlCol="0" anchor="ctr"/>
          <a:lstStyle/>
          <a:p>
            <a:pPr algn="r" indent="0" marL="0">
              <a:buNone/>
            </a:pPr>
            <a:r>
              <a:rPr lang="en-US" sz="1500" b="1" dirty="0">
                <a:solidFill>
                  <a:srgbClr val="C62828"/>
                </a:solidFill>
              </a:rPr>
              <a:t>Une panne ou une fuite de données peut tout arrêter</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4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51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9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p:cTn id="19" dur="600" decel="100000" fill="hold"/>
                                  <p:tgtEl>
                                    <p:spTgt spid="7"/>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96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13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141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anim calcmode="lin" valueType="num">
                                <p:cBhvr>
                                  <p:cTn id="31" dur="600" decel="100000" fill="hold"/>
                                  <p:tgtEl>
                                    <p:spTgt spid="10"/>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18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anim calcmode="lin" valueType="num">
                                <p:cBhvr>
                                  <p:cTn id="35" dur="600" decel="100000" fill="hold"/>
                                  <p:tgtEl>
                                    <p:spTgt spid="11"/>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186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6400800" cy="411480"/>
          </a:xfrm>
          <a:prstGeom prst="rect">
            <a:avLst/>
          </a:prstGeom>
          <a:noFill/>
          <a:ln/>
        </p:spPr>
        <p:txBody>
          <a:bodyPr wrap="square" rtlCol="0"/>
          <a:lstStyle/>
          <a:p>
            <a:pPr indent="0" marL="0">
              <a:buNone/>
            </a:pPr>
            <a:r>
              <a:rPr lang="en-US" sz="1800" dirty="0">
                <a:solidFill>
                  <a:schemeClr val="accent4"/>
                </a:solidFill>
              </a:rPr>
              <a:t>Notre réponse</a:t>
            </a:r>
            <a:endParaRPr lang="en-US" sz="1800" dirty="0"/>
          </a:p>
        </p:txBody>
      </p:sp>
      <p:sp>
        <p:nvSpPr>
          <p:cNvPr id="3" name="Text 0"/>
          <p:cNvSpPr/>
          <p:nvPr>
            <p:ph idx="101" type="title" hasCustomPrompt="1"/>
          </p:nvPr>
        </p:nvSpPr>
        <p:spPr>
          <a:xfrm>
            <a:off x="731520" y="2468880"/>
            <a:ext cx="6766560" cy="2011680"/>
          </a:xfrm>
          <a:prstGeom prst="rect">
            <a:avLst/>
          </a:prstGeom>
          <a:noFill/>
          <a:ln/>
        </p:spPr>
        <p:txBody>
          <a:bodyPr wrap="square" rtlCol="0" anchor="t"/>
          <a:lstStyle/>
          <a:p>
            <a:pPr algn="l" indent="0" marL="0">
              <a:buNone/>
            </a:pPr>
            <a:r>
              <a:rPr lang="en-US" sz="4000" b="1" dirty="0">
                <a:solidFill>
                  <a:schemeClr val="bg1"/>
                </a:solidFill>
              </a:rPr>
              <a:t>Un parc informatique géré, sécurisé et administrable à distance.</a:t>
            </a:r>
            <a:endParaRPr lang="en-US" sz="4000" dirty="0"/>
          </a:p>
        </p:txBody>
      </p:sp>
      <p:sp>
        <p:nvSpPr>
          <p:cNvPr id="4" name="a1_19"/>
          <p:cNvSpPr txBox="1"/>
          <p:nvPr/>
        </p:nvSpPr>
        <p:spPr>
          <a:xfrm>
            <a:off x="731520" y="4572000"/>
            <a:ext cx="6766560" cy="548640"/>
          </a:xfrm>
          <a:prstGeom prst="rect">
            <a:avLst/>
          </a:prstGeom>
          <a:noFill/>
          <a:ln/>
        </p:spPr>
        <p:txBody>
          <a:bodyPr wrap="square" lIns="0" tIns="0" rIns="0" bIns="0" rtlCol="0" anchor="ctr"/>
          <a:lstStyle/>
          <a:p>
            <a:pPr indent="0" marL="0">
              <a:buNone/>
            </a:pPr>
            <a:r>
              <a:rPr lang="en-US" sz="2000" i="1" dirty="0">
                <a:solidFill>
                  <a:schemeClr val="accent4"/>
                </a:solidFill>
              </a:rPr>
              <a:t>Comme dans une grande entreprise — au budget d'une PME.</a:t>
            </a:r>
            <a:endParaRPr lang="en-US" sz="20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p>
            <a:pPr indent="0" marL="0">
              <a:buNone/>
            </a:pPr>
            <a:r>
              <a:rPr lang="en-US" sz="1400" b="1" dirty="0">
                <a:solidFill>
                  <a:schemeClr val="accent1"/>
                </a:solidFill>
              </a:rPr>
              <a:t>La solution</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p>
            <a:pPr algn="l" indent="0" marL="0">
              <a:buNone/>
            </a:pPr>
            <a:r>
              <a:rPr lang="en-US" sz="3200" b="1" dirty="0">
                <a:solidFill>
                  <a:schemeClr val="tx1"/>
                </a:solidFill>
              </a:rPr>
              <a:t>Une infrastructure </a:t>
            </a:r>
            <a:pPr algn="l" indent="0" marL="0">
              <a:buNone/>
            </a:pPr>
            <a:r>
              <a:rPr lang="en-US" sz="3200" b="1" dirty="0">
                <a:solidFill>
                  <a:schemeClr val="accent1"/>
                </a:solidFill>
              </a:rPr>
              <a:t>en couches</a:t>
            </a:r>
            <a:pPr algn="l" indent="0" marL="0">
              <a:buNone/>
            </a:pPr>
            <a:r>
              <a:rPr lang="en-US" sz="3200" b="1" dirty="0">
                <a:solidFill>
                  <a:schemeClr val="tx1"/>
                </a:solidFill>
              </a:rPr>
              <a:t>, simple et solide</a:t>
            </a:r>
            <a:endParaRPr lang="en-US" sz="3200" dirty="0"/>
          </a:p>
        </p:txBody>
      </p:sp>
      <p:pic>
        <p:nvPicPr>
          <p:cNvPr id="4" name="a1_20" descr="preencoded.png">    </p:cNvPr>
          <p:cNvPicPr>
            <a:picLocks noChangeAspect="1"/>
          </p:cNvPicPr>
          <p:nvPr/>
        </p:nvPicPr>
        <p:blipFill>
          <a:blip r:embed="rId1"/>
          <a:stretch>
            <a:fillRect/>
          </a:stretch>
        </p:blipFill>
        <p:spPr>
          <a:xfrm>
            <a:off x="4733097" y="1325880"/>
            <a:ext cx="2725502" cy="5029200"/>
          </a:xfrm>
          <a:prstGeom prst="rect">
            <a:avLst/>
          </a:prstGeom>
        </p:spPr>
      </p:pic>
      <p:sp>
        <p:nvSpPr>
          <p:cNvPr id="5" name="a7_21"/>
          <p:cNvSpPr txBox="1"/>
          <p:nvPr/>
        </p:nvSpPr>
        <p:spPr>
          <a:xfrm>
            <a:off x="548640" y="5556897"/>
            <a:ext cx="2377440" cy="402336"/>
          </a:xfrm>
          <a:prstGeom prst="rect">
            <a:avLst/>
          </a:prstGeom>
          <a:noFill/>
          <a:ln/>
        </p:spPr>
        <p:txBody>
          <a:bodyPr wrap="square" lIns="0" tIns="0" rIns="0" bIns="0" rtlCol="0" anchor="ctr"/>
          <a:lstStyle/>
          <a:p>
            <a:pPr indent="0" marL="0">
              <a:buNone/>
            </a:pPr>
            <a:r>
              <a:rPr lang="en-US" sz="1600" b="1" dirty="0">
                <a:solidFill>
                  <a:schemeClr val="tx2"/>
                </a:solidFill>
              </a:rPr>
              <a:t>Serveur physique</a:t>
            </a:r>
            <a:endParaRPr lang="en-US" sz="1600" dirty="0"/>
          </a:p>
        </p:txBody>
      </p:sp>
      <p:sp>
        <p:nvSpPr>
          <p:cNvPr id="6" name="a7_22"/>
          <p:cNvSpPr/>
          <p:nvPr/>
        </p:nvSpPr>
        <p:spPr>
          <a:xfrm>
            <a:off x="2926080" y="5758065"/>
            <a:ext cx="2624667" cy="0"/>
          </a:xfrm>
          <a:prstGeom prst="line">
            <a:avLst/>
          </a:prstGeom>
          <a:noFill/>
          <a:ln w="15875">
            <a:solidFill>
              <a:schemeClr val="accent4"/>
            </a:solidFill>
            <a:prstDash val="dash"/>
          </a:ln>
        </p:spPr>
      </p:sp>
      <p:sp>
        <p:nvSpPr>
          <p:cNvPr id="7" name="a7_23"/>
          <p:cNvSpPr txBox="1"/>
          <p:nvPr/>
        </p:nvSpPr>
        <p:spPr>
          <a:xfrm>
            <a:off x="7641479" y="5529465"/>
            <a:ext cx="3998833" cy="457200"/>
          </a:xfrm>
          <a:prstGeom prst="rect">
            <a:avLst/>
          </a:prstGeom>
          <a:noFill/>
          <a:ln/>
        </p:spPr>
        <p:txBody>
          <a:bodyPr wrap="square" lIns="0" tIns="0" rIns="0" bIns="0" rtlCol="0" anchor="ctr"/>
          <a:lstStyle/>
          <a:p>
            <a:pPr indent="0" marL="0">
              <a:buNone/>
            </a:pPr>
            <a:r>
              <a:rPr lang="en-US" sz="1400" dirty="0">
                <a:solidFill>
                  <a:schemeClr val="accent6"/>
                </a:solidFill>
              </a:rPr>
              <a:t>Une machine dédiée, fiable, dans vos locaux</a:t>
            </a:r>
            <a:endParaRPr lang="en-US" sz="1400" dirty="0"/>
          </a:p>
        </p:txBody>
      </p:sp>
      <p:sp>
        <p:nvSpPr>
          <p:cNvPr id="8" name="a6_24"/>
          <p:cNvSpPr txBox="1"/>
          <p:nvPr/>
        </p:nvSpPr>
        <p:spPr>
          <a:xfrm>
            <a:off x="548640" y="4875522"/>
            <a:ext cx="2377440" cy="402336"/>
          </a:xfrm>
          <a:prstGeom prst="rect">
            <a:avLst/>
          </a:prstGeom>
          <a:noFill/>
          <a:ln/>
        </p:spPr>
        <p:txBody>
          <a:bodyPr wrap="square" lIns="0" tIns="0" rIns="0" bIns="0" rtlCol="0" anchor="ctr"/>
          <a:lstStyle/>
          <a:p>
            <a:pPr indent="0" marL="0">
              <a:buNone/>
            </a:pPr>
            <a:r>
              <a:rPr lang="en-US" sz="1600" b="1" dirty="0">
                <a:solidFill>
                  <a:schemeClr val="tx2"/>
                </a:solidFill>
              </a:rPr>
              <a:t>Proxmox VE</a:t>
            </a:r>
            <a:endParaRPr lang="en-US" sz="1600" dirty="0"/>
          </a:p>
        </p:txBody>
      </p:sp>
      <p:sp>
        <p:nvSpPr>
          <p:cNvPr id="9" name="a6_25"/>
          <p:cNvSpPr/>
          <p:nvPr/>
        </p:nvSpPr>
        <p:spPr>
          <a:xfrm>
            <a:off x="2926080" y="5076690"/>
            <a:ext cx="2624667" cy="0"/>
          </a:xfrm>
          <a:prstGeom prst="line">
            <a:avLst/>
          </a:prstGeom>
          <a:noFill/>
          <a:ln w="15875">
            <a:solidFill>
              <a:schemeClr val="accent4"/>
            </a:solidFill>
            <a:prstDash val="dash"/>
          </a:ln>
        </p:spPr>
      </p:sp>
      <p:sp>
        <p:nvSpPr>
          <p:cNvPr id="10" name="a6_26"/>
          <p:cNvSpPr txBox="1"/>
          <p:nvPr/>
        </p:nvSpPr>
        <p:spPr>
          <a:xfrm>
            <a:off x="7641479" y="4848090"/>
            <a:ext cx="3998833" cy="457200"/>
          </a:xfrm>
          <a:prstGeom prst="rect">
            <a:avLst/>
          </a:prstGeom>
          <a:noFill/>
          <a:ln/>
        </p:spPr>
        <p:txBody>
          <a:bodyPr wrap="square" lIns="0" tIns="0" rIns="0" bIns="0" rtlCol="0" anchor="ctr"/>
          <a:lstStyle/>
          <a:p>
            <a:pPr indent="0" marL="0">
              <a:buNone/>
            </a:pPr>
            <a:r>
              <a:rPr lang="en-US" sz="1400" dirty="0">
                <a:solidFill>
                  <a:schemeClr val="accent6"/>
                </a:solidFill>
              </a:rPr>
              <a:t>Virtualisation gratuite : le serveur peut évoluer</a:t>
            </a:r>
            <a:endParaRPr lang="en-US" sz="1400" dirty="0"/>
          </a:p>
        </p:txBody>
      </p:sp>
      <p:sp>
        <p:nvSpPr>
          <p:cNvPr id="11" name="a5_27"/>
          <p:cNvSpPr txBox="1"/>
          <p:nvPr/>
        </p:nvSpPr>
        <p:spPr>
          <a:xfrm>
            <a:off x="548640" y="4194146"/>
            <a:ext cx="2377440" cy="402336"/>
          </a:xfrm>
          <a:prstGeom prst="rect">
            <a:avLst/>
          </a:prstGeom>
          <a:noFill/>
          <a:ln/>
        </p:spPr>
        <p:txBody>
          <a:bodyPr wrap="square" lIns="0" tIns="0" rIns="0" bIns="0" rtlCol="0" anchor="ctr"/>
          <a:lstStyle/>
          <a:p>
            <a:pPr indent="0" marL="0">
              <a:buNone/>
            </a:pPr>
            <a:r>
              <a:rPr lang="en-US" sz="1600" b="1" dirty="0">
                <a:solidFill>
                  <a:schemeClr val="tx2"/>
                </a:solidFill>
              </a:rPr>
              <a:t>Windows Server</a:t>
            </a:r>
            <a:endParaRPr lang="en-US" sz="1600" dirty="0"/>
          </a:p>
        </p:txBody>
      </p:sp>
      <p:sp>
        <p:nvSpPr>
          <p:cNvPr id="12" name="a5_28"/>
          <p:cNvSpPr/>
          <p:nvPr/>
        </p:nvSpPr>
        <p:spPr>
          <a:xfrm>
            <a:off x="2926080" y="4395314"/>
            <a:ext cx="2624667" cy="0"/>
          </a:xfrm>
          <a:prstGeom prst="line">
            <a:avLst/>
          </a:prstGeom>
          <a:noFill/>
          <a:ln w="15875">
            <a:solidFill>
              <a:schemeClr val="accent4"/>
            </a:solidFill>
            <a:prstDash val="dash"/>
          </a:ln>
        </p:spPr>
      </p:sp>
      <p:sp>
        <p:nvSpPr>
          <p:cNvPr id="13" name="a5_29"/>
          <p:cNvSpPr txBox="1"/>
          <p:nvPr/>
        </p:nvSpPr>
        <p:spPr>
          <a:xfrm>
            <a:off x="7641479" y="4166714"/>
            <a:ext cx="3998833" cy="457200"/>
          </a:xfrm>
          <a:prstGeom prst="rect">
            <a:avLst/>
          </a:prstGeom>
          <a:noFill/>
          <a:ln/>
        </p:spPr>
        <p:txBody>
          <a:bodyPr wrap="square" lIns="0" tIns="0" rIns="0" bIns="0" rtlCol="0" anchor="ctr"/>
          <a:lstStyle/>
          <a:p>
            <a:pPr indent="0" marL="0">
              <a:buNone/>
            </a:pPr>
            <a:r>
              <a:rPr lang="en-US" sz="1400" dirty="0">
                <a:solidFill>
                  <a:schemeClr val="accent6"/>
                </a:solidFill>
              </a:rPr>
              <a:t>Le standard des entreprises pour gérer un réseau</a:t>
            </a:r>
            <a:endParaRPr lang="en-US" sz="1400" dirty="0"/>
          </a:p>
        </p:txBody>
      </p:sp>
      <p:sp>
        <p:nvSpPr>
          <p:cNvPr id="14" name="a4_30"/>
          <p:cNvSpPr txBox="1"/>
          <p:nvPr/>
        </p:nvSpPr>
        <p:spPr>
          <a:xfrm>
            <a:off x="548640" y="3512771"/>
            <a:ext cx="2377440" cy="402336"/>
          </a:xfrm>
          <a:prstGeom prst="rect">
            <a:avLst/>
          </a:prstGeom>
          <a:noFill/>
          <a:ln/>
        </p:spPr>
        <p:txBody>
          <a:bodyPr wrap="square" lIns="0" tIns="0" rIns="0" bIns="0" rtlCol="0" anchor="ctr"/>
          <a:lstStyle/>
          <a:p>
            <a:pPr indent="0" marL="0">
              <a:buNone/>
            </a:pPr>
            <a:r>
              <a:rPr lang="en-US" sz="1600" b="1" dirty="0">
                <a:solidFill>
                  <a:schemeClr val="tx2"/>
                </a:solidFill>
              </a:rPr>
              <a:t>AD · DNS · DHCP</a:t>
            </a:r>
            <a:endParaRPr lang="en-US" sz="1600" dirty="0"/>
          </a:p>
        </p:txBody>
      </p:sp>
      <p:sp>
        <p:nvSpPr>
          <p:cNvPr id="15" name="a4_31"/>
          <p:cNvSpPr/>
          <p:nvPr/>
        </p:nvSpPr>
        <p:spPr>
          <a:xfrm>
            <a:off x="2926080" y="3713939"/>
            <a:ext cx="2624667" cy="0"/>
          </a:xfrm>
          <a:prstGeom prst="line">
            <a:avLst/>
          </a:prstGeom>
          <a:noFill/>
          <a:ln w="15875">
            <a:solidFill>
              <a:schemeClr val="accent4"/>
            </a:solidFill>
            <a:prstDash val="dash"/>
          </a:ln>
        </p:spPr>
      </p:sp>
      <p:sp>
        <p:nvSpPr>
          <p:cNvPr id="16" name="a4_32"/>
          <p:cNvSpPr txBox="1"/>
          <p:nvPr/>
        </p:nvSpPr>
        <p:spPr>
          <a:xfrm>
            <a:off x="7641479" y="3485339"/>
            <a:ext cx="3998833" cy="457200"/>
          </a:xfrm>
          <a:prstGeom prst="rect">
            <a:avLst/>
          </a:prstGeom>
          <a:noFill/>
          <a:ln/>
        </p:spPr>
        <p:txBody>
          <a:bodyPr wrap="square" lIns="0" tIns="0" rIns="0" bIns="0" rtlCol="0" anchor="ctr"/>
          <a:lstStyle/>
          <a:p>
            <a:pPr indent="0" marL="0">
              <a:buNone/>
            </a:pPr>
            <a:r>
              <a:rPr lang="en-US" sz="1400" dirty="0">
                <a:solidFill>
                  <a:schemeClr val="accent6"/>
                </a:solidFill>
              </a:rPr>
              <a:t>Comptes, noms et adresses réseau centralisés</a:t>
            </a:r>
            <a:endParaRPr lang="en-US" sz="1400" dirty="0"/>
          </a:p>
        </p:txBody>
      </p:sp>
      <p:sp>
        <p:nvSpPr>
          <p:cNvPr id="17" name="a3_33"/>
          <p:cNvSpPr txBox="1"/>
          <p:nvPr/>
        </p:nvSpPr>
        <p:spPr>
          <a:xfrm>
            <a:off x="548640" y="2831395"/>
            <a:ext cx="2377440" cy="402336"/>
          </a:xfrm>
          <a:prstGeom prst="rect">
            <a:avLst/>
          </a:prstGeom>
          <a:noFill/>
          <a:ln/>
        </p:spPr>
        <p:txBody>
          <a:bodyPr wrap="square" lIns="0" tIns="0" rIns="0" bIns="0" rtlCol="0" anchor="ctr"/>
          <a:lstStyle/>
          <a:p>
            <a:pPr indent="0" marL="0">
              <a:buNone/>
            </a:pPr>
            <a:r>
              <a:rPr lang="en-US" sz="1600" b="1" dirty="0">
                <a:solidFill>
                  <a:schemeClr val="tx2"/>
                </a:solidFill>
              </a:rPr>
              <a:t>Stratégies GPO</a:t>
            </a:r>
            <a:endParaRPr lang="en-US" sz="1600" dirty="0"/>
          </a:p>
        </p:txBody>
      </p:sp>
      <p:sp>
        <p:nvSpPr>
          <p:cNvPr id="18" name="a3_34"/>
          <p:cNvSpPr/>
          <p:nvPr/>
        </p:nvSpPr>
        <p:spPr>
          <a:xfrm>
            <a:off x="2926080" y="3032563"/>
            <a:ext cx="2624667" cy="0"/>
          </a:xfrm>
          <a:prstGeom prst="line">
            <a:avLst/>
          </a:prstGeom>
          <a:noFill/>
          <a:ln w="15875">
            <a:solidFill>
              <a:schemeClr val="accent4"/>
            </a:solidFill>
            <a:prstDash val="dash"/>
          </a:ln>
        </p:spPr>
      </p:sp>
      <p:sp>
        <p:nvSpPr>
          <p:cNvPr id="19" name="a3_35"/>
          <p:cNvSpPr txBox="1"/>
          <p:nvPr/>
        </p:nvSpPr>
        <p:spPr>
          <a:xfrm>
            <a:off x="7641479" y="2803963"/>
            <a:ext cx="3998833" cy="457200"/>
          </a:xfrm>
          <a:prstGeom prst="rect">
            <a:avLst/>
          </a:prstGeom>
          <a:noFill/>
          <a:ln/>
        </p:spPr>
        <p:txBody>
          <a:bodyPr wrap="square" lIns="0" tIns="0" rIns="0" bIns="0" rtlCol="0" anchor="ctr"/>
          <a:lstStyle/>
          <a:p>
            <a:pPr indent="0" marL="0">
              <a:buNone/>
            </a:pPr>
            <a:r>
              <a:rPr lang="en-US" sz="1400" dirty="0">
                <a:solidFill>
                  <a:schemeClr val="accent6"/>
                </a:solidFill>
              </a:rPr>
              <a:t>Règles de sécurité appliquées automatiquement</a:t>
            </a:r>
            <a:endParaRPr lang="en-US" sz="1400" dirty="0"/>
          </a:p>
        </p:txBody>
      </p:sp>
      <p:sp>
        <p:nvSpPr>
          <p:cNvPr id="20" name="a2_36"/>
          <p:cNvSpPr txBox="1"/>
          <p:nvPr/>
        </p:nvSpPr>
        <p:spPr>
          <a:xfrm>
            <a:off x="548640" y="2150020"/>
            <a:ext cx="2377440" cy="402336"/>
          </a:xfrm>
          <a:prstGeom prst="rect">
            <a:avLst/>
          </a:prstGeom>
          <a:noFill/>
          <a:ln/>
        </p:spPr>
        <p:txBody>
          <a:bodyPr wrap="square" lIns="0" tIns="0" rIns="0" bIns="0" rtlCol="0" anchor="ctr"/>
          <a:lstStyle/>
          <a:p>
            <a:pPr indent="0" marL="0">
              <a:buNone/>
            </a:pPr>
            <a:r>
              <a:rPr lang="en-US" sz="1600" b="1" dirty="0">
                <a:solidFill>
                  <a:schemeClr val="accent1"/>
                </a:solidFill>
              </a:rPr>
              <a:t>15 postes</a:t>
            </a:r>
            <a:endParaRPr lang="en-US" sz="1600" dirty="0"/>
          </a:p>
        </p:txBody>
      </p:sp>
      <p:sp>
        <p:nvSpPr>
          <p:cNvPr id="21" name="a2_37"/>
          <p:cNvSpPr/>
          <p:nvPr/>
        </p:nvSpPr>
        <p:spPr>
          <a:xfrm>
            <a:off x="2926080" y="2351188"/>
            <a:ext cx="2624667" cy="0"/>
          </a:xfrm>
          <a:prstGeom prst="line">
            <a:avLst/>
          </a:prstGeom>
          <a:noFill/>
          <a:ln w="15875">
            <a:solidFill>
              <a:schemeClr val="accent4"/>
            </a:solidFill>
            <a:prstDash val="dash"/>
          </a:ln>
        </p:spPr>
      </p:sp>
      <p:sp>
        <p:nvSpPr>
          <p:cNvPr id="22" name="a2_38"/>
          <p:cNvSpPr txBox="1"/>
          <p:nvPr/>
        </p:nvSpPr>
        <p:spPr>
          <a:xfrm>
            <a:off x="7641479" y="2122588"/>
            <a:ext cx="3998833" cy="457200"/>
          </a:xfrm>
          <a:prstGeom prst="rect">
            <a:avLst/>
          </a:prstGeom>
          <a:noFill/>
          <a:ln/>
        </p:spPr>
        <p:txBody>
          <a:bodyPr wrap="square" lIns="0" tIns="0" rIns="0" bIns="0" rtlCol="0" anchor="ctr"/>
          <a:lstStyle/>
          <a:p>
            <a:pPr indent="0" marL="0">
              <a:buNone/>
            </a:pPr>
            <a:r>
              <a:rPr lang="en-US" sz="1400" dirty="0">
                <a:solidFill>
                  <a:schemeClr val="accent6"/>
                </a:solidFill>
              </a:rPr>
              <a:t>Chaque employé, son compte, son poste maîtrisé</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45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600"/>
                                  <p:tgtEl>
                                    <p:spTgt spid="20"/>
                                  </p:tgtEl>
                                </p:cBhvr>
                              </p:animEffect>
                              <p:anim calcmode="lin" valueType="num">
                                <p:cBhvr>
                                  <p:cTn id="11" dur="600" decel="100000" fill="hold"/>
                                  <p:tgtEl>
                                    <p:spTgt spid="20"/>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51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600"/>
                                  <p:tgtEl>
                                    <p:spTgt spid="21"/>
                                  </p:tgtEl>
                                </p:cBhvr>
                              </p:animEffect>
                              <p:anim calcmode="lin" valueType="num">
                                <p:cBhvr>
                                  <p:cTn id="15" dur="600" decel="100000" fill="hold"/>
                                  <p:tgtEl>
                                    <p:spTgt spid="21"/>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57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600"/>
                                  <p:tgtEl>
                                    <p:spTgt spid="22"/>
                                  </p:tgtEl>
                                </p:cBhvr>
                              </p:animEffect>
                              <p:anim calcmode="lin" valueType="num">
                                <p:cBhvr>
                                  <p:cTn id="19" dur="600" decel="100000" fill="hold"/>
                                  <p:tgtEl>
                                    <p:spTgt spid="22"/>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90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600"/>
                                  <p:tgtEl>
                                    <p:spTgt spid="17"/>
                                  </p:tgtEl>
                                </p:cBhvr>
                              </p:animEffect>
                              <p:anim calcmode="lin" valueType="num">
                                <p:cBhvr>
                                  <p:cTn id="23" dur="600" decel="100000" fill="hold"/>
                                  <p:tgtEl>
                                    <p:spTgt spid="17"/>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96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600"/>
                                  <p:tgtEl>
                                    <p:spTgt spid="18"/>
                                  </p:tgtEl>
                                </p:cBhvr>
                              </p:animEffect>
                              <p:anim calcmode="lin" valueType="num">
                                <p:cBhvr>
                                  <p:cTn id="27" dur="600" decel="100000" fill="hold"/>
                                  <p:tgtEl>
                                    <p:spTgt spid="18"/>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102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600"/>
                                  <p:tgtEl>
                                    <p:spTgt spid="19"/>
                                  </p:tgtEl>
                                </p:cBhvr>
                              </p:animEffect>
                              <p:anim calcmode="lin" valueType="num">
                                <p:cBhvr>
                                  <p:cTn id="31" dur="600" decel="100000" fill="hold"/>
                                  <p:tgtEl>
                                    <p:spTgt spid="19"/>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135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600"/>
                                  <p:tgtEl>
                                    <p:spTgt spid="14"/>
                                  </p:tgtEl>
                                </p:cBhvr>
                              </p:animEffect>
                              <p:anim calcmode="lin" valueType="num">
                                <p:cBhvr>
                                  <p:cTn id="35" dur="600" decel="100000" fill="hold"/>
                                  <p:tgtEl>
                                    <p:spTgt spid="14"/>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141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600"/>
                                  <p:tgtEl>
                                    <p:spTgt spid="15"/>
                                  </p:tgtEl>
                                </p:cBhvr>
                              </p:animEffect>
                              <p:anim calcmode="lin" valueType="num">
                                <p:cBhvr>
                                  <p:cTn id="39" dur="600" decel="100000" fill="hold"/>
                                  <p:tgtEl>
                                    <p:spTgt spid="15"/>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147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600"/>
                                  <p:tgtEl>
                                    <p:spTgt spid="16"/>
                                  </p:tgtEl>
                                </p:cBhvr>
                              </p:animEffect>
                              <p:anim calcmode="lin" valueType="num">
                                <p:cBhvr>
                                  <p:cTn id="43" dur="600" decel="100000" fill="hold"/>
                                  <p:tgtEl>
                                    <p:spTgt spid="16"/>
                                  </p:tgtEl>
                                  <p:attrNameLst>
                                    <p:attrName>ppt_y</p:attrName>
                                  </p:attrNameLst>
                                </p:cBhvr>
                                <p:tavLst>
                                  <p:tav tm="0">
                                    <p:val>
                                      <p:strVal val="#ppt_y+0.03"/>
                                    </p:val>
                                  </p:tav>
                                  <p:tav tm="100000">
                                    <p:val>
                                      <p:strVal val="#ppt_y"/>
                                    </p:val>
                                  </p:tav>
                                </p:tavLst>
                              </p:anim>
                            </p:childTnLst>
                          </p:cTn>
                        </p:par>
                        <p:par>
                          <p:cTn id="44" presetID="10" presetClass="entr" presetSubtype="0" fill="hold" nodeType="withEffect">
                            <p:stCondLst>
                              <p:cond delay="180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600"/>
                                  <p:tgtEl>
                                    <p:spTgt spid="11"/>
                                  </p:tgtEl>
                                </p:cBhvr>
                              </p:animEffect>
                              <p:anim calcmode="lin" valueType="num">
                                <p:cBhvr>
                                  <p:cTn id="47" dur="600" decel="100000" fill="hold"/>
                                  <p:tgtEl>
                                    <p:spTgt spid="11"/>
                                  </p:tgtEl>
                                  <p:attrNameLst>
                                    <p:attrName>ppt_y</p:attrName>
                                  </p:attrNameLst>
                                </p:cBhvr>
                                <p:tavLst>
                                  <p:tav tm="0">
                                    <p:val>
                                      <p:strVal val="#ppt_y+0.03"/>
                                    </p:val>
                                  </p:tav>
                                  <p:tav tm="100000">
                                    <p:val>
                                      <p:strVal val="#ppt_y"/>
                                    </p:val>
                                  </p:tav>
                                </p:tavLst>
                              </p:anim>
                            </p:childTnLst>
                          </p:cTn>
                        </p:par>
                        <p:par>
                          <p:cTn id="48" presetID="10" presetClass="entr" presetSubtype="0" fill="hold" nodeType="withEffect">
                            <p:stCondLst>
                              <p:cond delay="186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600"/>
                                  <p:tgtEl>
                                    <p:spTgt spid="12"/>
                                  </p:tgtEl>
                                </p:cBhvr>
                              </p:animEffect>
                              <p:anim calcmode="lin" valueType="num">
                                <p:cBhvr>
                                  <p:cTn id="51" dur="600" decel="100000" fill="hold"/>
                                  <p:tgtEl>
                                    <p:spTgt spid="12"/>
                                  </p:tgtEl>
                                  <p:attrNameLst>
                                    <p:attrName>ppt_y</p:attrName>
                                  </p:attrNameLst>
                                </p:cBhvr>
                                <p:tavLst>
                                  <p:tav tm="0">
                                    <p:val>
                                      <p:strVal val="#ppt_y+0.03"/>
                                    </p:val>
                                  </p:tav>
                                  <p:tav tm="100000">
                                    <p:val>
                                      <p:strVal val="#ppt_y"/>
                                    </p:val>
                                  </p:tav>
                                </p:tavLst>
                              </p:anim>
                            </p:childTnLst>
                          </p:cTn>
                        </p:par>
                        <p:par>
                          <p:cTn id="52" presetID="10" presetClass="entr" presetSubtype="0" fill="hold" nodeType="withEffect">
                            <p:stCondLst>
                              <p:cond delay="192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600"/>
                                  <p:tgtEl>
                                    <p:spTgt spid="13"/>
                                  </p:tgtEl>
                                </p:cBhvr>
                              </p:animEffect>
                              <p:anim calcmode="lin" valueType="num">
                                <p:cBhvr>
                                  <p:cTn id="55" dur="600" decel="100000" fill="hold"/>
                                  <p:tgtEl>
                                    <p:spTgt spid="13"/>
                                  </p:tgtEl>
                                  <p:attrNameLst>
                                    <p:attrName>ppt_y</p:attrName>
                                  </p:attrNameLst>
                                </p:cBhvr>
                                <p:tavLst>
                                  <p:tav tm="0">
                                    <p:val>
                                      <p:strVal val="#ppt_y+0.03"/>
                                    </p:val>
                                  </p:tav>
                                  <p:tav tm="100000">
                                    <p:val>
                                      <p:strVal val="#ppt_y"/>
                                    </p:val>
                                  </p:tav>
                                </p:tavLst>
                              </p:anim>
                            </p:childTnLst>
                          </p:cTn>
                        </p:par>
                        <p:par>
                          <p:cTn id="56" presetID="10" presetClass="entr" presetSubtype="0" fill="hold" nodeType="withEffect">
                            <p:stCondLst>
                              <p:cond delay="225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600"/>
                                  <p:tgtEl>
                                    <p:spTgt spid="8"/>
                                  </p:tgtEl>
                                </p:cBhvr>
                              </p:animEffect>
                              <p:anim calcmode="lin" valueType="num">
                                <p:cBhvr>
                                  <p:cTn id="59" dur="600" decel="100000" fill="hold"/>
                                  <p:tgtEl>
                                    <p:spTgt spid="8"/>
                                  </p:tgtEl>
                                  <p:attrNameLst>
                                    <p:attrName>ppt_y</p:attrName>
                                  </p:attrNameLst>
                                </p:cBhvr>
                                <p:tavLst>
                                  <p:tav tm="0">
                                    <p:val>
                                      <p:strVal val="#ppt_y+0.03"/>
                                    </p:val>
                                  </p:tav>
                                  <p:tav tm="100000">
                                    <p:val>
                                      <p:strVal val="#ppt_y"/>
                                    </p:val>
                                  </p:tav>
                                </p:tavLst>
                              </p:anim>
                            </p:childTnLst>
                          </p:cTn>
                        </p:par>
                        <p:par>
                          <p:cTn id="60" presetID="10" presetClass="entr" presetSubtype="0" fill="hold" nodeType="withEffect">
                            <p:stCondLst>
                              <p:cond delay="2310"/>
                            </p:stCondLst>
                            <p:childTnLst>
                              <p:set>
                                <p:cBhvr>
                                  <p:cTn id="61" dur="1" fill="hold">
                                    <p:stCondLst>
                                      <p:cond delay="0"/>
                                    </p:stCondLst>
                                  </p:cTn>
                                  <p:tgtEl>
                                    <p:spTgt spid="9"/>
                                  </p:tgtEl>
                                  <p:attrNameLst>
                                    <p:attrName>style.visibility</p:attrName>
                                  </p:attrNameLst>
                                </p:cBhvr>
                                <p:to>
                                  <p:strVal val="visible"/>
                                </p:to>
                              </p:set>
                              <p:animEffect transition="in" filter="fade">
                                <p:cBhvr>
                                  <p:cTn id="62" dur="600"/>
                                  <p:tgtEl>
                                    <p:spTgt spid="9"/>
                                  </p:tgtEl>
                                </p:cBhvr>
                              </p:animEffect>
                              <p:anim calcmode="lin" valueType="num">
                                <p:cBhvr>
                                  <p:cTn id="63" dur="600" decel="100000" fill="hold"/>
                                  <p:tgtEl>
                                    <p:spTgt spid="9"/>
                                  </p:tgtEl>
                                  <p:attrNameLst>
                                    <p:attrName>ppt_y</p:attrName>
                                  </p:attrNameLst>
                                </p:cBhvr>
                                <p:tavLst>
                                  <p:tav tm="0">
                                    <p:val>
                                      <p:strVal val="#ppt_y+0.03"/>
                                    </p:val>
                                  </p:tav>
                                  <p:tav tm="100000">
                                    <p:val>
                                      <p:strVal val="#ppt_y"/>
                                    </p:val>
                                  </p:tav>
                                </p:tavLst>
                              </p:anim>
                            </p:childTnLst>
                          </p:cTn>
                        </p:par>
                        <p:par>
                          <p:cTn id="64" presetID="10" presetClass="entr" presetSubtype="0" fill="hold" nodeType="withEffect">
                            <p:stCondLst>
                              <p:cond delay="2370"/>
                            </p:stCondLst>
                            <p:childTnLst>
                              <p:set>
                                <p:cBhvr>
                                  <p:cTn id="65" dur="1" fill="hold">
                                    <p:stCondLst>
                                      <p:cond delay="0"/>
                                    </p:stCondLst>
                                  </p:cTn>
                                  <p:tgtEl>
                                    <p:spTgt spid="10"/>
                                  </p:tgtEl>
                                  <p:attrNameLst>
                                    <p:attrName>style.visibility</p:attrName>
                                  </p:attrNameLst>
                                </p:cBhvr>
                                <p:to>
                                  <p:strVal val="visible"/>
                                </p:to>
                              </p:set>
                              <p:animEffect transition="in" filter="fade">
                                <p:cBhvr>
                                  <p:cTn id="66" dur="600"/>
                                  <p:tgtEl>
                                    <p:spTgt spid="10"/>
                                  </p:tgtEl>
                                </p:cBhvr>
                              </p:animEffect>
                              <p:anim calcmode="lin" valueType="num">
                                <p:cBhvr>
                                  <p:cTn id="67" dur="600" decel="100000" fill="hold"/>
                                  <p:tgtEl>
                                    <p:spTgt spid="10"/>
                                  </p:tgtEl>
                                  <p:attrNameLst>
                                    <p:attrName>ppt_y</p:attrName>
                                  </p:attrNameLst>
                                </p:cBhvr>
                                <p:tavLst>
                                  <p:tav tm="0">
                                    <p:val>
                                      <p:strVal val="#ppt_y+0.03"/>
                                    </p:val>
                                  </p:tav>
                                  <p:tav tm="100000">
                                    <p:val>
                                      <p:strVal val="#ppt_y"/>
                                    </p:val>
                                  </p:tav>
                                </p:tavLst>
                              </p:anim>
                            </p:childTnLst>
                          </p:cTn>
                        </p:par>
                        <p:par>
                          <p:cTn id="68" presetID="10" presetClass="entr" presetSubtype="0" fill="hold" nodeType="withEffect">
                            <p:stCondLst>
                              <p:cond delay="2700"/>
                            </p:stCondLst>
                            <p:childTnLst>
                              <p:set>
                                <p:cBhvr>
                                  <p:cTn id="69" dur="1" fill="hold">
                                    <p:stCondLst>
                                      <p:cond delay="0"/>
                                    </p:stCondLst>
                                  </p:cTn>
                                  <p:tgtEl>
                                    <p:spTgt spid="5"/>
                                  </p:tgtEl>
                                  <p:attrNameLst>
                                    <p:attrName>style.visibility</p:attrName>
                                  </p:attrNameLst>
                                </p:cBhvr>
                                <p:to>
                                  <p:strVal val="visible"/>
                                </p:to>
                              </p:set>
                              <p:animEffect transition="in" filter="fade">
                                <p:cBhvr>
                                  <p:cTn id="70" dur="600"/>
                                  <p:tgtEl>
                                    <p:spTgt spid="5"/>
                                  </p:tgtEl>
                                </p:cBhvr>
                              </p:animEffect>
                              <p:anim calcmode="lin" valueType="num">
                                <p:cBhvr>
                                  <p:cTn id="71" dur="600" decel="100000" fill="hold"/>
                                  <p:tgtEl>
                                    <p:spTgt spid="5"/>
                                  </p:tgtEl>
                                  <p:attrNameLst>
                                    <p:attrName>ppt_y</p:attrName>
                                  </p:attrNameLst>
                                </p:cBhvr>
                                <p:tavLst>
                                  <p:tav tm="0">
                                    <p:val>
                                      <p:strVal val="#ppt_y+0.03"/>
                                    </p:val>
                                  </p:tav>
                                  <p:tav tm="100000">
                                    <p:val>
                                      <p:strVal val="#ppt_y"/>
                                    </p:val>
                                  </p:tav>
                                </p:tavLst>
                              </p:anim>
                            </p:childTnLst>
                          </p:cTn>
                        </p:par>
                        <p:par>
                          <p:cTn id="72" presetID="10" presetClass="entr" presetSubtype="0" fill="hold" nodeType="withEffect">
                            <p:stCondLst>
                              <p:cond delay="2760"/>
                            </p:stCondLst>
                            <p:childTnLst>
                              <p:set>
                                <p:cBhvr>
                                  <p:cTn id="73" dur="1" fill="hold">
                                    <p:stCondLst>
                                      <p:cond delay="0"/>
                                    </p:stCondLst>
                                  </p:cTn>
                                  <p:tgtEl>
                                    <p:spTgt spid="6"/>
                                  </p:tgtEl>
                                  <p:attrNameLst>
                                    <p:attrName>style.visibility</p:attrName>
                                  </p:attrNameLst>
                                </p:cBhvr>
                                <p:to>
                                  <p:strVal val="visible"/>
                                </p:to>
                              </p:set>
                              <p:animEffect transition="in" filter="fade">
                                <p:cBhvr>
                                  <p:cTn id="74" dur="600"/>
                                  <p:tgtEl>
                                    <p:spTgt spid="6"/>
                                  </p:tgtEl>
                                </p:cBhvr>
                              </p:animEffect>
                              <p:anim calcmode="lin" valueType="num">
                                <p:cBhvr>
                                  <p:cTn id="75" dur="600" decel="100000" fill="hold"/>
                                  <p:tgtEl>
                                    <p:spTgt spid="6"/>
                                  </p:tgtEl>
                                  <p:attrNameLst>
                                    <p:attrName>ppt_y</p:attrName>
                                  </p:attrNameLst>
                                </p:cBhvr>
                                <p:tavLst>
                                  <p:tav tm="0">
                                    <p:val>
                                      <p:strVal val="#ppt_y+0.03"/>
                                    </p:val>
                                  </p:tav>
                                  <p:tav tm="100000">
                                    <p:val>
                                      <p:strVal val="#ppt_y"/>
                                    </p:val>
                                  </p:tav>
                                </p:tavLst>
                              </p:anim>
                            </p:childTnLst>
                          </p:cTn>
                        </p:par>
                        <p:par>
                          <p:cTn id="76" presetID="10" presetClass="entr" presetSubtype="0" fill="hold" nodeType="withEffect">
                            <p:stCondLst>
                              <p:cond delay="2820"/>
                            </p:stCondLst>
                            <p:childTnLst>
                              <p:set>
                                <p:cBhvr>
                                  <p:cTn id="77" dur="1" fill="hold">
                                    <p:stCondLst>
                                      <p:cond delay="0"/>
                                    </p:stCondLst>
                                  </p:cTn>
                                  <p:tgtEl>
                                    <p:spTgt spid="7"/>
                                  </p:tgtEl>
                                  <p:attrNameLst>
                                    <p:attrName>style.visibility</p:attrName>
                                  </p:attrNameLst>
                                </p:cBhvr>
                                <p:to>
                                  <p:strVal val="visible"/>
                                </p:to>
                              </p:set>
                              <p:animEffect transition="in" filter="fade">
                                <p:cBhvr>
                                  <p:cTn id="78" dur="600"/>
                                  <p:tgtEl>
                                    <p:spTgt spid="7"/>
                                  </p:tgtEl>
                                </p:cBhvr>
                              </p:animEffect>
                              <p:anim calcmode="lin" valueType="num">
                                <p:cBhvr>
                                  <p:cTn id="79" dur="600" decel="100000" fill="hold"/>
                                  <p:tgtEl>
                                    <p:spTgt spid="7"/>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p>
            <a:pPr indent="0" marL="0">
              <a:buNone/>
            </a:pPr>
            <a:r>
              <a:rPr lang="en-US" sz="1400" b="1" dirty="0">
                <a:solidFill>
                  <a:schemeClr val="accent1"/>
                </a:solidFill>
              </a:rPr>
              <a:t>Ce qui change concrètement</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p>
            <a:pPr algn="l" indent="0" marL="0">
              <a:buNone/>
            </a:pPr>
            <a:r>
              <a:rPr lang="en-US" sz="3200" b="1" dirty="0">
                <a:solidFill>
                  <a:schemeClr val="tx1"/>
                </a:solidFill>
              </a:rPr>
              <a:t>Aujourd'hui vs </a:t>
            </a:r>
            <a:pPr algn="l" indent="0" marL="0">
              <a:buNone/>
            </a:pPr>
            <a:r>
              <a:rPr lang="en-US" sz="3200" b="1" dirty="0">
                <a:solidFill>
                  <a:schemeClr val="accent1"/>
                </a:solidFill>
              </a:rPr>
              <a:t>avec notre solution</a:t>
            </a:r>
            <a:endParaRPr lang="en-US" sz="3200" dirty="0"/>
          </a:p>
        </p:txBody>
      </p:sp>
      <p:sp>
        <p:nvSpPr>
          <p:cNvPr id="4" name="a1_39"/>
          <p:cNvSpPr/>
          <p:nvPr/>
        </p:nvSpPr>
        <p:spPr>
          <a:xfrm>
            <a:off x="3017520" y="1600200"/>
            <a:ext cx="4114800" cy="457200"/>
          </a:xfrm>
          <a:prstGeom prst="roundRect">
            <a:avLst>
              <a:gd name="adj" fmla="val 28000"/>
            </a:avLst>
          </a:prstGeom>
          <a:solidFill>
            <a:srgbClr val="E2E8F0"/>
          </a:solidFill>
          <a:ln w="12700">
            <a:solidFill>
              <a:srgbClr val="E2E8F0"/>
            </a:solidFill>
            <a:prstDash val="solid"/>
          </a:ln>
        </p:spPr>
      </p:sp>
      <p:sp>
        <p:nvSpPr>
          <p:cNvPr id="5" name="a1_40"/>
          <p:cNvSpPr txBox="1"/>
          <p:nvPr/>
        </p:nvSpPr>
        <p:spPr>
          <a:xfrm>
            <a:off x="3017520" y="1600200"/>
            <a:ext cx="4114800" cy="457200"/>
          </a:xfrm>
          <a:prstGeom prst="rect">
            <a:avLst/>
          </a:prstGeom>
          <a:noFill/>
          <a:ln/>
        </p:spPr>
        <p:txBody>
          <a:bodyPr wrap="square" lIns="0" tIns="0" rIns="0" bIns="0" rtlCol="0" anchor="ctr"/>
          <a:lstStyle/>
          <a:p>
            <a:pPr algn="ctr" indent="0" marL="0">
              <a:buNone/>
            </a:pPr>
            <a:r>
              <a:rPr lang="en-US" sz="1500" b="1" dirty="0">
                <a:solidFill>
                  <a:schemeClr val="accent6"/>
                </a:solidFill>
              </a:rPr>
              <a:t>Aujourd'hui</a:t>
            </a:r>
            <a:endParaRPr lang="en-US" sz="1500" dirty="0"/>
          </a:p>
        </p:txBody>
      </p:sp>
      <p:sp>
        <p:nvSpPr>
          <p:cNvPr id="6" name="a1_41"/>
          <p:cNvSpPr/>
          <p:nvPr/>
        </p:nvSpPr>
        <p:spPr>
          <a:xfrm>
            <a:off x="7315200" y="1600200"/>
            <a:ext cx="4297680" cy="457200"/>
          </a:xfrm>
          <a:prstGeom prst="roundRect">
            <a:avLst>
              <a:gd name="adj" fmla="val 28000"/>
            </a:avLst>
          </a:prstGeom>
          <a:solidFill>
            <a:schemeClr val="accent1"/>
          </a:solidFill>
          <a:ln w="12700">
            <a:solidFill>
              <a:schemeClr val="accent1"/>
            </a:solidFill>
            <a:prstDash val="solid"/>
          </a:ln>
        </p:spPr>
      </p:sp>
      <p:sp>
        <p:nvSpPr>
          <p:cNvPr id="7" name="a1_42"/>
          <p:cNvSpPr txBox="1"/>
          <p:nvPr/>
        </p:nvSpPr>
        <p:spPr>
          <a:xfrm>
            <a:off x="7315200" y="1600200"/>
            <a:ext cx="4297680" cy="457200"/>
          </a:xfrm>
          <a:prstGeom prst="rect">
            <a:avLst/>
          </a:prstGeom>
          <a:noFill/>
          <a:ln/>
        </p:spPr>
        <p:txBody>
          <a:bodyPr wrap="square" lIns="0" tIns="0" rIns="0" bIns="0" rtlCol="0" anchor="ctr"/>
          <a:lstStyle/>
          <a:p>
            <a:pPr algn="ctr" indent="0" marL="0">
              <a:buNone/>
            </a:pPr>
            <a:r>
              <a:rPr lang="en-US" sz="1500" b="1" dirty="0">
                <a:solidFill>
                  <a:schemeClr val="bg1"/>
                </a:solidFill>
              </a:rPr>
              <a:t>Avec notre solution</a:t>
            </a:r>
            <a:endParaRPr lang="en-US" sz="1500" dirty="0"/>
          </a:p>
        </p:txBody>
      </p:sp>
      <p:sp>
        <p:nvSpPr>
          <p:cNvPr id="8" name="a2_43"/>
          <p:cNvSpPr txBox="1"/>
          <p:nvPr/>
        </p:nvSpPr>
        <p:spPr>
          <a:xfrm>
            <a:off x="548640" y="2240280"/>
            <a:ext cx="2286000" cy="640080"/>
          </a:xfrm>
          <a:prstGeom prst="rect">
            <a:avLst/>
          </a:prstGeom>
          <a:noFill/>
          <a:ln/>
        </p:spPr>
        <p:txBody>
          <a:bodyPr wrap="square" lIns="0" tIns="0" rIns="0" bIns="0" rtlCol="0" anchor="ctr"/>
          <a:lstStyle/>
          <a:p>
            <a:pPr indent="0" marL="0">
              <a:buNone/>
            </a:pPr>
            <a:r>
              <a:rPr lang="en-US" sz="1600" b="1" dirty="0">
                <a:solidFill>
                  <a:schemeClr val="tx2"/>
                </a:solidFill>
              </a:rPr>
              <a:t>Comptes</a:t>
            </a:r>
            <a:endParaRPr lang="en-US" sz="1600" dirty="0"/>
          </a:p>
        </p:txBody>
      </p:sp>
      <p:sp>
        <p:nvSpPr>
          <p:cNvPr id="9" name="a2_44"/>
          <p:cNvSpPr/>
          <p:nvPr/>
        </p:nvSpPr>
        <p:spPr>
          <a:xfrm>
            <a:off x="3017520" y="2240280"/>
            <a:ext cx="4114800" cy="640080"/>
          </a:xfrm>
          <a:prstGeom prst="roundRect">
            <a:avLst>
              <a:gd name="adj" fmla="val 20000"/>
            </a:avLst>
          </a:prstGeom>
          <a:solidFill>
            <a:srgbClr val="F1F5F9"/>
          </a:solidFill>
          <a:ln w="12700">
            <a:solidFill>
              <a:srgbClr val="F1F5F9"/>
            </a:solidFill>
            <a:prstDash val="solid"/>
          </a:ln>
        </p:spPr>
      </p:sp>
      <p:pic>
        <p:nvPicPr>
          <p:cNvPr id="10" name="a2_45" descr="preencoded.png">    </p:cNvPr>
          <p:cNvPicPr>
            <a:picLocks noChangeAspect="1"/>
          </p:cNvPicPr>
          <p:nvPr/>
        </p:nvPicPr>
        <p:blipFill>
          <a:blip r:embed="rId1"/>
          <a:stretch>
            <a:fillRect/>
          </a:stretch>
        </p:blipFill>
        <p:spPr>
          <a:xfrm>
            <a:off x="3200400" y="2423160"/>
            <a:ext cx="274320" cy="274320"/>
          </a:xfrm>
          <a:prstGeom prst="rect">
            <a:avLst/>
          </a:prstGeom>
        </p:spPr>
      </p:pic>
      <p:sp>
        <p:nvSpPr>
          <p:cNvPr id="11" name="a2_46"/>
          <p:cNvSpPr txBox="1"/>
          <p:nvPr/>
        </p:nvSpPr>
        <p:spPr>
          <a:xfrm>
            <a:off x="3611880" y="2240280"/>
            <a:ext cx="3429000" cy="640080"/>
          </a:xfrm>
          <a:prstGeom prst="rect">
            <a:avLst/>
          </a:prstGeom>
          <a:noFill/>
          <a:ln/>
        </p:spPr>
        <p:txBody>
          <a:bodyPr wrap="square" lIns="0" tIns="0" rIns="0" bIns="0" rtlCol="0" anchor="ctr"/>
          <a:lstStyle/>
          <a:p>
            <a:pPr indent="0" marL="0">
              <a:buNone/>
            </a:pPr>
            <a:r>
              <a:rPr lang="en-US" sz="1400" dirty="0">
                <a:solidFill>
                  <a:schemeClr val="accent6"/>
                </a:solidFill>
              </a:rPr>
              <a:t>Mots de passe partagés ou notés sur un papier</a:t>
            </a:r>
            <a:endParaRPr lang="en-US" sz="1400" dirty="0"/>
          </a:p>
        </p:txBody>
      </p:sp>
      <p:sp>
        <p:nvSpPr>
          <p:cNvPr id="12" name="a2_47"/>
          <p:cNvSpPr/>
          <p:nvPr/>
        </p:nvSpPr>
        <p:spPr>
          <a:xfrm>
            <a:off x="7315200" y="2240280"/>
            <a:ext cx="4297680" cy="640080"/>
          </a:xfrm>
          <a:prstGeom prst="roundRect">
            <a:avLst>
              <a:gd name="adj" fmla="val 200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pic>
        <p:nvPicPr>
          <p:cNvPr id="13" name="a2_48" descr="preencoded.png">    </p:cNvPr>
          <p:cNvPicPr>
            <a:picLocks noChangeAspect="1"/>
          </p:cNvPicPr>
          <p:nvPr/>
        </p:nvPicPr>
        <p:blipFill>
          <a:blip r:embed="rId2"/>
          <a:stretch>
            <a:fillRect/>
          </a:stretch>
        </p:blipFill>
        <p:spPr>
          <a:xfrm>
            <a:off x="7498080" y="2423160"/>
            <a:ext cx="274320" cy="274320"/>
          </a:xfrm>
          <a:prstGeom prst="rect">
            <a:avLst/>
          </a:prstGeom>
        </p:spPr>
      </p:pic>
      <p:sp>
        <p:nvSpPr>
          <p:cNvPr id="14" name="a2_49"/>
          <p:cNvSpPr txBox="1"/>
          <p:nvPr/>
        </p:nvSpPr>
        <p:spPr>
          <a:xfrm>
            <a:off x="7909560" y="2240280"/>
            <a:ext cx="3611880" cy="640080"/>
          </a:xfrm>
          <a:prstGeom prst="rect">
            <a:avLst/>
          </a:prstGeom>
          <a:noFill/>
          <a:ln/>
        </p:spPr>
        <p:txBody>
          <a:bodyPr wrap="square" lIns="0" tIns="0" rIns="0" bIns="0" rtlCol="0" anchor="ctr"/>
          <a:lstStyle/>
          <a:p>
            <a:pPr indent="0" marL="0">
              <a:buNone/>
            </a:pPr>
            <a:r>
              <a:rPr lang="en-US" sz="1400" b="1" dirty="0">
                <a:solidFill>
                  <a:schemeClr val="tx1"/>
                </a:solidFill>
              </a:rPr>
              <a:t>Un compte personnel et sécurisé par employé</a:t>
            </a:r>
            <a:endParaRPr lang="en-US" sz="1400" dirty="0"/>
          </a:p>
        </p:txBody>
      </p:sp>
      <p:sp>
        <p:nvSpPr>
          <p:cNvPr id="15" name="a3_50"/>
          <p:cNvSpPr txBox="1"/>
          <p:nvPr/>
        </p:nvSpPr>
        <p:spPr>
          <a:xfrm>
            <a:off x="548640" y="3017520"/>
            <a:ext cx="2286000" cy="640080"/>
          </a:xfrm>
          <a:prstGeom prst="rect">
            <a:avLst/>
          </a:prstGeom>
          <a:noFill/>
          <a:ln/>
        </p:spPr>
        <p:txBody>
          <a:bodyPr wrap="square" lIns="0" tIns="0" rIns="0" bIns="0" rtlCol="0" anchor="ctr"/>
          <a:lstStyle/>
          <a:p>
            <a:pPr indent="0" marL="0">
              <a:buNone/>
            </a:pPr>
            <a:r>
              <a:rPr lang="en-US" sz="1600" b="1" dirty="0">
                <a:solidFill>
                  <a:schemeClr val="tx2"/>
                </a:solidFill>
              </a:rPr>
              <a:t>Départ d'un employé</a:t>
            </a:r>
            <a:endParaRPr lang="en-US" sz="1600" dirty="0"/>
          </a:p>
        </p:txBody>
      </p:sp>
      <p:sp>
        <p:nvSpPr>
          <p:cNvPr id="16" name="a3_51"/>
          <p:cNvSpPr/>
          <p:nvPr/>
        </p:nvSpPr>
        <p:spPr>
          <a:xfrm>
            <a:off x="3017520" y="3017520"/>
            <a:ext cx="4114800" cy="640080"/>
          </a:xfrm>
          <a:prstGeom prst="roundRect">
            <a:avLst>
              <a:gd name="adj" fmla="val 20000"/>
            </a:avLst>
          </a:prstGeom>
          <a:solidFill>
            <a:srgbClr val="F1F5F9"/>
          </a:solidFill>
          <a:ln w="12700">
            <a:solidFill>
              <a:srgbClr val="F1F5F9"/>
            </a:solidFill>
            <a:prstDash val="solid"/>
          </a:ln>
        </p:spPr>
      </p:sp>
      <p:pic>
        <p:nvPicPr>
          <p:cNvPr id="17" name="a3_52" descr="preencoded.png">    </p:cNvPr>
          <p:cNvPicPr>
            <a:picLocks noChangeAspect="1"/>
          </p:cNvPicPr>
          <p:nvPr/>
        </p:nvPicPr>
        <p:blipFill>
          <a:blip r:embed="rId3"/>
          <a:stretch>
            <a:fillRect/>
          </a:stretch>
        </p:blipFill>
        <p:spPr>
          <a:xfrm>
            <a:off x="3200400" y="3200400"/>
            <a:ext cx="274320" cy="274320"/>
          </a:xfrm>
          <a:prstGeom prst="rect">
            <a:avLst/>
          </a:prstGeom>
        </p:spPr>
      </p:pic>
      <p:sp>
        <p:nvSpPr>
          <p:cNvPr id="18" name="a3_53"/>
          <p:cNvSpPr txBox="1"/>
          <p:nvPr/>
        </p:nvSpPr>
        <p:spPr>
          <a:xfrm>
            <a:off x="3611880" y="3017520"/>
            <a:ext cx="3429000" cy="640080"/>
          </a:xfrm>
          <a:prstGeom prst="rect">
            <a:avLst/>
          </a:prstGeom>
          <a:noFill/>
          <a:ln/>
        </p:spPr>
        <p:txBody>
          <a:bodyPr wrap="square" lIns="0" tIns="0" rIns="0" bIns="0" rtlCol="0" anchor="ctr"/>
          <a:lstStyle/>
          <a:p>
            <a:pPr indent="0" marL="0">
              <a:buNone/>
            </a:pPr>
            <a:r>
              <a:rPr lang="en-US" sz="1400" dirty="0">
                <a:solidFill>
                  <a:schemeClr val="accent6"/>
                </a:solidFill>
              </a:rPr>
              <a:t>Ses accès restent ouverts</a:t>
            </a:r>
            <a:endParaRPr lang="en-US" sz="1400" dirty="0"/>
          </a:p>
        </p:txBody>
      </p:sp>
      <p:sp>
        <p:nvSpPr>
          <p:cNvPr id="19" name="a3_54"/>
          <p:cNvSpPr/>
          <p:nvPr/>
        </p:nvSpPr>
        <p:spPr>
          <a:xfrm>
            <a:off x="7315200" y="3017520"/>
            <a:ext cx="4297680" cy="640080"/>
          </a:xfrm>
          <a:prstGeom prst="roundRect">
            <a:avLst>
              <a:gd name="adj" fmla="val 200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pic>
        <p:nvPicPr>
          <p:cNvPr id="20" name="a3_55" descr="preencoded.png">    </p:cNvPr>
          <p:cNvPicPr>
            <a:picLocks noChangeAspect="1"/>
          </p:cNvPicPr>
          <p:nvPr/>
        </p:nvPicPr>
        <p:blipFill>
          <a:blip r:embed="rId4"/>
          <a:stretch>
            <a:fillRect/>
          </a:stretch>
        </p:blipFill>
        <p:spPr>
          <a:xfrm>
            <a:off x="7498080" y="3200400"/>
            <a:ext cx="274320" cy="274320"/>
          </a:xfrm>
          <a:prstGeom prst="rect">
            <a:avLst/>
          </a:prstGeom>
        </p:spPr>
      </p:pic>
      <p:sp>
        <p:nvSpPr>
          <p:cNvPr id="21" name="a3_56"/>
          <p:cNvSpPr txBox="1"/>
          <p:nvPr/>
        </p:nvSpPr>
        <p:spPr>
          <a:xfrm>
            <a:off x="7909560" y="3017520"/>
            <a:ext cx="3611880" cy="640080"/>
          </a:xfrm>
          <a:prstGeom prst="rect">
            <a:avLst/>
          </a:prstGeom>
          <a:noFill/>
          <a:ln/>
        </p:spPr>
        <p:txBody>
          <a:bodyPr wrap="square" lIns="0" tIns="0" rIns="0" bIns="0" rtlCol="0" anchor="ctr"/>
          <a:lstStyle/>
          <a:p>
            <a:pPr indent="0" marL="0">
              <a:buNone/>
            </a:pPr>
            <a:r>
              <a:rPr lang="en-US" sz="1400" b="1" dirty="0">
                <a:solidFill>
                  <a:schemeClr val="tx1"/>
                </a:solidFill>
              </a:rPr>
              <a:t>Compte désactivé en un clic</a:t>
            </a:r>
            <a:endParaRPr lang="en-US" sz="1400" dirty="0"/>
          </a:p>
        </p:txBody>
      </p:sp>
      <p:sp>
        <p:nvSpPr>
          <p:cNvPr id="22" name="a4_57"/>
          <p:cNvSpPr txBox="1"/>
          <p:nvPr/>
        </p:nvSpPr>
        <p:spPr>
          <a:xfrm>
            <a:off x="548640" y="3794760"/>
            <a:ext cx="2286000" cy="640080"/>
          </a:xfrm>
          <a:prstGeom prst="rect">
            <a:avLst/>
          </a:prstGeom>
          <a:noFill/>
          <a:ln/>
        </p:spPr>
        <p:txBody>
          <a:bodyPr wrap="square" lIns="0" tIns="0" rIns="0" bIns="0" rtlCol="0" anchor="ctr"/>
          <a:lstStyle/>
          <a:p>
            <a:pPr indent="0" marL="0">
              <a:buNone/>
            </a:pPr>
            <a:r>
              <a:rPr lang="en-US" sz="1600" b="1" dirty="0">
                <a:solidFill>
                  <a:schemeClr val="tx2"/>
                </a:solidFill>
              </a:rPr>
              <a:t>Logiciels</a:t>
            </a:r>
            <a:endParaRPr lang="en-US" sz="1600" dirty="0"/>
          </a:p>
        </p:txBody>
      </p:sp>
      <p:sp>
        <p:nvSpPr>
          <p:cNvPr id="23" name="a4_58"/>
          <p:cNvSpPr/>
          <p:nvPr/>
        </p:nvSpPr>
        <p:spPr>
          <a:xfrm>
            <a:off x="3017520" y="3794760"/>
            <a:ext cx="4114800" cy="640080"/>
          </a:xfrm>
          <a:prstGeom prst="roundRect">
            <a:avLst>
              <a:gd name="adj" fmla="val 20000"/>
            </a:avLst>
          </a:prstGeom>
          <a:solidFill>
            <a:srgbClr val="F1F5F9"/>
          </a:solidFill>
          <a:ln w="12700">
            <a:solidFill>
              <a:srgbClr val="F1F5F9"/>
            </a:solidFill>
            <a:prstDash val="solid"/>
          </a:ln>
        </p:spPr>
      </p:sp>
      <p:pic>
        <p:nvPicPr>
          <p:cNvPr id="24" name="a4_59" descr="preencoded.png">    </p:cNvPr>
          <p:cNvPicPr>
            <a:picLocks noChangeAspect="1"/>
          </p:cNvPicPr>
          <p:nvPr/>
        </p:nvPicPr>
        <p:blipFill>
          <a:blip r:embed="rId5"/>
          <a:stretch>
            <a:fillRect/>
          </a:stretch>
        </p:blipFill>
        <p:spPr>
          <a:xfrm>
            <a:off x="3200400" y="3977640"/>
            <a:ext cx="274320" cy="274320"/>
          </a:xfrm>
          <a:prstGeom prst="rect">
            <a:avLst/>
          </a:prstGeom>
        </p:spPr>
      </p:pic>
      <p:sp>
        <p:nvSpPr>
          <p:cNvPr id="25" name="a4_60"/>
          <p:cNvSpPr txBox="1"/>
          <p:nvPr/>
        </p:nvSpPr>
        <p:spPr>
          <a:xfrm>
            <a:off x="3611880" y="3794760"/>
            <a:ext cx="3429000" cy="640080"/>
          </a:xfrm>
          <a:prstGeom prst="rect">
            <a:avLst/>
          </a:prstGeom>
          <a:noFill/>
          <a:ln/>
        </p:spPr>
        <p:txBody>
          <a:bodyPr wrap="square" lIns="0" tIns="0" rIns="0" bIns="0" rtlCol="0" anchor="ctr"/>
          <a:lstStyle/>
          <a:p>
            <a:pPr indent="0" marL="0">
              <a:buNone/>
            </a:pPr>
            <a:r>
              <a:rPr lang="en-US" sz="1400" dirty="0">
                <a:solidFill>
                  <a:schemeClr val="accent6"/>
                </a:solidFill>
              </a:rPr>
              <a:t>Chacun installe ce qu'il veut</a:t>
            </a:r>
            <a:endParaRPr lang="en-US" sz="1400" dirty="0"/>
          </a:p>
        </p:txBody>
      </p:sp>
      <p:sp>
        <p:nvSpPr>
          <p:cNvPr id="26" name="a4_61"/>
          <p:cNvSpPr/>
          <p:nvPr/>
        </p:nvSpPr>
        <p:spPr>
          <a:xfrm>
            <a:off x="7315200" y="3794760"/>
            <a:ext cx="4297680" cy="640080"/>
          </a:xfrm>
          <a:prstGeom prst="roundRect">
            <a:avLst>
              <a:gd name="adj" fmla="val 200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pic>
        <p:nvPicPr>
          <p:cNvPr id="27" name="a4_62" descr="preencoded.png">    </p:cNvPr>
          <p:cNvPicPr>
            <a:picLocks noChangeAspect="1"/>
          </p:cNvPicPr>
          <p:nvPr/>
        </p:nvPicPr>
        <p:blipFill>
          <a:blip r:embed="rId6"/>
          <a:stretch>
            <a:fillRect/>
          </a:stretch>
        </p:blipFill>
        <p:spPr>
          <a:xfrm>
            <a:off x="7498080" y="3977640"/>
            <a:ext cx="274320" cy="274320"/>
          </a:xfrm>
          <a:prstGeom prst="rect">
            <a:avLst/>
          </a:prstGeom>
        </p:spPr>
      </p:pic>
      <p:sp>
        <p:nvSpPr>
          <p:cNvPr id="28" name="a4_63"/>
          <p:cNvSpPr txBox="1"/>
          <p:nvPr/>
        </p:nvSpPr>
        <p:spPr>
          <a:xfrm>
            <a:off x="7909560" y="3794760"/>
            <a:ext cx="3611880" cy="640080"/>
          </a:xfrm>
          <a:prstGeom prst="rect">
            <a:avLst/>
          </a:prstGeom>
          <a:noFill/>
          <a:ln/>
        </p:spPr>
        <p:txBody>
          <a:bodyPr wrap="square" lIns="0" tIns="0" rIns="0" bIns="0" rtlCol="0" anchor="ctr"/>
          <a:lstStyle/>
          <a:p>
            <a:pPr indent="0" marL="0">
              <a:buNone/>
            </a:pPr>
            <a:r>
              <a:rPr lang="en-US" sz="1400" b="1" dirty="0">
                <a:solidFill>
                  <a:schemeClr val="tx1"/>
                </a:solidFill>
              </a:rPr>
              <a:t>Installations contrôlées par GPO</a:t>
            </a:r>
            <a:endParaRPr lang="en-US" sz="1400" dirty="0"/>
          </a:p>
        </p:txBody>
      </p:sp>
      <p:sp>
        <p:nvSpPr>
          <p:cNvPr id="29" name="a5_64"/>
          <p:cNvSpPr txBox="1"/>
          <p:nvPr/>
        </p:nvSpPr>
        <p:spPr>
          <a:xfrm>
            <a:off x="548640" y="4572000"/>
            <a:ext cx="2286000" cy="640080"/>
          </a:xfrm>
          <a:prstGeom prst="rect">
            <a:avLst/>
          </a:prstGeom>
          <a:noFill/>
          <a:ln/>
        </p:spPr>
        <p:txBody>
          <a:bodyPr wrap="square" lIns="0" tIns="0" rIns="0" bIns="0" rtlCol="0" anchor="ctr"/>
          <a:lstStyle/>
          <a:p>
            <a:pPr indent="0" marL="0">
              <a:buNone/>
            </a:pPr>
            <a:r>
              <a:rPr lang="en-US" sz="1600" b="1" dirty="0">
                <a:solidFill>
                  <a:schemeClr val="tx2"/>
                </a:solidFill>
              </a:rPr>
              <a:t>Mises à jour</a:t>
            </a:r>
            <a:endParaRPr lang="en-US" sz="1600" dirty="0"/>
          </a:p>
        </p:txBody>
      </p:sp>
      <p:sp>
        <p:nvSpPr>
          <p:cNvPr id="30" name="a5_65"/>
          <p:cNvSpPr/>
          <p:nvPr/>
        </p:nvSpPr>
        <p:spPr>
          <a:xfrm>
            <a:off x="3017520" y="4572000"/>
            <a:ext cx="4114800" cy="640080"/>
          </a:xfrm>
          <a:prstGeom prst="roundRect">
            <a:avLst>
              <a:gd name="adj" fmla="val 20000"/>
            </a:avLst>
          </a:prstGeom>
          <a:solidFill>
            <a:srgbClr val="F1F5F9"/>
          </a:solidFill>
          <a:ln w="12700">
            <a:solidFill>
              <a:srgbClr val="F1F5F9"/>
            </a:solidFill>
            <a:prstDash val="solid"/>
          </a:ln>
        </p:spPr>
      </p:sp>
      <p:pic>
        <p:nvPicPr>
          <p:cNvPr id="31" name="a5_66" descr="preencoded.png">    </p:cNvPr>
          <p:cNvPicPr>
            <a:picLocks noChangeAspect="1"/>
          </p:cNvPicPr>
          <p:nvPr/>
        </p:nvPicPr>
        <p:blipFill>
          <a:blip r:embed="rId7"/>
          <a:stretch>
            <a:fillRect/>
          </a:stretch>
        </p:blipFill>
        <p:spPr>
          <a:xfrm>
            <a:off x="3200400" y="4754880"/>
            <a:ext cx="274320" cy="274320"/>
          </a:xfrm>
          <a:prstGeom prst="rect">
            <a:avLst/>
          </a:prstGeom>
        </p:spPr>
      </p:pic>
      <p:sp>
        <p:nvSpPr>
          <p:cNvPr id="32" name="a5_67"/>
          <p:cNvSpPr txBox="1"/>
          <p:nvPr/>
        </p:nvSpPr>
        <p:spPr>
          <a:xfrm>
            <a:off x="3611880" y="4572000"/>
            <a:ext cx="3429000" cy="640080"/>
          </a:xfrm>
          <a:prstGeom prst="rect">
            <a:avLst/>
          </a:prstGeom>
          <a:noFill/>
          <a:ln/>
        </p:spPr>
        <p:txBody>
          <a:bodyPr wrap="square" lIns="0" tIns="0" rIns="0" bIns="0" rtlCol="0" anchor="ctr"/>
          <a:lstStyle/>
          <a:p>
            <a:pPr indent="0" marL="0">
              <a:buNone/>
            </a:pPr>
            <a:r>
              <a:rPr lang="en-US" sz="1400" dirty="0">
                <a:solidFill>
                  <a:schemeClr val="accent6"/>
                </a:solidFill>
              </a:rPr>
              <a:t>Faites… quand on y pense</a:t>
            </a:r>
            <a:endParaRPr lang="en-US" sz="1400" dirty="0"/>
          </a:p>
        </p:txBody>
      </p:sp>
      <p:sp>
        <p:nvSpPr>
          <p:cNvPr id="33" name="a5_68"/>
          <p:cNvSpPr/>
          <p:nvPr/>
        </p:nvSpPr>
        <p:spPr>
          <a:xfrm>
            <a:off x="7315200" y="4572000"/>
            <a:ext cx="4297680" cy="640080"/>
          </a:xfrm>
          <a:prstGeom prst="roundRect">
            <a:avLst>
              <a:gd name="adj" fmla="val 200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pic>
        <p:nvPicPr>
          <p:cNvPr id="34" name="a5_69" descr="preencoded.png">    </p:cNvPr>
          <p:cNvPicPr>
            <a:picLocks noChangeAspect="1"/>
          </p:cNvPicPr>
          <p:nvPr/>
        </p:nvPicPr>
        <p:blipFill>
          <a:blip r:embed="rId8"/>
          <a:stretch>
            <a:fillRect/>
          </a:stretch>
        </p:blipFill>
        <p:spPr>
          <a:xfrm>
            <a:off x="7498080" y="4754880"/>
            <a:ext cx="274320" cy="274320"/>
          </a:xfrm>
          <a:prstGeom prst="rect">
            <a:avLst/>
          </a:prstGeom>
        </p:spPr>
      </p:pic>
      <p:sp>
        <p:nvSpPr>
          <p:cNvPr id="35" name="a5_70"/>
          <p:cNvSpPr txBox="1"/>
          <p:nvPr/>
        </p:nvSpPr>
        <p:spPr>
          <a:xfrm>
            <a:off x="7909560" y="4572000"/>
            <a:ext cx="3611880" cy="640080"/>
          </a:xfrm>
          <a:prstGeom prst="rect">
            <a:avLst/>
          </a:prstGeom>
          <a:noFill/>
          <a:ln/>
        </p:spPr>
        <p:txBody>
          <a:bodyPr wrap="square" lIns="0" tIns="0" rIns="0" bIns="0" rtlCol="0" anchor="ctr"/>
          <a:lstStyle/>
          <a:p>
            <a:pPr indent="0" marL="0">
              <a:buNone/>
            </a:pPr>
            <a:r>
              <a:rPr lang="en-US" sz="1400" b="1" dirty="0">
                <a:solidFill>
                  <a:schemeClr val="tx1"/>
                </a:solidFill>
              </a:rPr>
              <a:t>Appliquées automatiquement</a:t>
            </a:r>
            <a:endParaRPr lang="en-US" sz="1400" dirty="0"/>
          </a:p>
        </p:txBody>
      </p:sp>
      <p:sp>
        <p:nvSpPr>
          <p:cNvPr id="36" name="a6_71"/>
          <p:cNvSpPr txBox="1"/>
          <p:nvPr/>
        </p:nvSpPr>
        <p:spPr>
          <a:xfrm>
            <a:off x="548640" y="5349240"/>
            <a:ext cx="2286000" cy="640080"/>
          </a:xfrm>
          <a:prstGeom prst="rect">
            <a:avLst/>
          </a:prstGeom>
          <a:noFill/>
          <a:ln/>
        </p:spPr>
        <p:txBody>
          <a:bodyPr wrap="square" lIns="0" tIns="0" rIns="0" bIns="0" rtlCol="0" anchor="ctr"/>
          <a:lstStyle/>
          <a:p>
            <a:pPr indent="0" marL="0">
              <a:buNone/>
            </a:pPr>
            <a:r>
              <a:rPr lang="en-US" sz="1600" b="1" dirty="0">
                <a:solidFill>
                  <a:schemeClr val="tx2"/>
                </a:solidFill>
              </a:rPr>
              <a:t>Dépannage</a:t>
            </a:r>
            <a:endParaRPr lang="en-US" sz="1600" dirty="0"/>
          </a:p>
        </p:txBody>
      </p:sp>
      <p:sp>
        <p:nvSpPr>
          <p:cNvPr id="37" name="a6_72"/>
          <p:cNvSpPr/>
          <p:nvPr/>
        </p:nvSpPr>
        <p:spPr>
          <a:xfrm>
            <a:off x="3017520" y="5349240"/>
            <a:ext cx="4114800" cy="640080"/>
          </a:xfrm>
          <a:prstGeom prst="roundRect">
            <a:avLst>
              <a:gd name="adj" fmla="val 20000"/>
            </a:avLst>
          </a:prstGeom>
          <a:solidFill>
            <a:srgbClr val="F1F5F9"/>
          </a:solidFill>
          <a:ln w="12700">
            <a:solidFill>
              <a:srgbClr val="F1F5F9"/>
            </a:solidFill>
            <a:prstDash val="solid"/>
          </a:ln>
        </p:spPr>
      </p:sp>
      <p:pic>
        <p:nvPicPr>
          <p:cNvPr id="38" name="a6_73" descr="preencoded.png">    </p:cNvPr>
          <p:cNvPicPr>
            <a:picLocks noChangeAspect="1"/>
          </p:cNvPicPr>
          <p:nvPr/>
        </p:nvPicPr>
        <p:blipFill>
          <a:blip r:embed="rId9"/>
          <a:stretch>
            <a:fillRect/>
          </a:stretch>
        </p:blipFill>
        <p:spPr>
          <a:xfrm>
            <a:off x="3200400" y="5532120"/>
            <a:ext cx="274320" cy="274320"/>
          </a:xfrm>
          <a:prstGeom prst="rect">
            <a:avLst/>
          </a:prstGeom>
        </p:spPr>
      </p:pic>
      <p:sp>
        <p:nvSpPr>
          <p:cNvPr id="39" name="a6_74"/>
          <p:cNvSpPr txBox="1"/>
          <p:nvPr/>
        </p:nvSpPr>
        <p:spPr>
          <a:xfrm>
            <a:off x="3611880" y="5349240"/>
            <a:ext cx="3429000" cy="640080"/>
          </a:xfrm>
          <a:prstGeom prst="rect">
            <a:avLst/>
          </a:prstGeom>
          <a:noFill/>
          <a:ln/>
        </p:spPr>
        <p:txBody>
          <a:bodyPr wrap="square" lIns="0" tIns="0" rIns="0" bIns="0" rtlCol="0" anchor="ctr"/>
          <a:lstStyle/>
          <a:p>
            <a:pPr indent="0" marL="0">
              <a:buNone/>
            </a:pPr>
            <a:r>
              <a:rPr lang="en-US" sz="1400" dirty="0">
                <a:solidFill>
                  <a:schemeClr val="accent6"/>
                </a:solidFill>
              </a:rPr>
              <a:t>Déplacement sur site, attente</a:t>
            </a:r>
            <a:endParaRPr lang="en-US" sz="1400" dirty="0"/>
          </a:p>
        </p:txBody>
      </p:sp>
      <p:sp>
        <p:nvSpPr>
          <p:cNvPr id="40" name="a6_75"/>
          <p:cNvSpPr/>
          <p:nvPr/>
        </p:nvSpPr>
        <p:spPr>
          <a:xfrm>
            <a:off x="7315200" y="5349240"/>
            <a:ext cx="4297680" cy="640080"/>
          </a:xfrm>
          <a:prstGeom prst="roundRect">
            <a:avLst>
              <a:gd name="adj" fmla="val 200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pic>
        <p:nvPicPr>
          <p:cNvPr id="41" name="a6_76" descr="preencoded.png">    </p:cNvPr>
          <p:cNvPicPr>
            <a:picLocks noChangeAspect="1"/>
          </p:cNvPicPr>
          <p:nvPr/>
        </p:nvPicPr>
        <p:blipFill>
          <a:blip r:embed="rId10"/>
          <a:stretch>
            <a:fillRect/>
          </a:stretch>
        </p:blipFill>
        <p:spPr>
          <a:xfrm>
            <a:off x="7498080" y="5532120"/>
            <a:ext cx="274320" cy="274320"/>
          </a:xfrm>
          <a:prstGeom prst="rect">
            <a:avLst/>
          </a:prstGeom>
        </p:spPr>
      </p:pic>
      <p:sp>
        <p:nvSpPr>
          <p:cNvPr id="42" name="a6_77"/>
          <p:cNvSpPr txBox="1"/>
          <p:nvPr/>
        </p:nvSpPr>
        <p:spPr>
          <a:xfrm>
            <a:off x="7909560" y="5349240"/>
            <a:ext cx="3611880" cy="640080"/>
          </a:xfrm>
          <a:prstGeom prst="rect">
            <a:avLst/>
          </a:prstGeom>
          <a:noFill/>
          <a:ln/>
        </p:spPr>
        <p:txBody>
          <a:bodyPr wrap="square" lIns="0" tIns="0" rIns="0" bIns="0" rtlCol="0" anchor="ctr"/>
          <a:lstStyle/>
          <a:p>
            <a:pPr indent="0" marL="0">
              <a:buNone/>
            </a:pPr>
            <a:r>
              <a:rPr lang="en-US" sz="1400" b="1" dirty="0">
                <a:solidFill>
                  <a:schemeClr val="tx1"/>
                </a:solidFill>
              </a:rPr>
              <a:t>Intervention immédiate à distance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12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18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p:cTn id="19" dur="600" decel="100000" fill="hold"/>
                                  <p:tgtEl>
                                    <p:spTgt spid="7"/>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4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51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57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anim calcmode="lin" valueType="num">
                                <p:cBhvr>
                                  <p:cTn id="31" dur="600" decel="100000" fill="hold"/>
                                  <p:tgtEl>
                                    <p:spTgt spid="10"/>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63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anim calcmode="lin" valueType="num">
                                <p:cBhvr>
                                  <p:cTn id="35" dur="600" decel="100000" fill="hold"/>
                                  <p:tgtEl>
                                    <p:spTgt spid="11"/>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69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75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p:cTn id="43" dur="600" decel="100000" fill="hold"/>
                                  <p:tgtEl>
                                    <p:spTgt spid="13"/>
                                  </p:tgtEl>
                                  <p:attrNameLst>
                                    <p:attrName>ppt_y</p:attrName>
                                  </p:attrNameLst>
                                </p:cBhvr>
                                <p:tavLst>
                                  <p:tav tm="0">
                                    <p:val>
                                      <p:strVal val="#ppt_y+0.03"/>
                                    </p:val>
                                  </p:tav>
                                  <p:tav tm="100000">
                                    <p:val>
                                      <p:strVal val="#ppt_y"/>
                                    </p:val>
                                  </p:tav>
                                </p:tavLst>
                              </p:anim>
                            </p:childTnLst>
                          </p:cTn>
                        </p:par>
                        <p:par>
                          <p:cTn id="44" presetID="10" presetClass="entr" presetSubtype="0" fill="hold" nodeType="withEffect">
                            <p:stCondLst>
                              <p:cond delay="81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00"/>
                                  <p:tgtEl>
                                    <p:spTgt spid="14"/>
                                  </p:tgtEl>
                                </p:cBhvr>
                              </p:animEffect>
                              <p:anim calcmode="lin" valueType="num">
                                <p:cBhvr>
                                  <p:cTn id="47" dur="600" decel="100000" fill="hold"/>
                                  <p:tgtEl>
                                    <p:spTgt spid="14"/>
                                  </p:tgtEl>
                                  <p:attrNameLst>
                                    <p:attrName>ppt_y</p:attrName>
                                  </p:attrNameLst>
                                </p:cBhvr>
                                <p:tavLst>
                                  <p:tav tm="0">
                                    <p:val>
                                      <p:strVal val="#ppt_y+0.03"/>
                                    </p:val>
                                  </p:tav>
                                  <p:tav tm="100000">
                                    <p:val>
                                      <p:strVal val="#ppt_y"/>
                                    </p:val>
                                  </p:tav>
                                </p:tavLst>
                              </p:anim>
                            </p:childTnLst>
                          </p:cTn>
                        </p:par>
                        <p:par>
                          <p:cTn id="48" presetID="10" presetClass="entr" presetSubtype="0" fill="hold" nodeType="withEffect">
                            <p:stCondLst>
                              <p:cond delay="90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600"/>
                                  <p:tgtEl>
                                    <p:spTgt spid="15"/>
                                  </p:tgtEl>
                                </p:cBhvr>
                              </p:animEffect>
                              <p:anim calcmode="lin" valueType="num">
                                <p:cBhvr>
                                  <p:cTn id="51" dur="600" decel="100000" fill="hold"/>
                                  <p:tgtEl>
                                    <p:spTgt spid="15"/>
                                  </p:tgtEl>
                                  <p:attrNameLst>
                                    <p:attrName>ppt_y</p:attrName>
                                  </p:attrNameLst>
                                </p:cBhvr>
                                <p:tavLst>
                                  <p:tav tm="0">
                                    <p:val>
                                      <p:strVal val="#ppt_y+0.03"/>
                                    </p:val>
                                  </p:tav>
                                  <p:tav tm="100000">
                                    <p:val>
                                      <p:strVal val="#ppt_y"/>
                                    </p:val>
                                  </p:tav>
                                </p:tavLst>
                              </p:anim>
                            </p:childTnLst>
                          </p:cTn>
                        </p:par>
                        <p:par>
                          <p:cTn id="52" presetID="10" presetClass="entr" presetSubtype="0" fill="hold" nodeType="withEffect">
                            <p:stCondLst>
                              <p:cond delay="96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00"/>
                                  <p:tgtEl>
                                    <p:spTgt spid="16"/>
                                  </p:tgtEl>
                                </p:cBhvr>
                              </p:animEffect>
                              <p:anim calcmode="lin" valueType="num">
                                <p:cBhvr>
                                  <p:cTn id="55" dur="600" decel="100000" fill="hold"/>
                                  <p:tgtEl>
                                    <p:spTgt spid="16"/>
                                  </p:tgtEl>
                                  <p:attrNameLst>
                                    <p:attrName>ppt_y</p:attrName>
                                  </p:attrNameLst>
                                </p:cBhvr>
                                <p:tavLst>
                                  <p:tav tm="0">
                                    <p:val>
                                      <p:strVal val="#ppt_y+0.03"/>
                                    </p:val>
                                  </p:tav>
                                  <p:tav tm="100000">
                                    <p:val>
                                      <p:strVal val="#ppt_y"/>
                                    </p:val>
                                  </p:tav>
                                </p:tavLst>
                              </p:anim>
                            </p:childTnLst>
                          </p:cTn>
                        </p:par>
                        <p:par>
                          <p:cTn id="56" presetID="10" presetClass="entr" presetSubtype="0" fill="hold" nodeType="withEffect">
                            <p:stCondLst>
                              <p:cond delay="102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600"/>
                                  <p:tgtEl>
                                    <p:spTgt spid="17"/>
                                  </p:tgtEl>
                                </p:cBhvr>
                              </p:animEffect>
                              <p:anim calcmode="lin" valueType="num">
                                <p:cBhvr>
                                  <p:cTn id="59" dur="600" decel="100000" fill="hold"/>
                                  <p:tgtEl>
                                    <p:spTgt spid="17"/>
                                  </p:tgtEl>
                                  <p:attrNameLst>
                                    <p:attrName>ppt_y</p:attrName>
                                  </p:attrNameLst>
                                </p:cBhvr>
                                <p:tavLst>
                                  <p:tav tm="0">
                                    <p:val>
                                      <p:strVal val="#ppt_y+0.03"/>
                                    </p:val>
                                  </p:tav>
                                  <p:tav tm="100000">
                                    <p:val>
                                      <p:strVal val="#ppt_y"/>
                                    </p:val>
                                  </p:tav>
                                </p:tavLst>
                              </p:anim>
                            </p:childTnLst>
                          </p:cTn>
                        </p:par>
                        <p:par>
                          <p:cTn id="60" presetID="10" presetClass="entr" presetSubtype="0" fill="hold" nodeType="withEffect">
                            <p:stCondLst>
                              <p:cond delay="108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600"/>
                                  <p:tgtEl>
                                    <p:spTgt spid="18"/>
                                  </p:tgtEl>
                                </p:cBhvr>
                              </p:animEffect>
                              <p:anim calcmode="lin" valueType="num">
                                <p:cBhvr>
                                  <p:cTn id="63" dur="600" decel="100000" fill="hold"/>
                                  <p:tgtEl>
                                    <p:spTgt spid="18"/>
                                  </p:tgtEl>
                                  <p:attrNameLst>
                                    <p:attrName>ppt_y</p:attrName>
                                  </p:attrNameLst>
                                </p:cBhvr>
                                <p:tavLst>
                                  <p:tav tm="0">
                                    <p:val>
                                      <p:strVal val="#ppt_y+0.03"/>
                                    </p:val>
                                  </p:tav>
                                  <p:tav tm="100000">
                                    <p:val>
                                      <p:strVal val="#ppt_y"/>
                                    </p:val>
                                  </p:tav>
                                </p:tavLst>
                              </p:anim>
                            </p:childTnLst>
                          </p:cTn>
                        </p:par>
                        <p:par>
                          <p:cTn id="64" presetID="10" presetClass="entr" presetSubtype="0" fill="hold" nodeType="withEffect">
                            <p:stCondLst>
                              <p:cond delay="114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600"/>
                                  <p:tgtEl>
                                    <p:spTgt spid="19"/>
                                  </p:tgtEl>
                                </p:cBhvr>
                              </p:animEffect>
                              <p:anim calcmode="lin" valueType="num">
                                <p:cBhvr>
                                  <p:cTn id="67" dur="600" decel="100000" fill="hold"/>
                                  <p:tgtEl>
                                    <p:spTgt spid="19"/>
                                  </p:tgtEl>
                                  <p:attrNameLst>
                                    <p:attrName>ppt_y</p:attrName>
                                  </p:attrNameLst>
                                </p:cBhvr>
                                <p:tavLst>
                                  <p:tav tm="0">
                                    <p:val>
                                      <p:strVal val="#ppt_y+0.03"/>
                                    </p:val>
                                  </p:tav>
                                  <p:tav tm="100000">
                                    <p:val>
                                      <p:strVal val="#ppt_y"/>
                                    </p:val>
                                  </p:tav>
                                </p:tavLst>
                              </p:anim>
                            </p:childTnLst>
                          </p:cTn>
                        </p:par>
                        <p:par>
                          <p:cTn id="68" presetID="10" presetClass="entr" presetSubtype="0" fill="hold" nodeType="withEffect">
                            <p:stCondLst>
                              <p:cond delay="120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600"/>
                                  <p:tgtEl>
                                    <p:spTgt spid="20"/>
                                  </p:tgtEl>
                                </p:cBhvr>
                              </p:animEffect>
                              <p:anim calcmode="lin" valueType="num">
                                <p:cBhvr>
                                  <p:cTn id="71" dur="600" decel="100000" fill="hold"/>
                                  <p:tgtEl>
                                    <p:spTgt spid="20"/>
                                  </p:tgtEl>
                                  <p:attrNameLst>
                                    <p:attrName>ppt_y</p:attrName>
                                  </p:attrNameLst>
                                </p:cBhvr>
                                <p:tavLst>
                                  <p:tav tm="0">
                                    <p:val>
                                      <p:strVal val="#ppt_y+0.03"/>
                                    </p:val>
                                  </p:tav>
                                  <p:tav tm="100000">
                                    <p:val>
                                      <p:strVal val="#ppt_y"/>
                                    </p:val>
                                  </p:tav>
                                </p:tavLst>
                              </p:anim>
                            </p:childTnLst>
                          </p:cTn>
                        </p:par>
                        <p:par>
                          <p:cTn id="72" presetID="10" presetClass="entr" presetSubtype="0" fill="hold" nodeType="withEffect">
                            <p:stCondLst>
                              <p:cond delay="126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600"/>
                                  <p:tgtEl>
                                    <p:spTgt spid="21"/>
                                  </p:tgtEl>
                                </p:cBhvr>
                              </p:animEffect>
                              <p:anim calcmode="lin" valueType="num">
                                <p:cBhvr>
                                  <p:cTn id="75" dur="600" decel="100000" fill="hold"/>
                                  <p:tgtEl>
                                    <p:spTgt spid="21"/>
                                  </p:tgtEl>
                                  <p:attrNameLst>
                                    <p:attrName>ppt_y</p:attrName>
                                  </p:attrNameLst>
                                </p:cBhvr>
                                <p:tavLst>
                                  <p:tav tm="0">
                                    <p:val>
                                      <p:strVal val="#ppt_y+0.03"/>
                                    </p:val>
                                  </p:tav>
                                  <p:tav tm="100000">
                                    <p:val>
                                      <p:strVal val="#ppt_y"/>
                                    </p:val>
                                  </p:tav>
                                </p:tavLst>
                              </p:anim>
                            </p:childTnLst>
                          </p:cTn>
                        </p:par>
                        <p:par>
                          <p:cTn id="76" presetID="10" presetClass="entr" presetSubtype="0" fill="hold" nodeType="withEffect">
                            <p:stCondLst>
                              <p:cond delay="135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600"/>
                                  <p:tgtEl>
                                    <p:spTgt spid="22"/>
                                  </p:tgtEl>
                                </p:cBhvr>
                              </p:animEffect>
                              <p:anim calcmode="lin" valueType="num">
                                <p:cBhvr>
                                  <p:cTn id="79" dur="600" decel="100000" fill="hold"/>
                                  <p:tgtEl>
                                    <p:spTgt spid="22"/>
                                  </p:tgtEl>
                                  <p:attrNameLst>
                                    <p:attrName>ppt_y</p:attrName>
                                  </p:attrNameLst>
                                </p:cBhvr>
                                <p:tavLst>
                                  <p:tav tm="0">
                                    <p:val>
                                      <p:strVal val="#ppt_y+0.03"/>
                                    </p:val>
                                  </p:tav>
                                  <p:tav tm="100000">
                                    <p:val>
                                      <p:strVal val="#ppt_y"/>
                                    </p:val>
                                  </p:tav>
                                </p:tavLst>
                              </p:anim>
                            </p:childTnLst>
                          </p:cTn>
                        </p:par>
                        <p:par>
                          <p:cTn id="80" presetID="10" presetClass="entr" presetSubtype="0" fill="hold" nodeType="withEffect">
                            <p:stCondLst>
                              <p:cond delay="141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p:cTn id="83" dur="600" decel="100000" fill="hold"/>
                                  <p:tgtEl>
                                    <p:spTgt spid="23"/>
                                  </p:tgtEl>
                                  <p:attrNameLst>
                                    <p:attrName>ppt_y</p:attrName>
                                  </p:attrNameLst>
                                </p:cBhvr>
                                <p:tavLst>
                                  <p:tav tm="0">
                                    <p:val>
                                      <p:strVal val="#ppt_y+0.03"/>
                                    </p:val>
                                  </p:tav>
                                  <p:tav tm="100000">
                                    <p:val>
                                      <p:strVal val="#ppt_y"/>
                                    </p:val>
                                  </p:tav>
                                </p:tavLst>
                              </p:anim>
                            </p:childTnLst>
                          </p:cTn>
                        </p:par>
                        <p:par>
                          <p:cTn id="84" presetID="10" presetClass="entr" presetSubtype="0" fill="hold" nodeType="withEffect">
                            <p:stCondLst>
                              <p:cond delay="147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600"/>
                                  <p:tgtEl>
                                    <p:spTgt spid="24"/>
                                  </p:tgtEl>
                                </p:cBhvr>
                              </p:animEffect>
                              <p:anim calcmode="lin" valueType="num">
                                <p:cBhvr>
                                  <p:cTn id="87" dur="600" decel="100000" fill="hold"/>
                                  <p:tgtEl>
                                    <p:spTgt spid="24"/>
                                  </p:tgtEl>
                                  <p:attrNameLst>
                                    <p:attrName>ppt_y</p:attrName>
                                  </p:attrNameLst>
                                </p:cBhvr>
                                <p:tavLst>
                                  <p:tav tm="0">
                                    <p:val>
                                      <p:strVal val="#ppt_y+0.03"/>
                                    </p:val>
                                  </p:tav>
                                  <p:tav tm="100000">
                                    <p:val>
                                      <p:strVal val="#ppt_y"/>
                                    </p:val>
                                  </p:tav>
                                </p:tavLst>
                              </p:anim>
                            </p:childTnLst>
                          </p:cTn>
                        </p:par>
                        <p:par>
                          <p:cTn id="88" presetID="10" presetClass="entr" presetSubtype="0" fill="hold" nodeType="withEffect">
                            <p:stCondLst>
                              <p:cond delay="153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600"/>
                                  <p:tgtEl>
                                    <p:spTgt spid="25"/>
                                  </p:tgtEl>
                                </p:cBhvr>
                              </p:animEffect>
                              <p:anim calcmode="lin" valueType="num">
                                <p:cBhvr>
                                  <p:cTn id="91" dur="600" decel="100000" fill="hold"/>
                                  <p:tgtEl>
                                    <p:spTgt spid="25"/>
                                  </p:tgtEl>
                                  <p:attrNameLst>
                                    <p:attrName>ppt_y</p:attrName>
                                  </p:attrNameLst>
                                </p:cBhvr>
                                <p:tavLst>
                                  <p:tav tm="0">
                                    <p:val>
                                      <p:strVal val="#ppt_y+0.03"/>
                                    </p:val>
                                  </p:tav>
                                  <p:tav tm="100000">
                                    <p:val>
                                      <p:strVal val="#ppt_y"/>
                                    </p:val>
                                  </p:tav>
                                </p:tavLst>
                              </p:anim>
                            </p:childTnLst>
                          </p:cTn>
                        </p:par>
                        <p:par>
                          <p:cTn id="92" presetID="10" presetClass="entr" presetSubtype="0" fill="hold" nodeType="withEffect">
                            <p:stCondLst>
                              <p:cond delay="159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600"/>
                                  <p:tgtEl>
                                    <p:spTgt spid="26"/>
                                  </p:tgtEl>
                                </p:cBhvr>
                              </p:animEffect>
                              <p:anim calcmode="lin" valueType="num">
                                <p:cBhvr>
                                  <p:cTn id="95" dur="600" decel="100000" fill="hold"/>
                                  <p:tgtEl>
                                    <p:spTgt spid="26"/>
                                  </p:tgtEl>
                                  <p:attrNameLst>
                                    <p:attrName>ppt_y</p:attrName>
                                  </p:attrNameLst>
                                </p:cBhvr>
                                <p:tavLst>
                                  <p:tav tm="0">
                                    <p:val>
                                      <p:strVal val="#ppt_y+0.03"/>
                                    </p:val>
                                  </p:tav>
                                  <p:tav tm="100000">
                                    <p:val>
                                      <p:strVal val="#ppt_y"/>
                                    </p:val>
                                  </p:tav>
                                </p:tavLst>
                              </p:anim>
                            </p:childTnLst>
                          </p:cTn>
                        </p:par>
                        <p:par>
                          <p:cTn id="96" presetID="10" presetClass="entr" presetSubtype="0" fill="hold" nodeType="withEffect">
                            <p:stCondLst>
                              <p:cond delay="165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anim calcmode="lin" valueType="num">
                                <p:cBhvr>
                                  <p:cTn id="99" dur="600" decel="100000" fill="hold"/>
                                  <p:tgtEl>
                                    <p:spTgt spid="27"/>
                                  </p:tgtEl>
                                  <p:attrNameLst>
                                    <p:attrName>ppt_y</p:attrName>
                                  </p:attrNameLst>
                                </p:cBhvr>
                                <p:tavLst>
                                  <p:tav tm="0">
                                    <p:val>
                                      <p:strVal val="#ppt_y+0.03"/>
                                    </p:val>
                                  </p:tav>
                                  <p:tav tm="100000">
                                    <p:val>
                                      <p:strVal val="#ppt_y"/>
                                    </p:val>
                                  </p:tav>
                                </p:tavLst>
                              </p:anim>
                            </p:childTnLst>
                          </p:cTn>
                        </p:par>
                        <p:par>
                          <p:cTn id="100" presetID="10" presetClass="entr" presetSubtype="0" fill="hold" nodeType="withEffect">
                            <p:stCondLst>
                              <p:cond delay="171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600"/>
                                  <p:tgtEl>
                                    <p:spTgt spid="28"/>
                                  </p:tgtEl>
                                </p:cBhvr>
                              </p:animEffect>
                              <p:anim calcmode="lin" valueType="num">
                                <p:cBhvr>
                                  <p:cTn id="103" dur="600" decel="100000" fill="hold"/>
                                  <p:tgtEl>
                                    <p:spTgt spid="28"/>
                                  </p:tgtEl>
                                  <p:attrNameLst>
                                    <p:attrName>ppt_y</p:attrName>
                                  </p:attrNameLst>
                                </p:cBhvr>
                                <p:tavLst>
                                  <p:tav tm="0">
                                    <p:val>
                                      <p:strVal val="#ppt_y+0.03"/>
                                    </p:val>
                                  </p:tav>
                                  <p:tav tm="100000">
                                    <p:val>
                                      <p:strVal val="#ppt_y"/>
                                    </p:val>
                                  </p:tav>
                                </p:tavLst>
                              </p:anim>
                            </p:childTnLst>
                          </p:cTn>
                        </p:par>
                        <p:par>
                          <p:cTn id="104" presetID="10" presetClass="entr" presetSubtype="0" fill="hold" nodeType="withEffect">
                            <p:stCondLst>
                              <p:cond delay="180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600"/>
                                  <p:tgtEl>
                                    <p:spTgt spid="29"/>
                                  </p:tgtEl>
                                </p:cBhvr>
                              </p:animEffect>
                              <p:anim calcmode="lin" valueType="num">
                                <p:cBhvr>
                                  <p:cTn id="107" dur="600" decel="100000" fill="hold"/>
                                  <p:tgtEl>
                                    <p:spTgt spid="29"/>
                                  </p:tgtEl>
                                  <p:attrNameLst>
                                    <p:attrName>ppt_y</p:attrName>
                                  </p:attrNameLst>
                                </p:cBhvr>
                                <p:tavLst>
                                  <p:tav tm="0">
                                    <p:val>
                                      <p:strVal val="#ppt_y+0.03"/>
                                    </p:val>
                                  </p:tav>
                                  <p:tav tm="100000">
                                    <p:val>
                                      <p:strVal val="#ppt_y"/>
                                    </p:val>
                                  </p:tav>
                                </p:tavLst>
                              </p:anim>
                            </p:childTnLst>
                          </p:cTn>
                        </p:par>
                        <p:par>
                          <p:cTn id="108" presetID="10" presetClass="entr" presetSubtype="0" fill="hold" nodeType="withEffect">
                            <p:stCondLst>
                              <p:cond delay="186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600"/>
                                  <p:tgtEl>
                                    <p:spTgt spid="30"/>
                                  </p:tgtEl>
                                </p:cBhvr>
                              </p:animEffect>
                              <p:anim calcmode="lin" valueType="num">
                                <p:cBhvr>
                                  <p:cTn id="111" dur="600" decel="100000" fill="hold"/>
                                  <p:tgtEl>
                                    <p:spTgt spid="30"/>
                                  </p:tgtEl>
                                  <p:attrNameLst>
                                    <p:attrName>ppt_y</p:attrName>
                                  </p:attrNameLst>
                                </p:cBhvr>
                                <p:tavLst>
                                  <p:tav tm="0">
                                    <p:val>
                                      <p:strVal val="#ppt_y+0.03"/>
                                    </p:val>
                                  </p:tav>
                                  <p:tav tm="100000">
                                    <p:val>
                                      <p:strVal val="#ppt_y"/>
                                    </p:val>
                                  </p:tav>
                                </p:tavLst>
                              </p:anim>
                            </p:childTnLst>
                          </p:cTn>
                        </p:par>
                        <p:par>
                          <p:cTn id="112" presetID="10" presetClass="entr" presetSubtype="0" fill="hold" nodeType="withEffect">
                            <p:stCondLst>
                              <p:cond delay="1920"/>
                            </p:stCondLst>
                            <p:childTnLst>
                              <p:set>
                                <p:cBhvr>
                                  <p:cTn id="113" dur="1" fill="hold">
                                    <p:stCondLst>
                                      <p:cond delay="0"/>
                                    </p:stCondLst>
                                  </p:cTn>
                                  <p:tgtEl>
                                    <p:spTgt spid="31"/>
                                  </p:tgtEl>
                                  <p:attrNameLst>
                                    <p:attrName>style.visibility</p:attrName>
                                  </p:attrNameLst>
                                </p:cBhvr>
                                <p:to>
                                  <p:strVal val="visible"/>
                                </p:to>
                              </p:set>
                              <p:animEffect transition="in" filter="fade">
                                <p:cBhvr>
                                  <p:cTn id="114" dur="600"/>
                                  <p:tgtEl>
                                    <p:spTgt spid="31"/>
                                  </p:tgtEl>
                                </p:cBhvr>
                              </p:animEffect>
                              <p:anim calcmode="lin" valueType="num">
                                <p:cBhvr>
                                  <p:cTn id="115" dur="600" decel="100000" fill="hold"/>
                                  <p:tgtEl>
                                    <p:spTgt spid="31"/>
                                  </p:tgtEl>
                                  <p:attrNameLst>
                                    <p:attrName>ppt_y</p:attrName>
                                  </p:attrNameLst>
                                </p:cBhvr>
                                <p:tavLst>
                                  <p:tav tm="0">
                                    <p:val>
                                      <p:strVal val="#ppt_y+0.03"/>
                                    </p:val>
                                  </p:tav>
                                  <p:tav tm="100000">
                                    <p:val>
                                      <p:strVal val="#ppt_y"/>
                                    </p:val>
                                  </p:tav>
                                </p:tavLst>
                              </p:anim>
                            </p:childTnLst>
                          </p:cTn>
                        </p:par>
                        <p:par>
                          <p:cTn id="116" presetID="10" presetClass="entr" presetSubtype="0" fill="hold" nodeType="withEffect">
                            <p:stCondLst>
                              <p:cond delay="1980"/>
                            </p:stCondLst>
                            <p:childTnLst>
                              <p:set>
                                <p:cBhvr>
                                  <p:cTn id="117" dur="1" fill="hold">
                                    <p:stCondLst>
                                      <p:cond delay="0"/>
                                    </p:stCondLst>
                                  </p:cTn>
                                  <p:tgtEl>
                                    <p:spTgt spid="32"/>
                                  </p:tgtEl>
                                  <p:attrNameLst>
                                    <p:attrName>style.visibility</p:attrName>
                                  </p:attrNameLst>
                                </p:cBhvr>
                                <p:to>
                                  <p:strVal val="visible"/>
                                </p:to>
                              </p:set>
                              <p:animEffect transition="in" filter="fade">
                                <p:cBhvr>
                                  <p:cTn id="118" dur="600"/>
                                  <p:tgtEl>
                                    <p:spTgt spid="32"/>
                                  </p:tgtEl>
                                </p:cBhvr>
                              </p:animEffect>
                              <p:anim calcmode="lin" valueType="num">
                                <p:cBhvr>
                                  <p:cTn id="119" dur="600" decel="100000" fill="hold"/>
                                  <p:tgtEl>
                                    <p:spTgt spid="32"/>
                                  </p:tgtEl>
                                  <p:attrNameLst>
                                    <p:attrName>ppt_y</p:attrName>
                                  </p:attrNameLst>
                                </p:cBhvr>
                                <p:tavLst>
                                  <p:tav tm="0">
                                    <p:val>
                                      <p:strVal val="#ppt_y+0.03"/>
                                    </p:val>
                                  </p:tav>
                                  <p:tav tm="100000">
                                    <p:val>
                                      <p:strVal val="#ppt_y"/>
                                    </p:val>
                                  </p:tav>
                                </p:tavLst>
                              </p:anim>
                            </p:childTnLst>
                          </p:cTn>
                        </p:par>
                        <p:par>
                          <p:cTn id="120" presetID="10" presetClass="entr" presetSubtype="0" fill="hold" nodeType="withEffect">
                            <p:stCondLst>
                              <p:cond delay="204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600"/>
                                  <p:tgtEl>
                                    <p:spTgt spid="33"/>
                                  </p:tgtEl>
                                </p:cBhvr>
                              </p:animEffect>
                              <p:anim calcmode="lin" valueType="num">
                                <p:cBhvr>
                                  <p:cTn id="123" dur="600" decel="100000" fill="hold"/>
                                  <p:tgtEl>
                                    <p:spTgt spid="33"/>
                                  </p:tgtEl>
                                  <p:attrNameLst>
                                    <p:attrName>ppt_y</p:attrName>
                                  </p:attrNameLst>
                                </p:cBhvr>
                                <p:tavLst>
                                  <p:tav tm="0">
                                    <p:val>
                                      <p:strVal val="#ppt_y+0.03"/>
                                    </p:val>
                                  </p:tav>
                                  <p:tav tm="100000">
                                    <p:val>
                                      <p:strVal val="#ppt_y"/>
                                    </p:val>
                                  </p:tav>
                                </p:tavLst>
                              </p:anim>
                            </p:childTnLst>
                          </p:cTn>
                        </p:par>
                        <p:par>
                          <p:cTn id="124" presetID="10" presetClass="entr" presetSubtype="0" fill="hold" nodeType="withEffect">
                            <p:stCondLst>
                              <p:cond delay="210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600"/>
                                  <p:tgtEl>
                                    <p:spTgt spid="34"/>
                                  </p:tgtEl>
                                </p:cBhvr>
                              </p:animEffect>
                              <p:anim calcmode="lin" valueType="num">
                                <p:cBhvr>
                                  <p:cTn id="127" dur="600" decel="100000" fill="hold"/>
                                  <p:tgtEl>
                                    <p:spTgt spid="34"/>
                                  </p:tgtEl>
                                  <p:attrNameLst>
                                    <p:attrName>ppt_y</p:attrName>
                                  </p:attrNameLst>
                                </p:cBhvr>
                                <p:tavLst>
                                  <p:tav tm="0">
                                    <p:val>
                                      <p:strVal val="#ppt_y+0.03"/>
                                    </p:val>
                                  </p:tav>
                                  <p:tav tm="100000">
                                    <p:val>
                                      <p:strVal val="#ppt_y"/>
                                    </p:val>
                                  </p:tav>
                                </p:tavLst>
                              </p:anim>
                            </p:childTnLst>
                          </p:cTn>
                        </p:par>
                        <p:par>
                          <p:cTn id="128" presetID="10" presetClass="entr" presetSubtype="0" fill="hold" nodeType="withEffect">
                            <p:stCondLst>
                              <p:cond delay="216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600"/>
                                  <p:tgtEl>
                                    <p:spTgt spid="35"/>
                                  </p:tgtEl>
                                </p:cBhvr>
                              </p:animEffect>
                              <p:anim calcmode="lin" valueType="num">
                                <p:cBhvr>
                                  <p:cTn id="131" dur="600" decel="100000" fill="hold"/>
                                  <p:tgtEl>
                                    <p:spTgt spid="35"/>
                                  </p:tgtEl>
                                  <p:attrNameLst>
                                    <p:attrName>ppt_y</p:attrName>
                                  </p:attrNameLst>
                                </p:cBhvr>
                                <p:tavLst>
                                  <p:tav tm="0">
                                    <p:val>
                                      <p:strVal val="#ppt_y+0.03"/>
                                    </p:val>
                                  </p:tav>
                                  <p:tav tm="100000">
                                    <p:val>
                                      <p:strVal val="#ppt_y"/>
                                    </p:val>
                                  </p:tav>
                                </p:tavLst>
                              </p:anim>
                            </p:childTnLst>
                          </p:cTn>
                        </p:par>
                        <p:par>
                          <p:cTn id="132" presetID="10" presetClass="entr" presetSubtype="0" fill="hold" nodeType="withEffect">
                            <p:stCondLst>
                              <p:cond delay="2250"/>
                            </p:stCondLst>
                            <p:childTnLst>
                              <p:set>
                                <p:cBhvr>
                                  <p:cTn id="133" dur="1" fill="hold">
                                    <p:stCondLst>
                                      <p:cond delay="0"/>
                                    </p:stCondLst>
                                  </p:cTn>
                                  <p:tgtEl>
                                    <p:spTgt spid="36"/>
                                  </p:tgtEl>
                                  <p:attrNameLst>
                                    <p:attrName>style.visibility</p:attrName>
                                  </p:attrNameLst>
                                </p:cBhvr>
                                <p:to>
                                  <p:strVal val="visible"/>
                                </p:to>
                              </p:set>
                              <p:animEffect transition="in" filter="fade">
                                <p:cBhvr>
                                  <p:cTn id="134" dur="600"/>
                                  <p:tgtEl>
                                    <p:spTgt spid="36"/>
                                  </p:tgtEl>
                                </p:cBhvr>
                              </p:animEffect>
                              <p:anim calcmode="lin" valueType="num">
                                <p:cBhvr>
                                  <p:cTn id="135" dur="600" decel="100000" fill="hold"/>
                                  <p:tgtEl>
                                    <p:spTgt spid="36"/>
                                  </p:tgtEl>
                                  <p:attrNameLst>
                                    <p:attrName>ppt_y</p:attrName>
                                  </p:attrNameLst>
                                </p:cBhvr>
                                <p:tavLst>
                                  <p:tav tm="0">
                                    <p:val>
                                      <p:strVal val="#ppt_y+0.03"/>
                                    </p:val>
                                  </p:tav>
                                  <p:tav tm="100000">
                                    <p:val>
                                      <p:strVal val="#ppt_y"/>
                                    </p:val>
                                  </p:tav>
                                </p:tavLst>
                              </p:anim>
                            </p:childTnLst>
                          </p:cTn>
                        </p:par>
                        <p:par>
                          <p:cTn id="136" presetID="10" presetClass="entr" presetSubtype="0" fill="hold" nodeType="withEffect">
                            <p:stCondLst>
                              <p:cond delay="2310"/>
                            </p:stCondLst>
                            <p:childTnLst>
                              <p:set>
                                <p:cBhvr>
                                  <p:cTn id="137" dur="1" fill="hold">
                                    <p:stCondLst>
                                      <p:cond delay="0"/>
                                    </p:stCondLst>
                                  </p:cTn>
                                  <p:tgtEl>
                                    <p:spTgt spid="37"/>
                                  </p:tgtEl>
                                  <p:attrNameLst>
                                    <p:attrName>style.visibility</p:attrName>
                                  </p:attrNameLst>
                                </p:cBhvr>
                                <p:to>
                                  <p:strVal val="visible"/>
                                </p:to>
                              </p:set>
                              <p:animEffect transition="in" filter="fade">
                                <p:cBhvr>
                                  <p:cTn id="138" dur="600"/>
                                  <p:tgtEl>
                                    <p:spTgt spid="37"/>
                                  </p:tgtEl>
                                </p:cBhvr>
                              </p:animEffect>
                              <p:anim calcmode="lin" valueType="num">
                                <p:cBhvr>
                                  <p:cTn id="139" dur="600" decel="100000" fill="hold"/>
                                  <p:tgtEl>
                                    <p:spTgt spid="37"/>
                                  </p:tgtEl>
                                  <p:attrNameLst>
                                    <p:attrName>ppt_y</p:attrName>
                                  </p:attrNameLst>
                                </p:cBhvr>
                                <p:tavLst>
                                  <p:tav tm="0">
                                    <p:val>
                                      <p:strVal val="#ppt_y+0.03"/>
                                    </p:val>
                                  </p:tav>
                                  <p:tav tm="100000">
                                    <p:val>
                                      <p:strVal val="#ppt_y"/>
                                    </p:val>
                                  </p:tav>
                                </p:tavLst>
                              </p:anim>
                            </p:childTnLst>
                          </p:cTn>
                        </p:par>
                        <p:par>
                          <p:cTn id="140" presetID="10" presetClass="entr" presetSubtype="0" fill="hold" nodeType="withEffect">
                            <p:stCondLst>
                              <p:cond delay="2370"/>
                            </p:stCondLst>
                            <p:childTnLst>
                              <p:set>
                                <p:cBhvr>
                                  <p:cTn id="141" dur="1" fill="hold">
                                    <p:stCondLst>
                                      <p:cond delay="0"/>
                                    </p:stCondLst>
                                  </p:cTn>
                                  <p:tgtEl>
                                    <p:spTgt spid="38"/>
                                  </p:tgtEl>
                                  <p:attrNameLst>
                                    <p:attrName>style.visibility</p:attrName>
                                  </p:attrNameLst>
                                </p:cBhvr>
                                <p:to>
                                  <p:strVal val="visible"/>
                                </p:to>
                              </p:set>
                              <p:animEffect transition="in" filter="fade">
                                <p:cBhvr>
                                  <p:cTn id="142" dur="600"/>
                                  <p:tgtEl>
                                    <p:spTgt spid="38"/>
                                  </p:tgtEl>
                                </p:cBhvr>
                              </p:animEffect>
                              <p:anim calcmode="lin" valueType="num">
                                <p:cBhvr>
                                  <p:cTn id="143" dur="600" decel="100000" fill="hold"/>
                                  <p:tgtEl>
                                    <p:spTgt spid="38"/>
                                  </p:tgtEl>
                                  <p:attrNameLst>
                                    <p:attrName>ppt_y</p:attrName>
                                  </p:attrNameLst>
                                </p:cBhvr>
                                <p:tavLst>
                                  <p:tav tm="0">
                                    <p:val>
                                      <p:strVal val="#ppt_y+0.03"/>
                                    </p:val>
                                  </p:tav>
                                  <p:tav tm="100000">
                                    <p:val>
                                      <p:strVal val="#ppt_y"/>
                                    </p:val>
                                  </p:tav>
                                </p:tavLst>
                              </p:anim>
                            </p:childTnLst>
                          </p:cTn>
                        </p:par>
                        <p:par>
                          <p:cTn id="144" presetID="10" presetClass="entr" presetSubtype="0" fill="hold" nodeType="withEffect">
                            <p:stCondLst>
                              <p:cond delay="2430"/>
                            </p:stCondLst>
                            <p:childTnLst>
                              <p:set>
                                <p:cBhvr>
                                  <p:cTn id="145" dur="1" fill="hold">
                                    <p:stCondLst>
                                      <p:cond delay="0"/>
                                    </p:stCondLst>
                                  </p:cTn>
                                  <p:tgtEl>
                                    <p:spTgt spid="39"/>
                                  </p:tgtEl>
                                  <p:attrNameLst>
                                    <p:attrName>style.visibility</p:attrName>
                                  </p:attrNameLst>
                                </p:cBhvr>
                                <p:to>
                                  <p:strVal val="visible"/>
                                </p:to>
                              </p:set>
                              <p:animEffect transition="in" filter="fade">
                                <p:cBhvr>
                                  <p:cTn id="146" dur="600"/>
                                  <p:tgtEl>
                                    <p:spTgt spid="39"/>
                                  </p:tgtEl>
                                </p:cBhvr>
                              </p:animEffect>
                              <p:anim calcmode="lin" valueType="num">
                                <p:cBhvr>
                                  <p:cTn id="147" dur="600" decel="100000" fill="hold"/>
                                  <p:tgtEl>
                                    <p:spTgt spid="39"/>
                                  </p:tgtEl>
                                  <p:attrNameLst>
                                    <p:attrName>ppt_y</p:attrName>
                                  </p:attrNameLst>
                                </p:cBhvr>
                                <p:tavLst>
                                  <p:tav tm="0">
                                    <p:val>
                                      <p:strVal val="#ppt_y+0.03"/>
                                    </p:val>
                                  </p:tav>
                                  <p:tav tm="100000">
                                    <p:val>
                                      <p:strVal val="#ppt_y"/>
                                    </p:val>
                                  </p:tav>
                                </p:tavLst>
                              </p:anim>
                            </p:childTnLst>
                          </p:cTn>
                        </p:par>
                        <p:par>
                          <p:cTn id="148" presetID="10" presetClass="entr" presetSubtype="0" fill="hold" nodeType="withEffect">
                            <p:stCondLst>
                              <p:cond delay="2490"/>
                            </p:stCondLst>
                            <p:childTnLst>
                              <p:set>
                                <p:cBhvr>
                                  <p:cTn id="149" dur="1" fill="hold">
                                    <p:stCondLst>
                                      <p:cond delay="0"/>
                                    </p:stCondLst>
                                  </p:cTn>
                                  <p:tgtEl>
                                    <p:spTgt spid="40"/>
                                  </p:tgtEl>
                                  <p:attrNameLst>
                                    <p:attrName>style.visibility</p:attrName>
                                  </p:attrNameLst>
                                </p:cBhvr>
                                <p:to>
                                  <p:strVal val="visible"/>
                                </p:to>
                              </p:set>
                              <p:animEffect transition="in" filter="fade">
                                <p:cBhvr>
                                  <p:cTn id="150" dur="600"/>
                                  <p:tgtEl>
                                    <p:spTgt spid="40"/>
                                  </p:tgtEl>
                                </p:cBhvr>
                              </p:animEffect>
                              <p:anim calcmode="lin" valueType="num">
                                <p:cBhvr>
                                  <p:cTn id="151" dur="600" decel="100000" fill="hold"/>
                                  <p:tgtEl>
                                    <p:spTgt spid="40"/>
                                  </p:tgtEl>
                                  <p:attrNameLst>
                                    <p:attrName>ppt_y</p:attrName>
                                  </p:attrNameLst>
                                </p:cBhvr>
                                <p:tavLst>
                                  <p:tav tm="0">
                                    <p:val>
                                      <p:strVal val="#ppt_y+0.03"/>
                                    </p:val>
                                  </p:tav>
                                  <p:tav tm="100000">
                                    <p:val>
                                      <p:strVal val="#ppt_y"/>
                                    </p:val>
                                  </p:tav>
                                </p:tavLst>
                              </p:anim>
                            </p:childTnLst>
                          </p:cTn>
                        </p:par>
                        <p:par>
                          <p:cTn id="152" presetID="10" presetClass="entr" presetSubtype="0" fill="hold" nodeType="withEffect">
                            <p:stCondLst>
                              <p:cond delay="2550"/>
                            </p:stCondLst>
                            <p:childTnLst>
                              <p:set>
                                <p:cBhvr>
                                  <p:cTn id="153" dur="1" fill="hold">
                                    <p:stCondLst>
                                      <p:cond delay="0"/>
                                    </p:stCondLst>
                                  </p:cTn>
                                  <p:tgtEl>
                                    <p:spTgt spid="41"/>
                                  </p:tgtEl>
                                  <p:attrNameLst>
                                    <p:attrName>style.visibility</p:attrName>
                                  </p:attrNameLst>
                                </p:cBhvr>
                                <p:to>
                                  <p:strVal val="visible"/>
                                </p:to>
                              </p:set>
                              <p:animEffect transition="in" filter="fade">
                                <p:cBhvr>
                                  <p:cTn id="154" dur="600"/>
                                  <p:tgtEl>
                                    <p:spTgt spid="41"/>
                                  </p:tgtEl>
                                </p:cBhvr>
                              </p:animEffect>
                              <p:anim calcmode="lin" valueType="num">
                                <p:cBhvr>
                                  <p:cTn id="155" dur="600" decel="100000" fill="hold"/>
                                  <p:tgtEl>
                                    <p:spTgt spid="41"/>
                                  </p:tgtEl>
                                  <p:attrNameLst>
                                    <p:attrName>ppt_y</p:attrName>
                                  </p:attrNameLst>
                                </p:cBhvr>
                                <p:tavLst>
                                  <p:tav tm="0">
                                    <p:val>
                                      <p:strVal val="#ppt_y+0.03"/>
                                    </p:val>
                                  </p:tav>
                                  <p:tav tm="100000">
                                    <p:val>
                                      <p:strVal val="#ppt_y"/>
                                    </p:val>
                                  </p:tav>
                                </p:tavLst>
                              </p:anim>
                            </p:childTnLst>
                          </p:cTn>
                        </p:par>
                        <p:par>
                          <p:cTn id="156" presetID="10" presetClass="entr" presetSubtype="0" fill="hold" nodeType="withEffect">
                            <p:stCondLst>
                              <p:cond delay="2610"/>
                            </p:stCondLst>
                            <p:childTnLst>
                              <p:set>
                                <p:cBhvr>
                                  <p:cTn id="157" dur="1" fill="hold">
                                    <p:stCondLst>
                                      <p:cond delay="0"/>
                                    </p:stCondLst>
                                  </p:cTn>
                                  <p:tgtEl>
                                    <p:spTgt spid="42"/>
                                  </p:tgtEl>
                                  <p:attrNameLst>
                                    <p:attrName>style.visibility</p:attrName>
                                  </p:attrNameLst>
                                </p:cBhvr>
                                <p:to>
                                  <p:strVal val="visible"/>
                                </p:to>
                              </p:set>
                              <p:animEffect transition="in" filter="fade">
                                <p:cBhvr>
                                  <p:cTn id="158" dur="600"/>
                                  <p:tgtEl>
                                    <p:spTgt spid="42"/>
                                  </p:tgtEl>
                                </p:cBhvr>
                              </p:animEffect>
                              <p:anim calcmode="lin" valueType="num">
                                <p:cBhvr>
                                  <p:cTn id="159" dur="600" decel="100000" fill="hold"/>
                                  <p:tgtEl>
                                    <p:spTgt spid="42"/>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p>
            <a:pPr indent="0" marL="0">
              <a:buNone/>
            </a:pPr>
            <a:r>
              <a:rPr lang="en-US" sz="1400" b="1" dirty="0">
                <a:solidFill>
                  <a:schemeClr val="accent1"/>
                </a:solidFill>
              </a:rPr>
              <a:t>Administration à distance</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p>
            <a:pPr algn="l" indent="0" marL="0">
              <a:buNone/>
            </a:pPr>
            <a:r>
              <a:rPr lang="en-US" sz="3200" b="1" dirty="0">
                <a:solidFill>
                  <a:schemeClr val="tx1"/>
                </a:solidFill>
              </a:rPr>
              <a:t>Un administrateur, </a:t>
            </a:r>
            <a:pPr algn="l" indent="0" marL="0">
              <a:buNone/>
            </a:pPr>
            <a:r>
              <a:rPr lang="en-US" sz="3200" b="1" dirty="0">
                <a:solidFill>
                  <a:schemeClr val="accent1"/>
                </a:solidFill>
              </a:rPr>
              <a:t>où qu'il soit</a:t>
            </a:r>
            <a:endParaRPr lang="en-US" sz="3200" dirty="0"/>
          </a:p>
        </p:txBody>
      </p:sp>
      <p:sp>
        <p:nvSpPr>
          <p:cNvPr id="4" name="a1_78"/>
          <p:cNvSpPr/>
          <p:nvPr/>
        </p:nvSpPr>
        <p:spPr>
          <a:xfrm>
            <a:off x="822960" y="2286000"/>
            <a:ext cx="1371600" cy="1371600"/>
          </a:xfrm>
          <a:prstGeom prst="ellipse">
            <a:avLst/>
          </a:prstGeom>
          <a:solidFill>
            <a:schemeClr val="accent1"/>
          </a:solidFill>
          <a:ln w="12700">
            <a:solidFill>
              <a:schemeClr val="accent1"/>
            </a:solidFill>
            <a:prstDash val="solid"/>
          </a:ln>
        </p:spPr>
      </p:sp>
      <p:pic>
        <p:nvPicPr>
          <p:cNvPr id="5" name="a1_79" descr="preencoded.png">    </p:cNvPr>
          <p:cNvPicPr>
            <a:picLocks noChangeAspect="1"/>
          </p:cNvPicPr>
          <p:nvPr/>
        </p:nvPicPr>
        <p:blipFill>
          <a:blip r:embed="rId1"/>
          <a:stretch>
            <a:fillRect/>
          </a:stretch>
        </p:blipFill>
        <p:spPr>
          <a:xfrm>
            <a:off x="1179576" y="2642616"/>
            <a:ext cx="658368" cy="658368"/>
          </a:xfrm>
          <a:prstGeom prst="rect">
            <a:avLst/>
          </a:prstGeom>
        </p:spPr>
      </p:pic>
      <p:sp>
        <p:nvSpPr>
          <p:cNvPr id="6" name="a1_80"/>
          <p:cNvSpPr txBox="1"/>
          <p:nvPr/>
        </p:nvSpPr>
        <p:spPr>
          <a:xfrm>
            <a:off x="365760" y="3794760"/>
            <a:ext cx="2286000" cy="365760"/>
          </a:xfrm>
          <a:prstGeom prst="rect">
            <a:avLst/>
          </a:prstGeom>
          <a:noFill/>
          <a:ln/>
        </p:spPr>
        <p:txBody>
          <a:bodyPr wrap="square" lIns="0" tIns="0" rIns="0" bIns="0" rtlCol="0" anchor="ctr"/>
          <a:lstStyle/>
          <a:p>
            <a:pPr algn="ctr" indent="0" marL="0">
              <a:buNone/>
            </a:pPr>
            <a:r>
              <a:rPr lang="en-US" sz="1600" b="1" dirty="0">
                <a:solidFill>
                  <a:schemeClr val="tx2"/>
                </a:solidFill>
              </a:rPr>
              <a:t>Administrateur</a:t>
            </a:r>
            <a:endParaRPr lang="en-US" sz="1600" dirty="0"/>
          </a:p>
        </p:txBody>
      </p:sp>
      <p:sp>
        <p:nvSpPr>
          <p:cNvPr id="7" name="a1_81"/>
          <p:cNvSpPr txBox="1"/>
          <p:nvPr/>
        </p:nvSpPr>
        <p:spPr>
          <a:xfrm>
            <a:off x="365760" y="4160520"/>
            <a:ext cx="2286000" cy="640080"/>
          </a:xfrm>
          <a:prstGeom prst="rect">
            <a:avLst/>
          </a:prstGeom>
          <a:noFill/>
          <a:ln/>
        </p:spPr>
        <p:txBody>
          <a:bodyPr wrap="square" lIns="0" tIns="0" rIns="0" bIns="0" rtlCol="0" anchor="ctr"/>
          <a:lstStyle/>
          <a:p>
            <a:pPr algn="ctr" indent="0" marL="0">
              <a:buNone/>
            </a:pPr>
            <a:r>
              <a:rPr lang="en-US" sz="1300" dirty="0">
                <a:solidFill>
                  <a:schemeClr val="accent6"/>
                </a:solidFill>
              </a:rPr>
              <a:t>Depuis le bureau, la maison ou en déplacement</a:t>
            </a:r>
            <a:endParaRPr lang="en-US" sz="1300" dirty="0"/>
          </a:p>
        </p:txBody>
      </p:sp>
      <p:sp>
        <p:nvSpPr>
          <p:cNvPr id="8" name="a2_82"/>
          <p:cNvSpPr/>
          <p:nvPr/>
        </p:nvSpPr>
        <p:spPr>
          <a:xfrm>
            <a:off x="2377440" y="2971800"/>
            <a:ext cx="2377440" cy="0"/>
          </a:xfrm>
          <a:prstGeom prst="line">
            <a:avLst/>
          </a:prstGeom>
          <a:noFill/>
          <a:ln w="38100">
            <a:solidFill>
              <a:schemeClr val="accent2"/>
            </a:solidFill>
            <a:prstDash val="dash"/>
          </a:ln>
        </p:spPr>
      </p:sp>
      <p:sp>
        <p:nvSpPr>
          <p:cNvPr id="9" name="a2_83"/>
          <p:cNvSpPr/>
          <p:nvPr/>
        </p:nvSpPr>
        <p:spPr>
          <a:xfrm>
            <a:off x="3246120" y="2651760"/>
            <a:ext cx="640080" cy="640080"/>
          </a:xfrm>
          <a:prstGeom prst="ellipse">
            <a:avLst/>
          </a:prstGeom>
          <a:solidFill>
            <a:schemeClr val="accent2"/>
          </a:solidFill>
          <a:ln w="12700">
            <a:solidFill>
              <a:schemeClr val="accent2"/>
            </a:solidFill>
            <a:prstDash val="solid"/>
          </a:ln>
        </p:spPr>
      </p:sp>
      <p:pic>
        <p:nvPicPr>
          <p:cNvPr id="10" name="a2_84" descr="preencoded.png">    </p:cNvPr>
          <p:cNvPicPr>
            <a:picLocks noChangeAspect="1"/>
          </p:cNvPicPr>
          <p:nvPr/>
        </p:nvPicPr>
        <p:blipFill>
          <a:blip r:embed="rId2"/>
          <a:stretch>
            <a:fillRect/>
          </a:stretch>
        </p:blipFill>
        <p:spPr>
          <a:xfrm>
            <a:off x="3412541" y="2818181"/>
            <a:ext cx="307238" cy="307238"/>
          </a:xfrm>
          <a:prstGeom prst="rect">
            <a:avLst/>
          </a:prstGeom>
        </p:spPr>
      </p:pic>
      <p:sp>
        <p:nvSpPr>
          <p:cNvPr id="11" name="a2_85"/>
          <p:cNvSpPr txBox="1"/>
          <p:nvPr/>
        </p:nvSpPr>
        <p:spPr>
          <a:xfrm>
            <a:off x="2377440" y="3429000"/>
            <a:ext cx="2377440" cy="365760"/>
          </a:xfrm>
          <a:prstGeom prst="rect">
            <a:avLst/>
          </a:prstGeom>
          <a:noFill/>
          <a:ln/>
        </p:spPr>
        <p:txBody>
          <a:bodyPr wrap="square" lIns="0" tIns="0" rIns="0" bIns="0" rtlCol="0" anchor="ctr"/>
          <a:lstStyle/>
          <a:p>
            <a:pPr algn="ctr" indent="0" marL="0">
              <a:buNone/>
            </a:pPr>
            <a:r>
              <a:rPr lang="en-US" sz="1300" b="1" dirty="0">
                <a:solidFill>
                  <a:schemeClr val="accent2"/>
                </a:solidFill>
              </a:rPr>
              <a:t>Tunnel chiffré Tailscale</a:t>
            </a:r>
            <a:endParaRPr lang="en-US" sz="1300" dirty="0"/>
          </a:p>
        </p:txBody>
      </p:sp>
      <p:pic>
        <p:nvPicPr>
          <p:cNvPr id="12" name="a3_86" descr="preencoded.png">    </p:cNvPr>
          <p:cNvPicPr>
            <a:picLocks noChangeAspect="1"/>
          </p:cNvPicPr>
          <p:nvPr/>
        </p:nvPicPr>
        <p:blipFill>
          <a:blip r:embed="rId3"/>
          <a:stretch>
            <a:fillRect/>
          </a:stretch>
        </p:blipFill>
        <p:spPr>
          <a:xfrm>
            <a:off x="4663440" y="1600200"/>
            <a:ext cx="2651760" cy="2651760"/>
          </a:xfrm>
          <a:prstGeom prst="rect">
            <a:avLst/>
          </a:prstGeom>
        </p:spPr>
      </p:pic>
      <p:sp>
        <p:nvSpPr>
          <p:cNvPr id="13" name="a3_87"/>
          <p:cNvSpPr txBox="1"/>
          <p:nvPr/>
        </p:nvSpPr>
        <p:spPr>
          <a:xfrm>
            <a:off x="4572000" y="4160520"/>
            <a:ext cx="2834640" cy="365760"/>
          </a:xfrm>
          <a:prstGeom prst="rect">
            <a:avLst/>
          </a:prstGeom>
          <a:noFill/>
          <a:ln/>
        </p:spPr>
        <p:txBody>
          <a:bodyPr wrap="square" lIns="0" tIns="0" rIns="0" bIns="0" rtlCol="0" anchor="ctr"/>
          <a:lstStyle/>
          <a:p>
            <a:pPr algn="ctr" indent="0" marL="0">
              <a:buNone/>
            </a:pPr>
            <a:r>
              <a:rPr lang="en-US" sz="1600" b="1" dirty="0">
                <a:solidFill>
                  <a:schemeClr val="tx2"/>
                </a:solidFill>
              </a:rPr>
              <a:t>Serveur de l'entreprise</a:t>
            </a:r>
            <a:endParaRPr lang="en-US" sz="1600" dirty="0"/>
          </a:p>
        </p:txBody>
      </p:sp>
      <p:sp>
        <p:nvSpPr>
          <p:cNvPr id="14" name="a4_88"/>
          <p:cNvSpPr/>
          <p:nvPr/>
        </p:nvSpPr>
        <p:spPr>
          <a:xfrm>
            <a:off x="7315200" y="2971800"/>
            <a:ext cx="822960" cy="0"/>
          </a:xfrm>
          <a:prstGeom prst="line">
            <a:avLst/>
          </a:prstGeom>
          <a:noFill/>
          <a:ln w="38100">
            <a:solidFill>
              <a:schemeClr val="accent1"/>
            </a:solidFill>
            <a:prstDash val="solid"/>
            <a:tailEnd type="triangle"/>
          </a:ln>
        </p:spPr>
      </p:sp>
      <p:sp>
        <p:nvSpPr>
          <p:cNvPr id="15" name="a4_89"/>
          <p:cNvSpPr/>
          <p:nvPr/>
        </p:nvSpPr>
        <p:spPr>
          <a:xfrm>
            <a:off x="8321040" y="1920240"/>
            <a:ext cx="548640" cy="548640"/>
          </a:xfrm>
          <a:prstGeom prst="roundRect">
            <a:avLst>
              <a:gd name="adj" fmla="val 23333"/>
            </a:avLst>
          </a:prstGeom>
          <a:solidFill>
            <a:schemeClr val="bg2"/>
          </a:solidFill>
          <a:ln w="12700">
            <a:solidFill>
              <a:schemeClr val="bg2"/>
            </a:solidFill>
            <a:prstDash val="solid"/>
          </a:ln>
        </p:spPr>
      </p:sp>
      <p:pic>
        <p:nvPicPr>
          <p:cNvPr id="16" name="a4_90" descr="preencoded.png">    </p:cNvPr>
          <p:cNvPicPr>
            <a:picLocks noChangeAspect="1"/>
          </p:cNvPicPr>
          <p:nvPr/>
        </p:nvPicPr>
        <p:blipFill>
          <a:blip r:embed="rId4"/>
          <a:stretch>
            <a:fillRect/>
          </a:stretch>
        </p:blipFill>
        <p:spPr>
          <a:xfrm>
            <a:off x="8458200" y="2057400"/>
            <a:ext cx="274320" cy="274320"/>
          </a:xfrm>
          <a:prstGeom prst="rect">
            <a:avLst/>
          </a:prstGeom>
        </p:spPr>
      </p:pic>
      <p:sp>
        <p:nvSpPr>
          <p:cNvPr id="17" name="a4_91"/>
          <p:cNvSpPr/>
          <p:nvPr/>
        </p:nvSpPr>
        <p:spPr>
          <a:xfrm>
            <a:off x="8979408" y="1920240"/>
            <a:ext cx="548640" cy="548640"/>
          </a:xfrm>
          <a:prstGeom prst="roundRect">
            <a:avLst>
              <a:gd name="adj" fmla="val 23333"/>
            </a:avLst>
          </a:prstGeom>
          <a:solidFill>
            <a:schemeClr val="bg2"/>
          </a:solidFill>
          <a:ln w="12700">
            <a:solidFill>
              <a:schemeClr val="bg2"/>
            </a:solidFill>
            <a:prstDash val="solid"/>
          </a:ln>
        </p:spPr>
      </p:sp>
      <p:pic>
        <p:nvPicPr>
          <p:cNvPr id="18" name="a4_92" descr="preencoded.png">    </p:cNvPr>
          <p:cNvPicPr>
            <a:picLocks noChangeAspect="1"/>
          </p:cNvPicPr>
          <p:nvPr/>
        </p:nvPicPr>
        <p:blipFill>
          <a:blip r:embed="rId5"/>
          <a:stretch>
            <a:fillRect/>
          </a:stretch>
        </p:blipFill>
        <p:spPr>
          <a:xfrm>
            <a:off x="9116568" y="2057400"/>
            <a:ext cx="274320" cy="274320"/>
          </a:xfrm>
          <a:prstGeom prst="rect">
            <a:avLst/>
          </a:prstGeom>
        </p:spPr>
      </p:pic>
      <p:sp>
        <p:nvSpPr>
          <p:cNvPr id="19" name="a4_93"/>
          <p:cNvSpPr/>
          <p:nvPr/>
        </p:nvSpPr>
        <p:spPr>
          <a:xfrm>
            <a:off x="9637776" y="1920240"/>
            <a:ext cx="548640" cy="548640"/>
          </a:xfrm>
          <a:prstGeom prst="roundRect">
            <a:avLst>
              <a:gd name="adj" fmla="val 23333"/>
            </a:avLst>
          </a:prstGeom>
          <a:solidFill>
            <a:schemeClr val="bg2"/>
          </a:solidFill>
          <a:ln w="12700">
            <a:solidFill>
              <a:schemeClr val="bg2"/>
            </a:solidFill>
            <a:prstDash val="solid"/>
          </a:ln>
        </p:spPr>
      </p:sp>
      <p:pic>
        <p:nvPicPr>
          <p:cNvPr id="20" name="a4_94" descr="preencoded.png">    </p:cNvPr>
          <p:cNvPicPr>
            <a:picLocks noChangeAspect="1"/>
          </p:cNvPicPr>
          <p:nvPr/>
        </p:nvPicPr>
        <p:blipFill>
          <a:blip r:embed="rId6"/>
          <a:stretch>
            <a:fillRect/>
          </a:stretch>
        </p:blipFill>
        <p:spPr>
          <a:xfrm>
            <a:off x="9774936" y="2057400"/>
            <a:ext cx="274320" cy="274320"/>
          </a:xfrm>
          <a:prstGeom prst="rect">
            <a:avLst/>
          </a:prstGeom>
        </p:spPr>
      </p:pic>
      <p:sp>
        <p:nvSpPr>
          <p:cNvPr id="21" name="a4_95"/>
          <p:cNvSpPr/>
          <p:nvPr/>
        </p:nvSpPr>
        <p:spPr>
          <a:xfrm>
            <a:off x="10296144" y="1920240"/>
            <a:ext cx="548640" cy="548640"/>
          </a:xfrm>
          <a:prstGeom prst="roundRect">
            <a:avLst>
              <a:gd name="adj" fmla="val 23333"/>
            </a:avLst>
          </a:prstGeom>
          <a:solidFill>
            <a:schemeClr val="bg2"/>
          </a:solidFill>
          <a:ln w="12700">
            <a:solidFill>
              <a:schemeClr val="bg2"/>
            </a:solidFill>
            <a:prstDash val="solid"/>
          </a:ln>
        </p:spPr>
      </p:sp>
      <p:pic>
        <p:nvPicPr>
          <p:cNvPr id="22" name="a4_96" descr="preencoded.png">    </p:cNvPr>
          <p:cNvPicPr>
            <a:picLocks noChangeAspect="1"/>
          </p:cNvPicPr>
          <p:nvPr/>
        </p:nvPicPr>
        <p:blipFill>
          <a:blip r:embed="rId7"/>
          <a:stretch>
            <a:fillRect/>
          </a:stretch>
        </p:blipFill>
        <p:spPr>
          <a:xfrm>
            <a:off x="10433304" y="2057400"/>
            <a:ext cx="274320" cy="274320"/>
          </a:xfrm>
          <a:prstGeom prst="rect">
            <a:avLst/>
          </a:prstGeom>
        </p:spPr>
      </p:pic>
      <p:sp>
        <p:nvSpPr>
          <p:cNvPr id="23" name="a4_97"/>
          <p:cNvSpPr/>
          <p:nvPr/>
        </p:nvSpPr>
        <p:spPr>
          <a:xfrm>
            <a:off x="10954512" y="1920240"/>
            <a:ext cx="548640" cy="548640"/>
          </a:xfrm>
          <a:prstGeom prst="roundRect">
            <a:avLst>
              <a:gd name="adj" fmla="val 23333"/>
            </a:avLst>
          </a:prstGeom>
          <a:solidFill>
            <a:schemeClr val="bg2"/>
          </a:solidFill>
          <a:ln w="12700">
            <a:solidFill>
              <a:schemeClr val="bg2"/>
            </a:solidFill>
            <a:prstDash val="solid"/>
          </a:ln>
        </p:spPr>
      </p:sp>
      <p:pic>
        <p:nvPicPr>
          <p:cNvPr id="24" name="a4_98" descr="preencoded.png">    </p:cNvPr>
          <p:cNvPicPr>
            <a:picLocks noChangeAspect="1"/>
          </p:cNvPicPr>
          <p:nvPr/>
        </p:nvPicPr>
        <p:blipFill>
          <a:blip r:embed="rId8"/>
          <a:stretch>
            <a:fillRect/>
          </a:stretch>
        </p:blipFill>
        <p:spPr>
          <a:xfrm>
            <a:off x="11091672" y="2057400"/>
            <a:ext cx="274320" cy="274320"/>
          </a:xfrm>
          <a:prstGeom prst="rect">
            <a:avLst/>
          </a:prstGeom>
        </p:spPr>
      </p:pic>
      <p:sp>
        <p:nvSpPr>
          <p:cNvPr id="25" name="a4_99"/>
          <p:cNvSpPr/>
          <p:nvPr/>
        </p:nvSpPr>
        <p:spPr>
          <a:xfrm>
            <a:off x="8321040" y="2651760"/>
            <a:ext cx="548640" cy="548640"/>
          </a:xfrm>
          <a:prstGeom prst="roundRect">
            <a:avLst>
              <a:gd name="adj" fmla="val 23333"/>
            </a:avLst>
          </a:prstGeom>
          <a:solidFill>
            <a:schemeClr val="bg2"/>
          </a:solidFill>
          <a:ln w="12700">
            <a:solidFill>
              <a:schemeClr val="bg2"/>
            </a:solidFill>
            <a:prstDash val="solid"/>
          </a:ln>
        </p:spPr>
      </p:sp>
      <p:pic>
        <p:nvPicPr>
          <p:cNvPr id="26" name="a4_100" descr="preencoded.png">    </p:cNvPr>
          <p:cNvPicPr>
            <a:picLocks noChangeAspect="1"/>
          </p:cNvPicPr>
          <p:nvPr/>
        </p:nvPicPr>
        <p:blipFill>
          <a:blip r:embed="rId9"/>
          <a:stretch>
            <a:fillRect/>
          </a:stretch>
        </p:blipFill>
        <p:spPr>
          <a:xfrm>
            <a:off x="8458200" y="2788920"/>
            <a:ext cx="274320" cy="274320"/>
          </a:xfrm>
          <a:prstGeom prst="rect">
            <a:avLst/>
          </a:prstGeom>
        </p:spPr>
      </p:pic>
      <p:sp>
        <p:nvSpPr>
          <p:cNvPr id="27" name="a4_101"/>
          <p:cNvSpPr/>
          <p:nvPr/>
        </p:nvSpPr>
        <p:spPr>
          <a:xfrm>
            <a:off x="8979408" y="2651760"/>
            <a:ext cx="548640" cy="548640"/>
          </a:xfrm>
          <a:prstGeom prst="roundRect">
            <a:avLst>
              <a:gd name="adj" fmla="val 23333"/>
            </a:avLst>
          </a:prstGeom>
          <a:solidFill>
            <a:schemeClr val="bg2"/>
          </a:solidFill>
          <a:ln w="12700">
            <a:solidFill>
              <a:schemeClr val="bg2"/>
            </a:solidFill>
            <a:prstDash val="solid"/>
          </a:ln>
        </p:spPr>
      </p:sp>
      <p:pic>
        <p:nvPicPr>
          <p:cNvPr id="28" name="a4_102" descr="preencoded.png">    </p:cNvPr>
          <p:cNvPicPr>
            <a:picLocks noChangeAspect="1"/>
          </p:cNvPicPr>
          <p:nvPr/>
        </p:nvPicPr>
        <p:blipFill>
          <a:blip r:embed="rId10"/>
          <a:stretch>
            <a:fillRect/>
          </a:stretch>
        </p:blipFill>
        <p:spPr>
          <a:xfrm>
            <a:off x="9116568" y="2788920"/>
            <a:ext cx="274320" cy="274320"/>
          </a:xfrm>
          <a:prstGeom prst="rect">
            <a:avLst/>
          </a:prstGeom>
        </p:spPr>
      </p:pic>
      <p:sp>
        <p:nvSpPr>
          <p:cNvPr id="29" name="a4_103"/>
          <p:cNvSpPr/>
          <p:nvPr/>
        </p:nvSpPr>
        <p:spPr>
          <a:xfrm>
            <a:off x="9637776" y="2651760"/>
            <a:ext cx="548640" cy="548640"/>
          </a:xfrm>
          <a:prstGeom prst="roundRect">
            <a:avLst>
              <a:gd name="adj" fmla="val 23333"/>
            </a:avLst>
          </a:prstGeom>
          <a:solidFill>
            <a:schemeClr val="bg2"/>
          </a:solidFill>
          <a:ln w="12700">
            <a:solidFill>
              <a:schemeClr val="bg2"/>
            </a:solidFill>
            <a:prstDash val="solid"/>
          </a:ln>
        </p:spPr>
      </p:sp>
      <p:pic>
        <p:nvPicPr>
          <p:cNvPr id="30" name="a4_104" descr="preencoded.png">    </p:cNvPr>
          <p:cNvPicPr>
            <a:picLocks noChangeAspect="1"/>
          </p:cNvPicPr>
          <p:nvPr/>
        </p:nvPicPr>
        <p:blipFill>
          <a:blip r:embed="rId11"/>
          <a:stretch>
            <a:fillRect/>
          </a:stretch>
        </p:blipFill>
        <p:spPr>
          <a:xfrm>
            <a:off x="9774936" y="2788920"/>
            <a:ext cx="274320" cy="274320"/>
          </a:xfrm>
          <a:prstGeom prst="rect">
            <a:avLst/>
          </a:prstGeom>
        </p:spPr>
      </p:pic>
      <p:sp>
        <p:nvSpPr>
          <p:cNvPr id="31" name="a4_105"/>
          <p:cNvSpPr/>
          <p:nvPr/>
        </p:nvSpPr>
        <p:spPr>
          <a:xfrm>
            <a:off x="10296144" y="2651760"/>
            <a:ext cx="548640" cy="548640"/>
          </a:xfrm>
          <a:prstGeom prst="roundRect">
            <a:avLst>
              <a:gd name="adj" fmla="val 23333"/>
            </a:avLst>
          </a:prstGeom>
          <a:solidFill>
            <a:schemeClr val="bg2"/>
          </a:solidFill>
          <a:ln w="12700">
            <a:solidFill>
              <a:schemeClr val="bg2"/>
            </a:solidFill>
            <a:prstDash val="solid"/>
          </a:ln>
        </p:spPr>
      </p:sp>
      <p:pic>
        <p:nvPicPr>
          <p:cNvPr id="32" name="a4_106" descr="preencoded.png">    </p:cNvPr>
          <p:cNvPicPr>
            <a:picLocks noChangeAspect="1"/>
          </p:cNvPicPr>
          <p:nvPr/>
        </p:nvPicPr>
        <p:blipFill>
          <a:blip r:embed="rId12"/>
          <a:stretch>
            <a:fillRect/>
          </a:stretch>
        </p:blipFill>
        <p:spPr>
          <a:xfrm>
            <a:off x="10433304" y="2788920"/>
            <a:ext cx="274320" cy="274320"/>
          </a:xfrm>
          <a:prstGeom prst="rect">
            <a:avLst/>
          </a:prstGeom>
        </p:spPr>
      </p:pic>
      <p:sp>
        <p:nvSpPr>
          <p:cNvPr id="33" name="a4_107"/>
          <p:cNvSpPr/>
          <p:nvPr/>
        </p:nvSpPr>
        <p:spPr>
          <a:xfrm>
            <a:off x="10954512" y="2651760"/>
            <a:ext cx="548640" cy="548640"/>
          </a:xfrm>
          <a:prstGeom prst="roundRect">
            <a:avLst>
              <a:gd name="adj" fmla="val 23333"/>
            </a:avLst>
          </a:prstGeom>
          <a:solidFill>
            <a:schemeClr val="bg2"/>
          </a:solidFill>
          <a:ln w="12700">
            <a:solidFill>
              <a:schemeClr val="bg2"/>
            </a:solidFill>
            <a:prstDash val="solid"/>
          </a:ln>
        </p:spPr>
      </p:sp>
      <p:pic>
        <p:nvPicPr>
          <p:cNvPr id="34" name="a4_108" descr="preencoded.png">    </p:cNvPr>
          <p:cNvPicPr>
            <a:picLocks noChangeAspect="1"/>
          </p:cNvPicPr>
          <p:nvPr/>
        </p:nvPicPr>
        <p:blipFill>
          <a:blip r:embed="rId13"/>
          <a:stretch>
            <a:fillRect/>
          </a:stretch>
        </p:blipFill>
        <p:spPr>
          <a:xfrm>
            <a:off x="11091672" y="2788920"/>
            <a:ext cx="274320" cy="274320"/>
          </a:xfrm>
          <a:prstGeom prst="rect">
            <a:avLst/>
          </a:prstGeom>
        </p:spPr>
      </p:pic>
      <p:sp>
        <p:nvSpPr>
          <p:cNvPr id="35" name="a4_109"/>
          <p:cNvSpPr/>
          <p:nvPr/>
        </p:nvSpPr>
        <p:spPr>
          <a:xfrm>
            <a:off x="8321040" y="3383280"/>
            <a:ext cx="548640" cy="548640"/>
          </a:xfrm>
          <a:prstGeom prst="roundRect">
            <a:avLst>
              <a:gd name="adj" fmla="val 23333"/>
            </a:avLst>
          </a:prstGeom>
          <a:solidFill>
            <a:schemeClr val="bg2"/>
          </a:solidFill>
          <a:ln w="12700">
            <a:solidFill>
              <a:schemeClr val="bg2"/>
            </a:solidFill>
            <a:prstDash val="solid"/>
          </a:ln>
        </p:spPr>
      </p:sp>
      <p:pic>
        <p:nvPicPr>
          <p:cNvPr id="36" name="a4_110" descr="preencoded.png">    </p:cNvPr>
          <p:cNvPicPr>
            <a:picLocks noChangeAspect="1"/>
          </p:cNvPicPr>
          <p:nvPr/>
        </p:nvPicPr>
        <p:blipFill>
          <a:blip r:embed="rId14"/>
          <a:stretch>
            <a:fillRect/>
          </a:stretch>
        </p:blipFill>
        <p:spPr>
          <a:xfrm>
            <a:off x="8458200" y="3520440"/>
            <a:ext cx="274320" cy="274320"/>
          </a:xfrm>
          <a:prstGeom prst="rect">
            <a:avLst/>
          </a:prstGeom>
        </p:spPr>
      </p:pic>
      <p:sp>
        <p:nvSpPr>
          <p:cNvPr id="37" name="a4_111"/>
          <p:cNvSpPr/>
          <p:nvPr/>
        </p:nvSpPr>
        <p:spPr>
          <a:xfrm>
            <a:off x="8979408" y="3383280"/>
            <a:ext cx="548640" cy="548640"/>
          </a:xfrm>
          <a:prstGeom prst="roundRect">
            <a:avLst>
              <a:gd name="adj" fmla="val 23333"/>
            </a:avLst>
          </a:prstGeom>
          <a:solidFill>
            <a:schemeClr val="bg2"/>
          </a:solidFill>
          <a:ln w="12700">
            <a:solidFill>
              <a:schemeClr val="bg2"/>
            </a:solidFill>
            <a:prstDash val="solid"/>
          </a:ln>
        </p:spPr>
      </p:sp>
      <p:pic>
        <p:nvPicPr>
          <p:cNvPr id="38" name="a4_112" descr="preencoded.png">    </p:cNvPr>
          <p:cNvPicPr>
            <a:picLocks noChangeAspect="1"/>
          </p:cNvPicPr>
          <p:nvPr/>
        </p:nvPicPr>
        <p:blipFill>
          <a:blip r:embed="rId15"/>
          <a:stretch>
            <a:fillRect/>
          </a:stretch>
        </p:blipFill>
        <p:spPr>
          <a:xfrm>
            <a:off x="9116568" y="3520440"/>
            <a:ext cx="274320" cy="274320"/>
          </a:xfrm>
          <a:prstGeom prst="rect">
            <a:avLst/>
          </a:prstGeom>
        </p:spPr>
      </p:pic>
      <p:sp>
        <p:nvSpPr>
          <p:cNvPr id="39" name="a4_113"/>
          <p:cNvSpPr/>
          <p:nvPr/>
        </p:nvSpPr>
        <p:spPr>
          <a:xfrm>
            <a:off x="9637776" y="3383280"/>
            <a:ext cx="548640" cy="548640"/>
          </a:xfrm>
          <a:prstGeom prst="roundRect">
            <a:avLst>
              <a:gd name="adj" fmla="val 23333"/>
            </a:avLst>
          </a:prstGeom>
          <a:solidFill>
            <a:schemeClr val="bg2"/>
          </a:solidFill>
          <a:ln w="12700">
            <a:solidFill>
              <a:schemeClr val="bg2"/>
            </a:solidFill>
            <a:prstDash val="solid"/>
          </a:ln>
        </p:spPr>
      </p:sp>
      <p:pic>
        <p:nvPicPr>
          <p:cNvPr id="40" name="a4_114" descr="preencoded.png">    </p:cNvPr>
          <p:cNvPicPr>
            <a:picLocks noChangeAspect="1"/>
          </p:cNvPicPr>
          <p:nvPr/>
        </p:nvPicPr>
        <p:blipFill>
          <a:blip r:embed="rId16"/>
          <a:stretch>
            <a:fillRect/>
          </a:stretch>
        </p:blipFill>
        <p:spPr>
          <a:xfrm>
            <a:off x="9774936" y="3520440"/>
            <a:ext cx="274320" cy="274320"/>
          </a:xfrm>
          <a:prstGeom prst="rect">
            <a:avLst/>
          </a:prstGeom>
        </p:spPr>
      </p:pic>
      <p:sp>
        <p:nvSpPr>
          <p:cNvPr id="41" name="a4_115"/>
          <p:cNvSpPr/>
          <p:nvPr/>
        </p:nvSpPr>
        <p:spPr>
          <a:xfrm>
            <a:off x="10296144" y="3383280"/>
            <a:ext cx="548640" cy="548640"/>
          </a:xfrm>
          <a:prstGeom prst="roundRect">
            <a:avLst>
              <a:gd name="adj" fmla="val 23333"/>
            </a:avLst>
          </a:prstGeom>
          <a:solidFill>
            <a:schemeClr val="bg2"/>
          </a:solidFill>
          <a:ln w="12700">
            <a:solidFill>
              <a:schemeClr val="bg2"/>
            </a:solidFill>
            <a:prstDash val="solid"/>
          </a:ln>
        </p:spPr>
      </p:sp>
      <p:pic>
        <p:nvPicPr>
          <p:cNvPr id="42" name="a4_116" descr="preencoded.png">    </p:cNvPr>
          <p:cNvPicPr>
            <a:picLocks noChangeAspect="1"/>
          </p:cNvPicPr>
          <p:nvPr/>
        </p:nvPicPr>
        <p:blipFill>
          <a:blip r:embed="rId17"/>
          <a:stretch>
            <a:fillRect/>
          </a:stretch>
        </p:blipFill>
        <p:spPr>
          <a:xfrm>
            <a:off x="10433304" y="3520440"/>
            <a:ext cx="274320" cy="274320"/>
          </a:xfrm>
          <a:prstGeom prst="rect">
            <a:avLst/>
          </a:prstGeom>
        </p:spPr>
      </p:pic>
      <p:sp>
        <p:nvSpPr>
          <p:cNvPr id="43" name="a4_117"/>
          <p:cNvSpPr/>
          <p:nvPr/>
        </p:nvSpPr>
        <p:spPr>
          <a:xfrm>
            <a:off x="10954512" y="3383280"/>
            <a:ext cx="548640" cy="548640"/>
          </a:xfrm>
          <a:prstGeom prst="roundRect">
            <a:avLst>
              <a:gd name="adj" fmla="val 23333"/>
            </a:avLst>
          </a:prstGeom>
          <a:solidFill>
            <a:schemeClr val="bg2"/>
          </a:solidFill>
          <a:ln w="12700">
            <a:solidFill>
              <a:schemeClr val="bg2"/>
            </a:solidFill>
            <a:prstDash val="solid"/>
          </a:ln>
        </p:spPr>
      </p:sp>
      <p:pic>
        <p:nvPicPr>
          <p:cNvPr id="44" name="a4_118" descr="preencoded.png">    </p:cNvPr>
          <p:cNvPicPr>
            <a:picLocks noChangeAspect="1"/>
          </p:cNvPicPr>
          <p:nvPr/>
        </p:nvPicPr>
        <p:blipFill>
          <a:blip r:embed="rId18"/>
          <a:stretch>
            <a:fillRect/>
          </a:stretch>
        </p:blipFill>
        <p:spPr>
          <a:xfrm>
            <a:off x="11091672" y="3520440"/>
            <a:ext cx="274320" cy="274320"/>
          </a:xfrm>
          <a:prstGeom prst="rect">
            <a:avLst/>
          </a:prstGeom>
        </p:spPr>
      </p:pic>
      <p:sp>
        <p:nvSpPr>
          <p:cNvPr id="45" name="a4_119"/>
          <p:cNvSpPr txBox="1"/>
          <p:nvPr/>
        </p:nvSpPr>
        <p:spPr>
          <a:xfrm>
            <a:off x="8321040" y="4160520"/>
            <a:ext cx="3200400" cy="365760"/>
          </a:xfrm>
          <a:prstGeom prst="rect">
            <a:avLst/>
          </a:prstGeom>
          <a:noFill/>
          <a:ln/>
        </p:spPr>
        <p:txBody>
          <a:bodyPr wrap="square" lIns="0" tIns="0" rIns="0" bIns="0" rtlCol="0" anchor="ctr"/>
          <a:lstStyle/>
          <a:p>
            <a:pPr algn="ctr" indent="0" marL="0">
              <a:buNone/>
            </a:pPr>
            <a:r>
              <a:rPr lang="en-US" sz="1600" b="1" dirty="0">
                <a:solidFill>
                  <a:schemeClr val="tx2"/>
                </a:solidFill>
              </a:rPr>
              <a:t>15 postes des employés</a:t>
            </a:r>
            <a:endParaRPr lang="en-US" sz="1600" dirty="0"/>
          </a:p>
        </p:txBody>
      </p:sp>
      <p:sp>
        <p:nvSpPr>
          <p:cNvPr id="46" name="a5_120"/>
          <p:cNvSpPr/>
          <p:nvPr/>
        </p:nvSpPr>
        <p:spPr>
          <a:xfrm>
            <a:off x="548640" y="4983480"/>
            <a:ext cx="3566160" cy="1143000"/>
          </a:xfrm>
          <a:prstGeom prst="roundRect">
            <a:avLst>
              <a:gd name="adj" fmla="val 112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47" name="a5_121"/>
          <p:cNvSpPr txBox="1"/>
          <p:nvPr/>
        </p:nvSpPr>
        <p:spPr>
          <a:xfrm>
            <a:off x="822960" y="5074920"/>
            <a:ext cx="3108960" cy="548640"/>
          </a:xfrm>
          <a:prstGeom prst="rect">
            <a:avLst/>
          </a:prstGeom>
          <a:noFill/>
          <a:ln/>
        </p:spPr>
        <p:txBody>
          <a:bodyPr wrap="square" lIns="0" tIns="0" rIns="0" bIns="0" rtlCol="0" anchor="ctr"/>
          <a:lstStyle/>
          <a:p>
            <a:pPr indent="0" marL="0">
              <a:buNone/>
            </a:pPr>
            <a:r>
              <a:rPr lang="en-US" sz="2800" b="1" dirty="0">
                <a:solidFill>
                  <a:schemeClr val="accent1"/>
                </a:solidFill>
              </a:rPr>
              <a:t>0</a:t>
            </a:r>
            <a:endParaRPr lang="en-US" sz="2800" dirty="0"/>
          </a:p>
        </p:txBody>
      </p:sp>
      <p:sp>
        <p:nvSpPr>
          <p:cNvPr id="48" name="a5_122"/>
          <p:cNvSpPr txBox="1"/>
          <p:nvPr/>
        </p:nvSpPr>
        <p:spPr>
          <a:xfrm>
            <a:off x="822960" y="5623560"/>
            <a:ext cx="3108960" cy="365760"/>
          </a:xfrm>
          <a:prstGeom prst="rect">
            <a:avLst/>
          </a:prstGeom>
          <a:noFill/>
          <a:ln/>
        </p:spPr>
        <p:txBody>
          <a:bodyPr wrap="square" lIns="0" tIns="0" rIns="0" bIns="0" rtlCol="0" anchor="ctr"/>
          <a:lstStyle/>
          <a:p>
            <a:pPr indent="0" marL="0">
              <a:buNone/>
            </a:pPr>
            <a:r>
              <a:rPr lang="en-US" sz="1400" dirty="0">
                <a:solidFill>
                  <a:schemeClr val="accent6"/>
                </a:solidFill>
              </a:rPr>
              <a:t>port ouvert sur Internet</a:t>
            </a:r>
            <a:endParaRPr lang="en-US" sz="1400" dirty="0"/>
          </a:p>
        </p:txBody>
      </p:sp>
      <p:sp>
        <p:nvSpPr>
          <p:cNvPr id="49" name="a5_123"/>
          <p:cNvSpPr/>
          <p:nvPr/>
        </p:nvSpPr>
        <p:spPr>
          <a:xfrm>
            <a:off x="4297680" y="4983480"/>
            <a:ext cx="3566160" cy="1143000"/>
          </a:xfrm>
          <a:prstGeom prst="roundRect">
            <a:avLst>
              <a:gd name="adj" fmla="val 112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50" name="a5_124"/>
          <p:cNvSpPr txBox="1"/>
          <p:nvPr/>
        </p:nvSpPr>
        <p:spPr>
          <a:xfrm>
            <a:off x="4572000" y="5074920"/>
            <a:ext cx="3108960" cy="548640"/>
          </a:xfrm>
          <a:prstGeom prst="rect">
            <a:avLst/>
          </a:prstGeom>
          <a:noFill/>
          <a:ln/>
        </p:spPr>
        <p:txBody>
          <a:bodyPr wrap="square" lIns="0" tIns="0" rIns="0" bIns="0" rtlCol="0" anchor="ctr"/>
          <a:lstStyle/>
          <a:p>
            <a:pPr indent="0" marL="0">
              <a:buNone/>
            </a:pPr>
            <a:r>
              <a:rPr lang="en-US" sz="2800" b="1" dirty="0">
                <a:solidFill>
                  <a:schemeClr val="accent1"/>
                </a:solidFill>
              </a:rPr>
              <a:t>24h/24</a:t>
            </a:r>
            <a:endParaRPr lang="en-US" sz="2800" dirty="0"/>
          </a:p>
        </p:txBody>
      </p:sp>
      <p:sp>
        <p:nvSpPr>
          <p:cNvPr id="51" name="a5_125"/>
          <p:cNvSpPr txBox="1"/>
          <p:nvPr/>
        </p:nvSpPr>
        <p:spPr>
          <a:xfrm>
            <a:off x="4572000" y="5623560"/>
            <a:ext cx="3108960" cy="365760"/>
          </a:xfrm>
          <a:prstGeom prst="rect">
            <a:avLst/>
          </a:prstGeom>
          <a:noFill/>
          <a:ln/>
        </p:spPr>
        <p:txBody>
          <a:bodyPr wrap="square" lIns="0" tIns="0" rIns="0" bIns="0" rtlCol="0" anchor="ctr"/>
          <a:lstStyle/>
          <a:p>
            <a:pPr indent="0" marL="0">
              <a:buNone/>
            </a:pPr>
            <a:r>
              <a:rPr lang="en-US" sz="1400" dirty="0">
                <a:solidFill>
                  <a:schemeClr val="accent6"/>
                </a:solidFill>
              </a:rPr>
              <a:t>accès pour l'administrateur</a:t>
            </a:r>
            <a:endParaRPr lang="en-US" sz="1400" dirty="0"/>
          </a:p>
        </p:txBody>
      </p:sp>
      <p:sp>
        <p:nvSpPr>
          <p:cNvPr id="52" name="a5_126"/>
          <p:cNvSpPr/>
          <p:nvPr/>
        </p:nvSpPr>
        <p:spPr>
          <a:xfrm>
            <a:off x="8046720" y="4983480"/>
            <a:ext cx="3566160" cy="1143000"/>
          </a:xfrm>
          <a:prstGeom prst="roundRect">
            <a:avLst>
              <a:gd name="adj" fmla="val 112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53" name="a5_127"/>
          <p:cNvSpPr txBox="1"/>
          <p:nvPr/>
        </p:nvSpPr>
        <p:spPr>
          <a:xfrm>
            <a:off x="8321040" y="5074920"/>
            <a:ext cx="3108960" cy="548640"/>
          </a:xfrm>
          <a:prstGeom prst="rect">
            <a:avLst/>
          </a:prstGeom>
          <a:noFill/>
          <a:ln/>
        </p:spPr>
        <p:txBody>
          <a:bodyPr wrap="square" lIns="0" tIns="0" rIns="0" bIns="0" rtlCol="0" anchor="ctr"/>
          <a:lstStyle/>
          <a:p>
            <a:pPr indent="0" marL="0">
              <a:buNone/>
            </a:pPr>
            <a:r>
              <a:rPr lang="en-US" sz="2800" b="1" dirty="0">
                <a:solidFill>
                  <a:schemeClr val="accent1"/>
                </a:solidFill>
              </a:rPr>
              <a:t>Minutes</a:t>
            </a:r>
            <a:endParaRPr lang="en-US" sz="2800" dirty="0"/>
          </a:p>
        </p:txBody>
      </p:sp>
      <p:sp>
        <p:nvSpPr>
          <p:cNvPr id="54" name="a5_128"/>
          <p:cNvSpPr txBox="1"/>
          <p:nvPr/>
        </p:nvSpPr>
        <p:spPr>
          <a:xfrm>
            <a:off x="8321040" y="5623560"/>
            <a:ext cx="3108960" cy="365760"/>
          </a:xfrm>
          <a:prstGeom prst="rect">
            <a:avLst/>
          </a:prstGeom>
          <a:noFill/>
          <a:ln/>
        </p:spPr>
        <p:txBody>
          <a:bodyPr wrap="square" lIns="0" tIns="0" rIns="0" bIns="0" rtlCol="0" anchor="ctr"/>
          <a:lstStyle/>
          <a:p>
            <a:pPr indent="0" marL="0">
              <a:buNone/>
            </a:pPr>
            <a:r>
              <a:rPr lang="en-US" sz="1400" dirty="0">
                <a:solidFill>
                  <a:schemeClr val="accent6"/>
                </a:solidFill>
              </a:rPr>
              <a:t>au lieu d'un déplacement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12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18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p:cTn id="19" dur="600" decel="100000" fill="hold"/>
                                  <p:tgtEl>
                                    <p:spTgt spid="7"/>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4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51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57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anim calcmode="lin" valueType="num">
                                <p:cBhvr>
                                  <p:cTn id="31" dur="600" decel="100000" fill="hold"/>
                                  <p:tgtEl>
                                    <p:spTgt spid="10"/>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63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anim calcmode="lin" valueType="num">
                                <p:cBhvr>
                                  <p:cTn id="35" dur="600" decel="100000" fill="hold"/>
                                  <p:tgtEl>
                                    <p:spTgt spid="11"/>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9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96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p:cTn id="43" dur="600" decel="100000" fill="hold"/>
                                  <p:tgtEl>
                                    <p:spTgt spid="13"/>
                                  </p:tgtEl>
                                  <p:attrNameLst>
                                    <p:attrName>ppt_y</p:attrName>
                                  </p:attrNameLst>
                                </p:cBhvr>
                                <p:tavLst>
                                  <p:tav tm="0">
                                    <p:val>
                                      <p:strVal val="#ppt_y+0.03"/>
                                    </p:val>
                                  </p:tav>
                                  <p:tav tm="100000">
                                    <p:val>
                                      <p:strVal val="#ppt_y"/>
                                    </p:val>
                                  </p:tav>
                                </p:tavLst>
                              </p:anim>
                            </p:childTnLst>
                          </p:cTn>
                        </p:par>
                        <p:par>
                          <p:cTn id="44" presetID="10" presetClass="entr" presetSubtype="0" fill="hold" nodeType="withEffect">
                            <p:stCondLst>
                              <p:cond delay="135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00"/>
                                  <p:tgtEl>
                                    <p:spTgt spid="14"/>
                                  </p:tgtEl>
                                </p:cBhvr>
                              </p:animEffect>
                              <p:anim calcmode="lin" valueType="num">
                                <p:cBhvr>
                                  <p:cTn id="47" dur="600" decel="100000" fill="hold"/>
                                  <p:tgtEl>
                                    <p:spTgt spid="14"/>
                                  </p:tgtEl>
                                  <p:attrNameLst>
                                    <p:attrName>ppt_y</p:attrName>
                                  </p:attrNameLst>
                                </p:cBhvr>
                                <p:tavLst>
                                  <p:tav tm="0">
                                    <p:val>
                                      <p:strVal val="#ppt_y+0.03"/>
                                    </p:val>
                                  </p:tav>
                                  <p:tav tm="100000">
                                    <p:val>
                                      <p:strVal val="#ppt_y"/>
                                    </p:val>
                                  </p:tav>
                                </p:tavLst>
                              </p:anim>
                            </p:childTnLst>
                          </p:cTn>
                        </p:par>
                        <p:par>
                          <p:cTn id="48" presetID="10" presetClass="entr" presetSubtype="0" fill="hold" nodeType="withEffect">
                            <p:stCondLst>
                              <p:cond delay="14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600"/>
                                  <p:tgtEl>
                                    <p:spTgt spid="15"/>
                                  </p:tgtEl>
                                </p:cBhvr>
                              </p:animEffect>
                              <p:anim calcmode="lin" valueType="num">
                                <p:cBhvr>
                                  <p:cTn id="51" dur="600" decel="100000" fill="hold"/>
                                  <p:tgtEl>
                                    <p:spTgt spid="15"/>
                                  </p:tgtEl>
                                  <p:attrNameLst>
                                    <p:attrName>ppt_y</p:attrName>
                                  </p:attrNameLst>
                                </p:cBhvr>
                                <p:tavLst>
                                  <p:tav tm="0">
                                    <p:val>
                                      <p:strVal val="#ppt_y+0.03"/>
                                    </p:val>
                                  </p:tav>
                                  <p:tav tm="100000">
                                    <p:val>
                                      <p:strVal val="#ppt_y"/>
                                    </p:val>
                                  </p:tav>
                                </p:tavLst>
                              </p:anim>
                            </p:childTnLst>
                          </p:cTn>
                        </p:par>
                        <p:par>
                          <p:cTn id="52" presetID="10" presetClass="entr" presetSubtype="0" fill="hold" nodeType="withEffect">
                            <p:stCondLst>
                              <p:cond delay="147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00"/>
                                  <p:tgtEl>
                                    <p:spTgt spid="16"/>
                                  </p:tgtEl>
                                </p:cBhvr>
                              </p:animEffect>
                              <p:anim calcmode="lin" valueType="num">
                                <p:cBhvr>
                                  <p:cTn id="55" dur="600" decel="100000" fill="hold"/>
                                  <p:tgtEl>
                                    <p:spTgt spid="16"/>
                                  </p:tgtEl>
                                  <p:attrNameLst>
                                    <p:attrName>ppt_y</p:attrName>
                                  </p:attrNameLst>
                                </p:cBhvr>
                                <p:tavLst>
                                  <p:tav tm="0">
                                    <p:val>
                                      <p:strVal val="#ppt_y+0.03"/>
                                    </p:val>
                                  </p:tav>
                                  <p:tav tm="100000">
                                    <p:val>
                                      <p:strVal val="#ppt_y"/>
                                    </p:val>
                                  </p:tav>
                                </p:tavLst>
                              </p:anim>
                            </p:childTnLst>
                          </p:cTn>
                        </p:par>
                        <p:par>
                          <p:cTn id="56" presetID="10" presetClass="entr" presetSubtype="0" fill="hold" nodeType="withEffect">
                            <p:stCondLst>
                              <p:cond delay="153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600"/>
                                  <p:tgtEl>
                                    <p:spTgt spid="17"/>
                                  </p:tgtEl>
                                </p:cBhvr>
                              </p:animEffect>
                              <p:anim calcmode="lin" valueType="num">
                                <p:cBhvr>
                                  <p:cTn id="59" dur="600" decel="100000" fill="hold"/>
                                  <p:tgtEl>
                                    <p:spTgt spid="17"/>
                                  </p:tgtEl>
                                  <p:attrNameLst>
                                    <p:attrName>ppt_y</p:attrName>
                                  </p:attrNameLst>
                                </p:cBhvr>
                                <p:tavLst>
                                  <p:tav tm="0">
                                    <p:val>
                                      <p:strVal val="#ppt_y+0.03"/>
                                    </p:val>
                                  </p:tav>
                                  <p:tav tm="100000">
                                    <p:val>
                                      <p:strVal val="#ppt_y"/>
                                    </p:val>
                                  </p:tav>
                                </p:tavLst>
                              </p:anim>
                            </p:childTnLst>
                          </p:cTn>
                        </p:par>
                        <p:par>
                          <p:cTn id="60" presetID="10" presetClass="entr" presetSubtype="0" fill="hold" nodeType="withEffect">
                            <p:stCondLst>
                              <p:cond delay="159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600"/>
                                  <p:tgtEl>
                                    <p:spTgt spid="18"/>
                                  </p:tgtEl>
                                </p:cBhvr>
                              </p:animEffect>
                              <p:anim calcmode="lin" valueType="num">
                                <p:cBhvr>
                                  <p:cTn id="63" dur="600" decel="100000" fill="hold"/>
                                  <p:tgtEl>
                                    <p:spTgt spid="18"/>
                                  </p:tgtEl>
                                  <p:attrNameLst>
                                    <p:attrName>ppt_y</p:attrName>
                                  </p:attrNameLst>
                                </p:cBhvr>
                                <p:tavLst>
                                  <p:tav tm="0">
                                    <p:val>
                                      <p:strVal val="#ppt_y+0.03"/>
                                    </p:val>
                                  </p:tav>
                                  <p:tav tm="100000">
                                    <p:val>
                                      <p:strVal val="#ppt_y"/>
                                    </p:val>
                                  </p:tav>
                                </p:tavLst>
                              </p:anim>
                            </p:childTnLst>
                          </p:cTn>
                        </p:par>
                        <p:par>
                          <p:cTn id="64" presetID="10" presetClass="entr" presetSubtype="0" fill="hold" nodeType="withEffect">
                            <p:stCondLst>
                              <p:cond delay="165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600"/>
                                  <p:tgtEl>
                                    <p:spTgt spid="19"/>
                                  </p:tgtEl>
                                </p:cBhvr>
                              </p:animEffect>
                              <p:anim calcmode="lin" valueType="num">
                                <p:cBhvr>
                                  <p:cTn id="67" dur="600" decel="100000" fill="hold"/>
                                  <p:tgtEl>
                                    <p:spTgt spid="19"/>
                                  </p:tgtEl>
                                  <p:attrNameLst>
                                    <p:attrName>ppt_y</p:attrName>
                                  </p:attrNameLst>
                                </p:cBhvr>
                                <p:tavLst>
                                  <p:tav tm="0">
                                    <p:val>
                                      <p:strVal val="#ppt_y+0.03"/>
                                    </p:val>
                                  </p:tav>
                                  <p:tav tm="100000">
                                    <p:val>
                                      <p:strVal val="#ppt_y"/>
                                    </p:val>
                                  </p:tav>
                                </p:tavLst>
                              </p:anim>
                            </p:childTnLst>
                          </p:cTn>
                        </p:par>
                        <p:par>
                          <p:cTn id="68" presetID="10" presetClass="entr" presetSubtype="0" fill="hold" nodeType="withEffect">
                            <p:stCondLst>
                              <p:cond delay="171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600"/>
                                  <p:tgtEl>
                                    <p:spTgt spid="20"/>
                                  </p:tgtEl>
                                </p:cBhvr>
                              </p:animEffect>
                              <p:anim calcmode="lin" valueType="num">
                                <p:cBhvr>
                                  <p:cTn id="71" dur="600" decel="100000" fill="hold"/>
                                  <p:tgtEl>
                                    <p:spTgt spid="20"/>
                                  </p:tgtEl>
                                  <p:attrNameLst>
                                    <p:attrName>ppt_y</p:attrName>
                                  </p:attrNameLst>
                                </p:cBhvr>
                                <p:tavLst>
                                  <p:tav tm="0">
                                    <p:val>
                                      <p:strVal val="#ppt_y+0.03"/>
                                    </p:val>
                                  </p:tav>
                                  <p:tav tm="100000">
                                    <p:val>
                                      <p:strVal val="#ppt_y"/>
                                    </p:val>
                                  </p:tav>
                                </p:tavLst>
                              </p:anim>
                            </p:childTnLst>
                          </p:cTn>
                        </p:par>
                        <p:par>
                          <p:cTn id="72" presetID="10" presetClass="entr" presetSubtype="0" fill="hold" nodeType="withEffect">
                            <p:stCondLst>
                              <p:cond delay="177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600"/>
                                  <p:tgtEl>
                                    <p:spTgt spid="21"/>
                                  </p:tgtEl>
                                </p:cBhvr>
                              </p:animEffect>
                              <p:anim calcmode="lin" valueType="num">
                                <p:cBhvr>
                                  <p:cTn id="75" dur="600" decel="100000" fill="hold"/>
                                  <p:tgtEl>
                                    <p:spTgt spid="21"/>
                                  </p:tgtEl>
                                  <p:attrNameLst>
                                    <p:attrName>ppt_y</p:attrName>
                                  </p:attrNameLst>
                                </p:cBhvr>
                                <p:tavLst>
                                  <p:tav tm="0">
                                    <p:val>
                                      <p:strVal val="#ppt_y+0.03"/>
                                    </p:val>
                                  </p:tav>
                                  <p:tav tm="100000">
                                    <p:val>
                                      <p:strVal val="#ppt_y"/>
                                    </p:val>
                                  </p:tav>
                                </p:tavLst>
                              </p:anim>
                            </p:childTnLst>
                          </p:cTn>
                        </p:par>
                        <p:par>
                          <p:cTn id="76" presetID="10" presetClass="entr" presetSubtype="0" fill="hold" nodeType="withEffect">
                            <p:stCondLst>
                              <p:cond delay="183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600"/>
                                  <p:tgtEl>
                                    <p:spTgt spid="22"/>
                                  </p:tgtEl>
                                </p:cBhvr>
                              </p:animEffect>
                              <p:anim calcmode="lin" valueType="num">
                                <p:cBhvr>
                                  <p:cTn id="79" dur="600" decel="100000" fill="hold"/>
                                  <p:tgtEl>
                                    <p:spTgt spid="22"/>
                                  </p:tgtEl>
                                  <p:attrNameLst>
                                    <p:attrName>ppt_y</p:attrName>
                                  </p:attrNameLst>
                                </p:cBhvr>
                                <p:tavLst>
                                  <p:tav tm="0">
                                    <p:val>
                                      <p:strVal val="#ppt_y+0.03"/>
                                    </p:val>
                                  </p:tav>
                                  <p:tav tm="100000">
                                    <p:val>
                                      <p:strVal val="#ppt_y"/>
                                    </p:val>
                                  </p:tav>
                                </p:tavLst>
                              </p:anim>
                            </p:childTnLst>
                          </p:cTn>
                        </p:par>
                        <p:par>
                          <p:cTn id="80" presetID="10" presetClass="entr" presetSubtype="0" fill="hold" nodeType="withEffect">
                            <p:stCondLst>
                              <p:cond delay="189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p:cTn id="83" dur="600" decel="100000" fill="hold"/>
                                  <p:tgtEl>
                                    <p:spTgt spid="23"/>
                                  </p:tgtEl>
                                  <p:attrNameLst>
                                    <p:attrName>ppt_y</p:attrName>
                                  </p:attrNameLst>
                                </p:cBhvr>
                                <p:tavLst>
                                  <p:tav tm="0">
                                    <p:val>
                                      <p:strVal val="#ppt_y+0.03"/>
                                    </p:val>
                                  </p:tav>
                                  <p:tav tm="100000">
                                    <p:val>
                                      <p:strVal val="#ppt_y"/>
                                    </p:val>
                                  </p:tav>
                                </p:tavLst>
                              </p:anim>
                            </p:childTnLst>
                          </p:cTn>
                        </p:par>
                        <p:par>
                          <p:cTn id="84" presetID="10" presetClass="entr" presetSubtype="0" fill="hold" nodeType="withEffect">
                            <p:stCondLst>
                              <p:cond delay="195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600"/>
                                  <p:tgtEl>
                                    <p:spTgt spid="24"/>
                                  </p:tgtEl>
                                </p:cBhvr>
                              </p:animEffect>
                              <p:anim calcmode="lin" valueType="num">
                                <p:cBhvr>
                                  <p:cTn id="87" dur="600" decel="100000" fill="hold"/>
                                  <p:tgtEl>
                                    <p:spTgt spid="24"/>
                                  </p:tgtEl>
                                  <p:attrNameLst>
                                    <p:attrName>ppt_y</p:attrName>
                                  </p:attrNameLst>
                                </p:cBhvr>
                                <p:tavLst>
                                  <p:tav tm="0">
                                    <p:val>
                                      <p:strVal val="#ppt_y+0.03"/>
                                    </p:val>
                                  </p:tav>
                                  <p:tav tm="100000">
                                    <p:val>
                                      <p:strVal val="#ppt_y"/>
                                    </p:val>
                                  </p:tav>
                                </p:tavLst>
                              </p:anim>
                            </p:childTnLst>
                          </p:cTn>
                        </p:par>
                        <p:par>
                          <p:cTn id="88" presetID="10" presetClass="entr" presetSubtype="0" fill="hold" nodeType="withEffect">
                            <p:stCondLst>
                              <p:cond delay="201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600"/>
                                  <p:tgtEl>
                                    <p:spTgt spid="25"/>
                                  </p:tgtEl>
                                </p:cBhvr>
                              </p:animEffect>
                              <p:anim calcmode="lin" valueType="num">
                                <p:cBhvr>
                                  <p:cTn id="91" dur="600" decel="100000" fill="hold"/>
                                  <p:tgtEl>
                                    <p:spTgt spid="25"/>
                                  </p:tgtEl>
                                  <p:attrNameLst>
                                    <p:attrName>ppt_y</p:attrName>
                                  </p:attrNameLst>
                                </p:cBhvr>
                                <p:tavLst>
                                  <p:tav tm="0">
                                    <p:val>
                                      <p:strVal val="#ppt_y+0.03"/>
                                    </p:val>
                                  </p:tav>
                                  <p:tav tm="100000">
                                    <p:val>
                                      <p:strVal val="#ppt_y"/>
                                    </p:val>
                                  </p:tav>
                                </p:tavLst>
                              </p:anim>
                            </p:childTnLst>
                          </p:cTn>
                        </p:par>
                        <p:par>
                          <p:cTn id="92" presetID="10" presetClass="entr" presetSubtype="0" fill="hold" nodeType="withEffect">
                            <p:stCondLst>
                              <p:cond delay="207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600"/>
                                  <p:tgtEl>
                                    <p:spTgt spid="26"/>
                                  </p:tgtEl>
                                </p:cBhvr>
                              </p:animEffect>
                              <p:anim calcmode="lin" valueType="num">
                                <p:cBhvr>
                                  <p:cTn id="95" dur="600" decel="100000" fill="hold"/>
                                  <p:tgtEl>
                                    <p:spTgt spid="26"/>
                                  </p:tgtEl>
                                  <p:attrNameLst>
                                    <p:attrName>ppt_y</p:attrName>
                                  </p:attrNameLst>
                                </p:cBhvr>
                                <p:tavLst>
                                  <p:tav tm="0">
                                    <p:val>
                                      <p:strVal val="#ppt_y+0.03"/>
                                    </p:val>
                                  </p:tav>
                                  <p:tav tm="100000">
                                    <p:val>
                                      <p:strVal val="#ppt_y"/>
                                    </p:val>
                                  </p:tav>
                                </p:tavLst>
                              </p:anim>
                            </p:childTnLst>
                          </p:cTn>
                        </p:par>
                        <p:par>
                          <p:cTn id="96" presetID="10" presetClass="entr" presetSubtype="0" fill="hold" nodeType="withEffect">
                            <p:stCondLst>
                              <p:cond delay="213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anim calcmode="lin" valueType="num">
                                <p:cBhvr>
                                  <p:cTn id="99" dur="600" decel="100000" fill="hold"/>
                                  <p:tgtEl>
                                    <p:spTgt spid="27"/>
                                  </p:tgtEl>
                                  <p:attrNameLst>
                                    <p:attrName>ppt_y</p:attrName>
                                  </p:attrNameLst>
                                </p:cBhvr>
                                <p:tavLst>
                                  <p:tav tm="0">
                                    <p:val>
                                      <p:strVal val="#ppt_y+0.03"/>
                                    </p:val>
                                  </p:tav>
                                  <p:tav tm="100000">
                                    <p:val>
                                      <p:strVal val="#ppt_y"/>
                                    </p:val>
                                  </p:tav>
                                </p:tavLst>
                              </p:anim>
                            </p:childTnLst>
                          </p:cTn>
                        </p:par>
                        <p:par>
                          <p:cTn id="100" presetID="10" presetClass="entr" presetSubtype="0" fill="hold" nodeType="withEffect">
                            <p:stCondLst>
                              <p:cond delay="219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600"/>
                                  <p:tgtEl>
                                    <p:spTgt spid="28"/>
                                  </p:tgtEl>
                                </p:cBhvr>
                              </p:animEffect>
                              <p:anim calcmode="lin" valueType="num">
                                <p:cBhvr>
                                  <p:cTn id="103" dur="600" decel="100000" fill="hold"/>
                                  <p:tgtEl>
                                    <p:spTgt spid="28"/>
                                  </p:tgtEl>
                                  <p:attrNameLst>
                                    <p:attrName>ppt_y</p:attrName>
                                  </p:attrNameLst>
                                </p:cBhvr>
                                <p:tavLst>
                                  <p:tav tm="0">
                                    <p:val>
                                      <p:strVal val="#ppt_y+0.03"/>
                                    </p:val>
                                  </p:tav>
                                  <p:tav tm="100000">
                                    <p:val>
                                      <p:strVal val="#ppt_y"/>
                                    </p:val>
                                  </p:tav>
                                </p:tavLst>
                              </p:anim>
                            </p:childTnLst>
                          </p:cTn>
                        </p:par>
                        <p:par>
                          <p:cTn id="104" presetID="10" presetClass="entr" presetSubtype="0" fill="hold" nodeType="withEffect">
                            <p:stCondLst>
                              <p:cond delay="225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600"/>
                                  <p:tgtEl>
                                    <p:spTgt spid="29"/>
                                  </p:tgtEl>
                                </p:cBhvr>
                              </p:animEffect>
                              <p:anim calcmode="lin" valueType="num">
                                <p:cBhvr>
                                  <p:cTn id="107" dur="600" decel="100000" fill="hold"/>
                                  <p:tgtEl>
                                    <p:spTgt spid="29"/>
                                  </p:tgtEl>
                                  <p:attrNameLst>
                                    <p:attrName>ppt_y</p:attrName>
                                  </p:attrNameLst>
                                </p:cBhvr>
                                <p:tavLst>
                                  <p:tav tm="0">
                                    <p:val>
                                      <p:strVal val="#ppt_y+0.03"/>
                                    </p:val>
                                  </p:tav>
                                  <p:tav tm="100000">
                                    <p:val>
                                      <p:strVal val="#ppt_y"/>
                                    </p:val>
                                  </p:tav>
                                </p:tavLst>
                              </p:anim>
                            </p:childTnLst>
                          </p:cTn>
                        </p:par>
                        <p:par>
                          <p:cTn id="108" presetID="10" presetClass="entr" presetSubtype="0" fill="hold" nodeType="withEffect">
                            <p:stCondLst>
                              <p:cond delay="231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600"/>
                                  <p:tgtEl>
                                    <p:spTgt spid="30"/>
                                  </p:tgtEl>
                                </p:cBhvr>
                              </p:animEffect>
                              <p:anim calcmode="lin" valueType="num">
                                <p:cBhvr>
                                  <p:cTn id="111" dur="600" decel="100000" fill="hold"/>
                                  <p:tgtEl>
                                    <p:spTgt spid="30"/>
                                  </p:tgtEl>
                                  <p:attrNameLst>
                                    <p:attrName>ppt_y</p:attrName>
                                  </p:attrNameLst>
                                </p:cBhvr>
                                <p:tavLst>
                                  <p:tav tm="0">
                                    <p:val>
                                      <p:strVal val="#ppt_y+0.03"/>
                                    </p:val>
                                  </p:tav>
                                  <p:tav tm="100000">
                                    <p:val>
                                      <p:strVal val="#ppt_y"/>
                                    </p:val>
                                  </p:tav>
                                </p:tavLst>
                              </p:anim>
                            </p:childTnLst>
                          </p:cTn>
                        </p:par>
                        <p:par>
                          <p:cTn id="112" presetID="10" presetClass="entr" presetSubtype="0" fill="hold" nodeType="withEffect">
                            <p:stCondLst>
                              <p:cond delay="2370"/>
                            </p:stCondLst>
                            <p:childTnLst>
                              <p:set>
                                <p:cBhvr>
                                  <p:cTn id="113" dur="1" fill="hold">
                                    <p:stCondLst>
                                      <p:cond delay="0"/>
                                    </p:stCondLst>
                                  </p:cTn>
                                  <p:tgtEl>
                                    <p:spTgt spid="31"/>
                                  </p:tgtEl>
                                  <p:attrNameLst>
                                    <p:attrName>style.visibility</p:attrName>
                                  </p:attrNameLst>
                                </p:cBhvr>
                                <p:to>
                                  <p:strVal val="visible"/>
                                </p:to>
                              </p:set>
                              <p:animEffect transition="in" filter="fade">
                                <p:cBhvr>
                                  <p:cTn id="114" dur="600"/>
                                  <p:tgtEl>
                                    <p:spTgt spid="31"/>
                                  </p:tgtEl>
                                </p:cBhvr>
                              </p:animEffect>
                              <p:anim calcmode="lin" valueType="num">
                                <p:cBhvr>
                                  <p:cTn id="115" dur="600" decel="100000" fill="hold"/>
                                  <p:tgtEl>
                                    <p:spTgt spid="31"/>
                                  </p:tgtEl>
                                  <p:attrNameLst>
                                    <p:attrName>ppt_y</p:attrName>
                                  </p:attrNameLst>
                                </p:cBhvr>
                                <p:tavLst>
                                  <p:tav tm="0">
                                    <p:val>
                                      <p:strVal val="#ppt_y+0.03"/>
                                    </p:val>
                                  </p:tav>
                                  <p:tav tm="100000">
                                    <p:val>
                                      <p:strVal val="#ppt_y"/>
                                    </p:val>
                                  </p:tav>
                                </p:tavLst>
                              </p:anim>
                            </p:childTnLst>
                          </p:cTn>
                        </p:par>
                        <p:par>
                          <p:cTn id="116" presetID="10" presetClass="entr" presetSubtype="0" fill="hold" nodeType="withEffect">
                            <p:stCondLst>
                              <p:cond delay="2430"/>
                            </p:stCondLst>
                            <p:childTnLst>
                              <p:set>
                                <p:cBhvr>
                                  <p:cTn id="117" dur="1" fill="hold">
                                    <p:stCondLst>
                                      <p:cond delay="0"/>
                                    </p:stCondLst>
                                  </p:cTn>
                                  <p:tgtEl>
                                    <p:spTgt spid="32"/>
                                  </p:tgtEl>
                                  <p:attrNameLst>
                                    <p:attrName>style.visibility</p:attrName>
                                  </p:attrNameLst>
                                </p:cBhvr>
                                <p:to>
                                  <p:strVal val="visible"/>
                                </p:to>
                              </p:set>
                              <p:animEffect transition="in" filter="fade">
                                <p:cBhvr>
                                  <p:cTn id="118" dur="600"/>
                                  <p:tgtEl>
                                    <p:spTgt spid="32"/>
                                  </p:tgtEl>
                                </p:cBhvr>
                              </p:animEffect>
                              <p:anim calcmode="lin" valueType="num">
                                <p:cBhvr>
                                  <p:cTn id="119" dur="600" decel="100000" fill="hold"/>
                                  <p:tgtEl>
                                    <p:spTgt spid="32"/>
                                  </p:tgtEl>
                                  <p:attrNameLst>
                                    <p:attrName>ppt_y</p:attrName>
                                  </p:attrNameLst>
                                </p:cBhvr>
                                <p:tavLst>
                                  <p:tav tm="0">
                                    <p:val>
                                      <p:strVal val="#ppt_y+0.03"/>
                                    </p:val>
                                  </p:tav>
                                  <p:tav tm="100000">
                                    <p:val>
                                      <p:strVal val="#ppt_y"/>
                                    </p:val>
                                  </p:tav>
                                </p:tavLst>
                              </p:anim>
                            </p:childTnLst>
                          </p:cTn>
                        </p:par>
                        <p:par>
                          <p:cTn id="120" presetID="10" presetClass="entr" presetSubtype="0" fill="hold" nodeType="withEffect">
                            <p:stCondLst>
                              <p:cond delay="249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600"/>
                                  <p:tgtEl>
                                    <p:spTgt spid="33"/>
                                  </p:tgtEl>
                                </p:cBhvr>
                              </p:animEffect>
                              <p:anim calcmode="lin" valueType="num">
                                <p:cBhvr>
                                  <p:cTn id="123" dur="600" decel="100000" fill="hold"/>
                                  <p:tgtEl>
                                    <p:spTgt spid="33"/>
                                  </p:tgtEl>
                                  <p:attrNameLst>
                                    <p:attrName>ppt_y</p:attrName>
                                  </p:attrNameLst>
                                </p:cBhvr>
                                <p:tavLst>
                                  <p:tav tm="0">
                                    <p:val>
                                      <p:strVal val="#ppt_y+0.03"/>
                                    </p:val>
                                  </p:tav>
                                  <p:tav tm="100000">
                                    <p:val>
                                      <p:strVal val="#ppt_y"/>
                                    </p:val>
                                  </p:tav>
                                </p:tavLst>
                              </p:anim>
                            </p:childTnLst>
                          </p:cTn>
                        </p:par>
                        <p:par>
                          <p:cTn id="124" presetID="10" presetClass="entr" presetSubtype="0" fill="hold" nodeType="withEffect">
                            <p:stCondLst>
                              <p:cond delay="255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600"/>
                                  <p:tgtEl>
                                    <p:spTgt spid="34"/>
                                  </p:tgtEl>
                                </p:cBhvr>
                              </p:animEffect>
                              <p:anim calcmode="lin" valueType="num">
                                <p:cBhvr>
                                  <p:cTn id="127" dur="600" decel="100000" fill="hold"/>
                                  <p:tgtEl>
                                    <p:spTgt spid="34"/>
                                  </p:tgtEl>
                                  <p:attrNameLst>
                                    <p:attrName>ppt_y</p:attrName>
                                  </p:attrNameLst>
                                </p:cBhvr>
                                <p:tavLst>
                                  <p:tav tm="0">
                                    <p:val>
                                      <p:strVal val="#ppt_y+0.03"/>
                                    </p:val>
                                  </p:tav>
                                  <p:tav tm="100000">
                                    <p:val>
                                      <p:strVal val="#ppt_y"/>
                                    </p:val>
                                  </p:tav>
                                </p:tavLst>
                              </p:anim>
                            </p:childTnLst>
                          </p:cTn>
                        </p:par>
                        <p:par>
                          <p:cTn id="128" presetID="10" presetClass="entr" presetSubtype="0" fill="hold" nodeType="withEffect">
                            <p:stCondLst>
                              <p:cond delay="261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600"/>
                                  <p:tgtEl>
                                    <p:spTgt spid="35"/>
                                  </p:tgtEl>
                                </p:cBhvr>
                              </p:animEffect>
                              <p:anim calcmode="lin" valueType="num">
                                <p:cBhvr>
                                  <p:cTn id="131" dur="600" decel="100000" fill="hold"/>
                                  <p:tgtEl>
                                    <p:spTgt spid="35"/>
                                  </p:tgtEl>
                                  <p:attrNameLst>
                                    <p:attrName>ppt_y</p:attrName>
                                  </p:attrNameLst>
                                </p:cBhvr>
                                <p:tavLst>
                                  <p:tav tm="0">
                                    <p:val>
                                      <p:strVal val="#ppt_y+0.03"/>
                                    </p:val>
                                  </p:tav>
                                  <p:tav tm="100000">
                                    <p:val>
                                      <p:strVal val="#ppt_y"/>
                                    </p:val>
                                  </p:tav>
                                </p:tavLst>
                              </p:anim>
                            </p:childTnLst>
                          </p:cTn>
                        </p:par>
                        <p:par>
                          <p:cTn id="132" presetID="10" presetClass="entr" presetSubtype="0" fill="hold" nodeType="withEffect">
                            <p:stCondLst>
                              <p:cond delay="2670"/>
                            </p:stCondLst>
                            <p:childTnLst>
                              <p:set>
                                <p:cBhvr>
                                  <p:cTn id="133" dur="1" fill="hold">
                                    <p:stCondLst>
                                      <p:cond delay="0"/>
                                    </p:stCondLst>
                                  </p:cTn>
                                  <p:tgtEl>
                                    <p:spTgt spid="36"/>
                                  </p:tgtEl>
                                  <p:attrNameLst>
                                    <p:attrName>style.visibility</p:attrName>
                                  </p:attrNameLst>
                                </p:cBhvr>
                                <p:to>
                                  <p:strVal val="visible"/>
                                </p:to>
                              </p:set>
                              <p:animEffect transition="in" filter="fade">
                                <p:cBhvr>
                                  <p:cTn id="134" dur="600"/>
                                  <p:tgtEl>
                                    <p:spTgt spid="36"/>
                                  </p:tgtEl>
                                </p:cBhvr>
                              </p:animEffect>
                              <p:anim calcmode="lin" valueType="num">
                                <p:cBhvr>
                                  <p:cTn id="135" dur="600" decel="100000" fill="hold"/>
                                  <p:tgtEl>
                                    <p:spTgt spid="36"/>
                                  </p:tgtEl>
                                  <p:attrNameLst>
                                    <p:attrName>ppt_y</p:attrName>
                                  </p:attrNameLst>
                                </p:cBhvr>
                                <p:tavLst>
                                  <p:tav tm="0">
                                    <p:val>
                                      <p:strVal val="#ppt_y+0.03"/>
                                    </p:val>
                                  </p:tav>
                                  <p:tav tm="100000">
                                    <p:val>
                                      <p:strVal val="#ppt_y"/>
                                    </p:val>
                                  </p:tav>
                                </p:tavLst>
                              </p:anim>
                            </p:childTnLst>
                          </p:cTn>
                        </p:par>
                        <p:par>
                          <p:cTn id="136" presetID="10" presetClass="entr" presetSubtype="0" fill="hold" nodeType="withEffect">
                            <p:stCondLst>
                              <p:cond delay="2730"/>
                            </p:stCondLst>
                            <p:childTnLst>
                              <p:set>
                                <p:cBhvr>
                                  <p:cTn id="137" dur="1" fill="hold">
                                    <p:stCondLst>
                                      <p:cond delay="0"/>
                                    </p:stCondLst>
                                  </p:cTn>
                                  <p:tgtEl>
                                    <p:spTgt spid="37"/>
                                  </p:tgtEl>
                                  <p:attrNameLst>
                                    <p:attrName>style.visibility</p:attrName>
                                  </p:attrNameLst>
                                </p:cBhvr>
                                <p:to>
                                  <p:strVal val="visible"/>
                                </p:to>
                              </p:set>
                              <p:animEffect transition="in" filter="fade">
                                <p:cBhvr>
                                  <p:cTn id="138" dur="600"/>
                                  <p:tgtEl>
                                    <p:spTgt spid="37"/>
                                  </p:tgtEl>
                                </p:cBhvr>
                              </p:animEffect>
                              <p:anim calcmode="lin" valueType="num">
                                <p:cBhvr>
                                  <p:cTn id="139" dur="600" decel="100000" fill="hold"/>
                                  <p:tgtEl>
                                    <p:spTgt spid="37"/>
                                  </p:tgtEl>
                                  <p:attrNameLst>
                                    <p:attrName>ppt_y</p:attrName>
                                  </p:attrNameLst>
                                </p:cBhvr>
                                <p:tavLst>
                                  <p:tav tm="0">
                                    <p:val>
                                      <p:strVal val="#ppt_y+0.03"/>
                                    </p:val>
                                  </p:tav>
                                  <p:tav tm="100000">
                                    <p:val>
                                      <p:strVal val="#ppt_y"/>
                                    </p:val>
                                  </p:tav>
                                </p:tavLst>
                              </p:anim>
                            </p:childTnLst>
                          </p:cTn>
                        </p:par>
                        <p:par>
                          <p:cTn id="140" presetID="10" presetClass="entr" presetSubtype="0" fill="hold" nodeType="withEffect">
                            <p:stCondLst>
                              <p:cond delay="2790"/>
                            </p:stCondLst>
                            <p:childTnLst>
                              <p:set>
                                <p:cBhvr>
                                  <p:cTn id="141" dur="1" fill="hold">
                                    <p:stCondLst>
                                      <p:cond delay="0"/>
                                    </p:stCondLst>
                                  </p:cTn>
                                  <p:tgtEl>
                                    <p:spTgt spid="38"/>
                                  </p:tgtEl>
                                  <p:attrNameLst>
                                    <p:attrName>style.visibility</p:attrName>
                                  </p:attrNameLst>
                                </p:cBhvr>
                                <p:to>
                                  <p:strVal val="visible"/>
                                </p:to>
                              </p:set>
                              <p:animEffect transition="in" filter="fade">
                                <p:cBhvr>
                                  <p:cTn id="142" dur="600"/>
                                  <p:tgtEl>
                                    <p:spTgt spid="38"/>
                                  </p:tgtEl>
                                </p:cBhvr>
                              </p:animEffect>
                              <p:anim calcmode="lin" valueType="num">
                                <p:cBhvr>
                                  <p:cTn id="143" dur="600" decel="100000" fill="hold"/>
                                  <p:tgtEl>
                                    <p:spTgt spid="38"/>
                                  </p:tgtEl>
                                  <p:attrNameLst>
                                    <p:attrName>ppt_y</p:attrName>
                                  </p:attrNameLst>
                                </p:cBhvr>
                                <p:tavLst>
                                  <p:tav tm="0">
                                    <p:val>
                                      <p:strVal val="#ppt_y+0.03"/>
                                    </p:val>
                                  </p:tav>
                                  <p:tav tm="100000">
                                    <p:val>
                                      <p:strVal val="#ppt_y"/>
                                    </p:val>
                                  </p:tav>
                                </p:tavLst>
                              </p:anim>
                            </p:childTnLst>
                          </p:cTn>
                        </p:par>
                        <p:par>
                          <p:cTn id="144" presetID="10" presetClass="entr" presetSubtype="0" fill="hold" nodeType="withEffect">
                            <p:stCondLst>
                              <p:cond delay="2850"/>
                            </p:stCondLst>
                            <p:childTnLst>
                              <p:set>
                                <p:cBhvr>
                                  <p:cTn id="145" dur="1" fill="hold">
                                    <p:stCondLst>
                                      <p:cond delay="0"/>
                                    </p:stCondLst>
                                  </p:cTn>
                                  <p:tgtEl>
                                    <p:spTgt spid="39"/>
                                  </p:tgtEl>
                                  <p:attrNameLst>
                                    <p:attrName>style.visibility</p:attrName>
                                  </p:attrNameLst>
                                </p:cBhvr>
                                <p:to>
                                  <p:strVal val="visible"/>
                                </p:to>
                              </p:set>
                              <p:animEffect transition="in" filter="fade">
                                <p:cBhvr>
                                  <p:cTn id="146" dur="600"/>
                                  <p:tgtEl>
                                    <p:spTgt spid="39"/>
                                  </p:tgtEl>
                                </p:cBhvr>
                              </p:animEffect>
                              <p:anim calcmode="lin" valueType="num">
                                <p:cBhvr>
                                  <p:cTn id="147" dur="600" decel="100000" fill="hold"/>
                                  <p:tgtEl>
                                    <p:spTgt spid="39"/>
                                  </p:tgtEl>
                                  <p:attrNameLst>
                                    <p:attrName>ppt_y</p:attrName>
                                  </p:attrNameLst>
                                </p:cBhvr>
                                <p:tavLst>
                                  <p:tav tm="0">
                                    <p:val>
                                      <p:strVal val="#ppt_y+0.03"/>
                                    </p:val>
                                  </p:tav>
                                  <p:tav tm="100000">
                                    <p:val>
                                      <p:strVal val="#ppt_y"/>
                                    </p:val>
                                  </p:tav>
                                </p:tavLst>
                              </p:anim>
                            </p:childTnLst>
                          </p:cTn>
                        </p:par>
                        <p:par>
                          <p:cTn id="148" presetID="10" presetClass="entr" presetSubtype="0" fill="hold" nodeType="withEffect">
                            <p:stCondLst>
                              <p:cond delay="2910"/>
                            </p:stCondLst>
                            <p:childTnLst>
                              <p:set>
                                <p:cBhvr>
                                  <p:cTn id="149" dur="1" fill="hold">
                                    <p:stCondLst>
                                      <p:cond delay="0"/>
                                    </p:stCondLst>
                                  </p:cTn>
                                  <p:tgtEl>
                                    <p:spTgt spid="40"/>
                                  </p:tgtEl>
                                  <p:attrNameLst>
                                    <p:attrName>style.visibility</p:attrName>
                                  </p:attrNameLst>
                                </p:cBhvr>
                                <p:to>
                                  <p:strVal val="visible"/>
                                </p:to>
                              </p:set>
                              <p:animEffect transition="in" filter="fade">
                                <p:cBhvr>
                                  <p:cTn id="150" dur="600"/>
                                  <p:tgtEl>
                                    <p:spTgt spid="40"/>
                                  </p:tgtEl>
                                </p:cBhvr>
                              </p:animEffect>
                              <p:anim calcmode="lin" valueType="num">
                                <p:cBhvr>
                                  <p:cTn id="151" dur="600" decel="100000" fill="hold"/>
                                  <p:tgtEl>
                                    <p:spTgt spid="40"/>
                                  </p:tgtEl>
                                  <p:attrNameLst>
                                    <p:attrName>ppt_y</p:attrName>
                                  </p:attrNameLst>
                                </p:cBhvr>
                                <p:tavLst>
                                  <p:tav tm="0">
                                    <p:val>
                                      <p:strVal val="#ppt_y+0.03"/>
                                    </p:val>
                                  </p:tav>
                                  <p:tav tm="100000">
                                    <p:val>
                                      <p:strVal val="#ppt_y"/>
                                    </p:val>
                                  </p:tav>
                                </p:tavLst>
                              </p:anim>
                            </p:childTnLst>
                          </p:cTn>
                        </p:par>
                        <p:par>
                          <p:cTn id="152" presetID="10" presetClass="entr" presetSubtype="0" fill="hold" nodeType="withEffect">
                            <p:stCondLst>
                              <p:cond delay="2970"/>
                            </p:stCondLst>
                            <p:childTnLst>
                              <p:set>
                                <p:cBhvr>
                                  <p:cTn id="153" dur="1" fill="hold">
                                    <p:stCondLst>
                                      <p:cond delay="0"/>
                                    </p:stCondLst>
                                  </p:cTn>
                                  <p:tgtEl>
                                    <p:spTgt spid="41"/>
                                  </p:tgtEl>
                                  <p:attrNameLst>
                                    <p:attrName>style.visibility</p:attrName>
                                  </p:attrNameLst>
                                </p:cBhvr>
                                <p:to>
                                  <p:strVal val="visible"/>
                                </p:to>
                              </p:set>
                              <p:animEffect transition="in" filter="fade">
                                <p:cBhvr>
                                  <p:cTn id="154" dur="600"/>
                                  <p:tgtEl>
                                    <p:spTgt spid="41"/>
                                  </p:tgtEl>
                                </p:cBhvr>
                              </p:animEffect>
                              <p:anim calcmode="lin" valueType="num">
                                <p:cBhvr>
                                  <p:cTn id="155" dur="600" decel="100000" fill="hold"/>
                                  <p:tgtEl>
                                    <p:spTgt spid="41"/>
                                  </p:tgtEl>
                                  <p:attrNameLst>
                                    <p:attrName>ppt_y</p:attrName>
                                  </p:attrNameLst>
                                </p:cBhvr>
                                <p:tavLst>
                                  <p:tav tm="0">
                                    <p:val>
                                      <p:strVal val="#ppt_y+0.03"/>
                                    </p:val>
                                  </p:tav>
                                  <p:tav tm="100000">
                                    <p:val>
                                      <p:strVal val="#ppt_y"/>
                                    </p:val>
                                  </p:tav>
                                </p:tavLst>
                              </p:anim>
                            </p:childTnLst>
                          </p:cTn>
                        </p:par>
                        <p:par>
                          <p:cTn id="156" presetID="10" presetClass="entr" presetSubtype="0" fill="hold" nodeType="withEffect">
                            <p:stCondLst>
                              <p:cond delay="3030"/>
                            </p:stCondLst>
                            <p:childTnLst>
                              <p:set>
                                <p:cBhvr>
                                  <p:cTn id="157" dur="1" fill="hold">
                                    <p:stCondLst>
                                      <p:cond delay="0"/>
                                    </p:stCondLst>
                                  </p:cTn>
                                  <p:tgtEl>
                                    <p:spTgt spid="42"/>
                                  </p:tgtEl>
                                  <p:attrNameLst>
                                    <p:attrName>style.visibility</p:attrName>
                                  </p:attrNameLst>
                                </p:cBhvr>
                                <p:to>
                                  <p:strVal val="visible"/>
                                </p:to>
                              </p:set>
                              <p:animEffect transition="in" filter="fade">
                                <p:cBhvr>
                                  <p:cTn id="158" dur="600"/>
                                  <p:tgtEl>
                                    <p:spTgt spid="42"/>
                                  </p:tgtEl>
                                </p:cBhvr>
                              </p:animEffect>
                              <p:anim calcmode="lin" valueType="num">
                                <p:cBhvr>
                                  <p:cTn id="159" dur="600" decel="100000" fill="hold"/>
                                  <p:tgtEl>
                                    <p:spTgt spid="42"/>
                                  </p:tgtEl>
                                  <p:attrNameLst>
                                    <p:attrName>ppt_y</p:attrName>
                                  </p:attrNameLst>
                                </p:cBhvr>
                                <p:tavLst>
                                  <p:tav tm="0">
                                    <p:val>
                                      <p:strVal val="#ppt_y+0.03"/>
                                    </p:val>
                                  </p:tav>
                                  <p:tav tm="100000">
                                    <p:val>
                                      <p:strVal val="#ppt_y"/>
                                    </p:val>
                                  </p:tav>
                                </p:tavLst>
                              </p:anim>
                            </p:childTnLst>
                          </p:cTn>
                        </p:par>
                        <p:par>
                          <p:cTn id="160" presetID="10" presetClass="entr" presetSubtype="0" fill="hold" nodeType="withEffect">
                            <p:stCondLst>
                              <p:cond delay="3090"/>
                            </p:stCondLst>
                            <p:childTnLst>
                              <p:set>
                                <p:cBhvr>
                                  <p:cTn id="161" dur="1" fill="hold">
                                    <p:stCondLst>
                                      <p:cond delay="0"/>
                                    </p:stCondLst>
                                  </p:cTn>
                                  <p:tgtEl>
                                    <p:spTgt spid="43"/>
                                  </p:tgtEl>
                                  <p:attrNameLst>
                                    <p:attrName>style.visibility</p:attrName>
                                  </p:attrNameLst>
                                </p:cBhvr>
                                <p:to>
                                  <p:strVal val="visible"/>
                                </p:to>
                              </p:set>
                              <p:animEffect transition="in" filter="fade">
                                <p:cBhvr>
                                  <p:cTn id="162" dur="600"/>
                                  <p:tgtEl>
                                    <p:spTgt spid="43"/>
                                  </p:tgtEl>
                                </p:cBhvr>
                              </p:animEffect>
                              <p:anim calcmode="lin" valueType="num">
                                <p:cBhvr>
                                  <p:cTn id="163" dur="600" decel="100000" fill="hold"/>
                                  <p:tgtEl>
                                    <p:spTgt spid="43"/>
                                  </p:tgtEl>
                                  <p:attrNameLst>
                                    <p:attrName>ppt_y</p:attrName>
                                  </p:attrNameLst>
                                </p:cBhvr>
                                <p:tavLst>
                                  <p:tav tm="0">
                                    <p:val>
                                      <p:strVal val="#ppt_y+0.03"/>
                                    </p:val>
                                  </p:tav>
                                  <p:tav tm="100000">
                                    <p:val>
                                      <p:strVal val="#ppt_y"/>
                                    </p:val>
                                  </p:tav>
                                </p:tavLst>
                              </p:anim>
                            </p:childTnLst>
                          </p:cTn>
                        </p:par>
                        <p:par>
                          <p:cTn id="164" presetID="10" presetClass="entr" presetSubtype="0" fill="hold" nodeType="withEffect">
                            <p:stCondLst>
                              <p:cond delay="315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600"/>
                                  <p:tgtEl>
                                    <p:spTgt spid="44"/>
                                  </p:tgtEl>
                                </p:cBhvr>
                              </p:animEffect>
                              <p:anim calcmode="lin" valueType="num">
                                <p:cBhvr>
                                  <p:cTn id="167" dur="600" decel="100000" fill="hold"/>
                                  <p:tgtEl>
                                    <p:spTgt spid="44"/>
                                  </p:tgtEl>
                                  <p:attrNameLst>
                                    <p:attrName>ppt_y</p:attrName>
                                  </p:attrNameLst>
                                </p:cBhvr>
                                <p:tavLst>
                                  <p:tav tm="0">
                                    <p:val>
                                      <p:strVal val="#ppt_y+0.03"/>
                                    </p:val>
                                  </p:tav>
                                  <p:tav tm="100000">
                                    <p:val>
                                      <p:strVal val="#ppt_y"/>
                                    </p:val>
                                  </p:tav>
                                </p:tavLst>
                              </p:anim>
                            </p:childTnLst>
                          </p:cTn>
                        </p:par>
                        <p:par>
                          <p:cTn id="168" presetID="10" presetClass="entr" presetSubtype="0" fill="hold" nodeType="withEffect">
                            <p:stCondLst>
                              <p:cond delay="3210"/>
                            </p:stCondLst>
                            <p:childTnLst>
                              <p:set>
                                <p:cBhvr>
                                  <p:cTn id="169" dur="1" fill="hold">
                                    <p:stCondLst>
                                      <p:cond delay="0"/>
                                    </p:stCondLst>
                                  </p:cTn>
                                  <p:tgtEl>
                                    <p:spTgt spid="45"/>
                                  </p:tgtEl>
                                  <p:attrNameLst>
                                    <p:attrName>style.visibility</p:attrName>
                                  </p:attrNameLst>
                                </p:cBhvr>
                                <p:to>
                                  <p:strVal val="visible"/>
                                </p:to>
                              </p:set>
                              <p:animEffect transition="in" filter="fade">
                                <p:cBhvr>
                                  <p:cTn id="170" dur="600"/>
                                  <p:tgtEl>
                                    <p:spTgt spid="45"/>
                                  </p:tgtEl>
                                </p:cBhvr>
                              </p:animEffect>
                              <p:anim calcmode="lin" valueType="num">
                                <p:cBhvr>
                                  <p:cTn id="171" dur="600" decel="100000" fill="hold"/>
                                  <p:tgtEl>
                                    <p:spTgt spid="45"/>
                                  </p:tgtEl>
                                  <p:attrNameLst>
                                    <p:attrName>ppt_y</p:attrName>
                                  </p:attrNameLst>
                                </p:cBhvr>
                                <p:tavLst>
                                  <p:tav tm="0">
                                    <p:val>
                                      <p:strVal val="#ppt_y+0.03"/>
                                    </p:val>
                                  </p:tav>
                                  <p:tav tm="100000">
                                    <p:val>
                                      <p:strVal val="#ppt_y"/>
                                    </p:val>
                                  </p:tav>
                                </p:tavLst>
                              </p:anim>
                            </p:childTnLst>
                          </p:cTn>
                        </p:par>
                        <p:par>
                          <p:cTn id="172" presetID="10" presetClass="entr" presetSubtype="0" fill="hold" nodeType="withEffect">
                            <p:stCondLst>
                              <p:cond delay="1800"/>
                            </p:stCondLst>
                            <p:childTnLst>
                              <p:set>
                                <p:cBhvr>
                                  <p:cTn id="173" dur="1" fill="hold">
                                    <p:stCondLst>
                                      <p:cond delay="0"/>
                                    </p:stCondLst>
                                  </p:cTn>
                                  <p:tgtEl>
                                    <p:spTgt spid="46"/>
                                  </p:tgtEl>
                                  <p:attrNameLst>
                                    <p:attrName>style.visibility</p:attrName>
                                  </p:attrNameLst>
                                </p:cBhvr>
                                <p:to>
                                  <p:strVal val="visible"/>
                                </p:to>
                              </p:set>
                              <p:animEffect transition="in" filter="fade">
                                <p:cBhvr>
                                  <p:cTn id="174" dur="600"/>
                                  <p:tgtEl>
                                    <p:spTgt spid="46"/>
                                  </p:tgtEl>
                                </p:cBhvr>
                              </p:animEffect>
                              <p:anim calcmode="lin" valueType="num">
                                <p:cBhvr>
                                  <p:cTn id="175" dur="600" decel="100000" fill="hold"/>
                                  <p:tgtEl>
                                    <p:spTgt spid="46"/>
                                  </p:tgtEl>
                                  <p:attrNameLst>
                                    <p:attrName>ppt_y</p:attrName>
                                  </p:attrNameLst>
                                </p:cBhvr>
                                <p:tavLst>
                                  <p:tav tm="0">
                                    <p:val>
                                      <p:strVal val="#ppt_y+0.03"/>
                                    </p:val>
                                  </p:tav>
                                  <p:tav tm="100000">
                                    <p:val>
                                      <p:strVal val="#ppt_y"/>
                                    </p:val>
                                  </p:tav>
                                </p:tavLst>
                              </p:anim>
                            </p:childTnLst>
                          </p:cTn>
                        </p:par>
                        <p:par>
                          <p:cTn id="176" presetID="10" presetClass="entr" presetSubtype="0" fill="hold" nodeType="withEffect">
                            <p:stCondLst>
                              <p:cond delay="1860"/>
                            </p:stCondLst>
                            <p:childTnLst>
                              <p:set>
                                <p:cBhvr>
                                  <p:cTn id="177" dur="1" fill="hold">
                                    <p:stCondLst>
                                      <p:cond delay="0"/>
                                    </p:stCondLst>
                                  </p:cTn>
                                  <p:tgtEl>
                                    <p:spTgt spid="47"/>
                                  </p:tgtEl>
                                  <p:attrNameLst>
                                    <p:attrName>style.visibility</p:attrName>
                                  </p:attrNameLst>
                                </p:cBhvr>
                                <p:to>
                                  <p:strVal val="visible"/>
                                </p:to>
                              </p:set>
                              <p:animEffect transition="in" filter="fade">
                                <p:cBhvr>
                                  <p:cTn id="178" dur="600"/>
                                  <p:tgtEl>
                                    <p:spTgt spid="47"/>
                                  </p:tgtEl>
                                </p:cBhvr>
                              </p:animEffect>
                              <p:anim calcmode="lin" valueType="num">
                                <p:cBhvr>
                                  <p:cTn id="179" dur="600" decel="100000" fill="hold"/>
                                  <p:tgtEl>
                                    <p:spTgt spid="47"/>
                                  </p:tgtEl>
                                  <p:attrNameLst>
                                    <p:attrName>ppt_y</p:attrName>
                                  </p:attrNameLst>
                                </p:cBhvr>
                                <p:tavLst>
                                  <p:tav tm="0">
                                    <p:val>
                                      <p:strVal val="#ppt_y+0.03"/>
                                    </p:val>
                                  </p:tav>
                                  <p:tav tm="100000">
                                    <p:val>
                                      <p:strVal val="#ppt_y"/>
                                    </p:val>
                                  </p:tav>
                                </p:tavLst>
                              </p:anim>
                            </p:childTnLst>
                          </p:cTn>
                        </p:par>
                        <p:par>
                          <p:cTn id="180" presetID="10" presetClass="entr" presetSubtype="0" fill="hold" nodeType="withEffect">
                            <p:stCondLst>
                              <p:cond delay="1920"/>
                            </p:stCondLst>
                            <p:childTnLst>
                              <p:set>
                                <p:cBhvr>
                                  <p:cTn id="181" dur="1" fill="hold">
                                    <p:stCondLst>
                                      <p:cond delay="0"/>
                                    </p:stCondLst>
                                  </p:cTn>
                                  <p:tgtEl>
                                    <p:spTgt spid="48"/>
                                  </p:tgtEl>
                                  <p:attrNameLst>
                                    <p:attrName>style.visibility</p:attrName>
                                  </p:attrNameLst>
                                </p:cBhvr>
                                <p:to>
                                  <p:strVal val="visible"/>
                                </p:to>
                              </p:set>
                              <p:animEffect transition="in" filter="fade">
                                <p:cBhvr>
                                  <p:cTn id="182" dur="600"/>
                                  <p:tgtEl>
                                    <p:spTgt spid="48"/>
                                  </p:tgtEl>
                                </p:cBhvr>
                              </p:animEffect>
                              <p:anim calcmode="lin" valueType="num">
                                <p:cBhvr>
                                  <p:cTn id="183" dur="600" decel="100000" fill="hold"/>
                                  <p:tgtEl>
                                    <p:spTgt spid="48"/>
                                  </p:tgtEl>
                                  <p:attrNameLst>
                                    <p:attrName>ppt_y</p:attrName>
                                  </p:attrNameLst>
                                </p:cBhvr>
                                <p:tavLst>
                                  <p:tav tm="0">
                                    <p:val>
                                      <p:strVal val="#ppt_y+0.03"/>
                                    </p:val>
                                  </p:tav>
                                  <p:tav tm="100000">
                                    <p:val>
                                      <p:strVal val="#ppt_y"/>
                                    </p:val>
                                  </p:tav>
                                </p:tavLst>
                              </p:anim>
                            </p:childTnLst>
                          </p:cTn>
                        </p:par>
                        <p:par>
                          <p:cTn id="184" presetID="10" presetClass="entr" presetSubtype="0" fill="hold" nodeType="withEffect">
                            <p:stCondLst>
                              <p:cond delay="1980"/>
                            </p:stCondLst>
                            <p:childTnLst>
                              <p:set>
                                <p:cBhvr>
                                  <p:cTn id="185" dur="1" fill="hold">
                                    <p:stCondLst>
                                      <p:cond delay="0"/>
                                    </p:stCondLst>
                                  </p:cTn>
                                  <p:tgtEl>
                                    <p:spTgt spid="49"/>
                                  </p:tgtEl>
                                  <p:attrNameLst>
                                    <p:attrName>style.visibility</p:attrName>
                                  </p:attrNameLst>
                                </p:cBhvr>
                                <p:to>
                                  <p:strVal val="visible"/>
                                </p:to>
                              </p:set>
                              <p:animEffect transition="in" filter="fade">
                                <p:cBhvr>
                                  <p:cTn id="186" dur="600"/>
                                  <p:tgtEl>
                                    <p:spTgt spid="49"/>
                                  </p:tgtEl>
                                </p:cBhvr>
                              </p:animEffect>
                              <p:anim calcmode="lin" valueType="num">
                                <p:cBhvr>
                                  <p:cTn id="187" dur="600" decel="100000" fill="hold"/>
                                  <p:tgtEl>
                                    <p:spTgt spid="49"/>
                                  </p:tgtEl>
                                  <p:attrNameLst>
                                    <p:attrName>ppt_y</p:attrName>
                                  </p:attrNameLst>
                                </p:cBhvr>
                                <p:tavLst>
                                  <p:tav tm="0">
                                    <p:val>
                                      <p:strVal val="#ppt_y+0.03"/>
                                    </p:val>
                                  </p:tav>
                                  <p:tav tm="100000">
                                    <p:val>
                                      <p:strVal val="#ppt_y"/>
                                    </p:val>
                                  </p:tav>
                                </p:tavLst>
                              </p:anim>
                            </p:childTnLst>
                          </p:cTn>
                        </p:par>
                        <p:par>
                          <p:cTn id="188" presetID="10" presetClass="entr" presetSubtype="0" fill="hold" nodeType="withEffect">
                            <p:stCondLst>
                              <p:cond delay="2040"/>
                            </p:stCondLst>
                            <p:childTnLst>
                              <p:set>
                                <p:cBhvr>
                                  <p:cTn id="189" dur="1" fill="hold">
                                    <p:stCondLst>
                                      <p:cond delay="0"/>
                                    </p:stCondLst>
                                  </p:cTn>
                                  <p:tgtEl>
                                    <p:spTgt spid="50"/>
                                  </p:tgtEl>
                                  <p:attrNameLst>
                                    <p:attrName>style.visibility</p:attrName>
                                  </p:attrNameLst>
                                </p:cBhvr>
                                <p:to>
                                  <p:strVal val="visible"/>
                                </p:to>
                              </p:set>
                              <p:animEffect transition="in" filter="fade">
                                <p:cBhvr>
                                  <p:cTn id="190" dur="600"/>
                                  <p:tgtEl>
                                    <p:spTgt spid="50"/>
                                  </p:tgtEl>
                                </p:cBhvr>
                              </p:animEffect>
                              <p:anim calcmode="lin" valueType="num">
                                <p:cBhvr>
                                  <p:cTn id="191" dur="600" decel="100000" fill="hold"/>
                                  <p:tgtEl>
                                    <p:spTgt spid="50"/>
                                  </p:tgtEl>
                                  <p:attrNameLst>
                                    <p:attrName>ppt_y</p:attrName>
                                  </p:attrNameLst>
                                </p:cBhvr>
                                <p:tavLst>
                                  <p:tav tm="0">
                                    <p:val>
                                      <p:strVal val="#ppt_y+0.03"/>
                                    </p:val>
                                  </p:tav>
                                  <p:tav tm="100000">
                                    <p:val>
                                      <p:strVal val="#ppt_y"/>
                                    </p:val>
                                  </p:tav>
                                </p:tavLst>
                              </p:anim>
                            </p:childTnLst>
                          </p:cTn>
                        </p:par>
                        <p:par>
                          <p:cTn id="192" presetID="10" presetClass="entr" presetSubtype="0" fill="hold" nodeType="withEffect">
                            <p:stCondLst>
                              <p:cond delay="2100"/>
                            </p:stCondLst>
                            <p:childTnLst>
                              <p:set>
                                <p:cBhvr>
                                  <p:cTn id="193" dur="1" fill="hold">
                                    <p:stCondLst>
                                      <p:cond delay="0"/>
                                    </p:stCondLst>
                                  </p:cTn>
                                  <p:tgtEl>
                                    <p:spTgt spid="51"/>
                                  </p:tgtEl>
                                  <p:attrNameLst>
                                    <p:attrName>style.visibility</p:attrName>
                                  </p:attrNameLst>
                                </p:cBhvr>
                                <p:to>
                                  <p:strVal val="visible"/>
                                </p:to>
                              </p:set>
                              <p:animEffect transition="in" filter="fade">
                                <p:cBhvr>
                                  <p:cTn id="194" dur="600"/>
                                  <p:tgtEl>
                                    <p:spTgt spid="51"/>
                                  </p:tgtEl>
                                </p:cBhvr>
                              </p:animEffect>
                              <p:anim calcmode="lin" valueType="num">
                                <p:cBhvr>
                                  <p:cTn id="195" dur="600" decel="100000" fill="hold"/>
                                  <p:tgtEl>
                                    <p:spTgt spid="51"/>
                                  </p:tgtEl>
                                  <p:attrNameLst>
                                    <p:attrName>ppt_y</p:attrName>
                                  </p:attrNameLst>
                                </p:cBhvr>
                                <p:tavLst>
                                  <p:tav tm="0">
                                    <p:val>
                                      <p:strVal val="#ppt_y+0.03"/>
                                    </p:val>
                                  </p:tav>
                                  <p:tav tm="100000">
                                    <p:val>
                                      <p:strVal val="#ppt_y"/>
                                    </p:val>
                                  </p:tav>
                                </p:tavLst>
                              </p:anim>
                            </p:childTnLst>
                          </p:cTn>
                        </p:par>
                        <p:par>
                          <p:cTn id="196" presetID="10" presetClass="entr" presetSubtype="0" fill="hold" nodeType="withEffect">
                            <p:stCondLst>
                              <p:cond delay="2160"/>
                            </p:stCondLst>
                            <p:childTnLst>
                              <p:set>
                                <p:cBhvr>
                                  <p:cTn id="197" dur="1" fill="hold">
                                    <p:stCondLst>
                                      <p:cond delay="0"/>
                                    </p:stCondLst>
                                  </p:cTn>
                                  <p:tgtEl>
                                    <p:spTgt spid="52"/>
                                  </p:tgtEl>
                                  <p:attrNameLst>
                                    <p:attrName>style.visibility</p:attrName>
                                  </p:attrNameLst>
                                </p:cBhvr>
                                <p:to>
                                  <p:strVal val="visible"/>
                                </p:to>
                              </p:set>
                              <p:animEffect transition="in" filter="fade">
                                <p:cBhvr>
                                  <p:cTn id="198" dur="600"/>
                                  <p:tgtEl>
                                    <p:spTgt spid="52"/>
                                  </p:tgtEl>
                                </p:cBhvr>
                              </p:animEffect>
                              <p:anim calcmode="lin" valueType="num">
                                <p:cBhvr>
                                  <p:cTn id="199" dur="600" decel="100000" fill="hold"/>
                                  <p:tgtEl>
                                    <p:spTgt spid="52"/>
                                  </p:tgtEl>
                                  <p:attrNameLst>
                                    <p:attrName>ppt_y</p:attrName>
                                  </p:attrNameLst>
                                </p:cBhvr>
                                <p:tavLst>
                                  <p:tav tm="0">
                                    <p:val>
                                      <p:strVal val="#ppt_y+0.03"/>
                                    </p:val>
                                  </p:tav>
                                  <p:tav tm="100000">
                                    <p:val>
                                      <p:strVal val="#ppt_y"/>
                                    </p:val>
                                  </p:tav>
                                </p:tavLst>
                              </p:anim>
                            </p:childTnLst>
                          </p:cTn>
                        </p:par>
                        <p:par>
                          <p:cTn id="200" presetID="10" presetClass="entr" presetSubtype="0" fill="hold" nodeType="withEffect">
                            <p:stCondLst>
                              <p:cond delay="2220"/>
                            </p:stCondLst>
                            <p:childTnLst>
                              <p:set>
                                <p:cBhvr>
                                  <p:cTn id="201" dur="1" fill="hold">
                                    <p:stCondLst>
                                      <p:cond delay="0"/>
                                    </p:stCondLst>
                                  </p:cTn>
                                  <p:tgtEl>
                                    <p:spTgt spid="53"/>
                                  </p:tgtEl>
                                  <p:attrNameLst>
                                    <p:attrName>style.visibility</p:attrName>
                                  </p:attrNameLst>
                                </p:cBhvr>
                                <p:to>
                                  <p:strVal val="visible"/>
                                </p:to>
                              </p:set>
                              <p:animEffect transition="in" filter="fade">
                                <p:cBhvr>
                                  <p:cTn id="202" dur="600"/>
                                  <p:tgtEl>
                                    <p:spTgt spid="53"/>
                                  </p:tgtEl>
                                </p:cBhvr>
                              </p:animEffect>
                              <p:anim calcmode="lin" valueType="num">
                                <p:cBhvr>
                                  <p:cTn id="203" dur="600" decel="100000" fill="hold"/>
                                  <p:tgtEl>
                                    <p:spTgt spid="53"/>
                                  </p:tgtEl>
                                  <p:attrNameLst>
                                    <p:attrName>ppt_y</p:attrName>
                                  </p:attrNameLst>
                                </p:cBhvr>
                                <p:tavLst>
                                  <p:tav tm="0">
                                    <p:val>
                                      <p:strVal val="#ppt_y+0.03"/>
                                    </p:val>
                                  </p:tav>
                                  <p:tav tm="100000">
                                    <p:val>
                                      <p:strVal val="#ppt_y"/>
                                    </p:val>
                                  </p:tav>
                                </p:tavLst>
                              </p:anim>
                            </p:childTnLst>
                          </p:cTn>
                        </p:par>
                        <p:par>
                          <p:cTn id="204" presetID="10" presetClass="entr" presetSubtype="0" fill="hold" nodeType="withEffect">
                            <p:stCondLst>
                              <p:cond delay="2280"/>
                            </p:stCondLst>
                            <p:childTnLst>
                              <p:set>
                                <p:cBhvr>
                                  <p:cTn id="205" dur="1" fill="hold">
                                    <p:stCondLst>
                                      <p:cond delay="0"/>
                                    </p:stCondLst>
                                  </p:cTn>
                                  <p:tgtEl>
                                    <p:spTgt spid="54"/>
                                  </p:tgtEl>
                                  <p:attrNameLst>
                                    <p:attrName>style.visibility</p:attrName>
                                  </p:attrNameLst>
                                </p:cBhvr>
                                <p:to>
                                  <p:strVal val="visible"/>
                                </p:to>
                              </p:set>
                              <p:animEffect transition="in" filter="fade">
                                <p:cBhvr>
                                  <p:cTn id="206" dur="600"/>
                                  <p:tgtEl>
                                    <p:spTgt spid="54"/>
                                  </p:tgtEl>
                                </p:cBhvr>
                              </p:animEffect>
                              <p:anim calcmode="lin" valueType="num">
                                <p:cBhvr>
                                  <p:cTn id="207" dur="600" decel="100000" fill="hold"/>
                                  <p:tgtEl>
                                    <p:spTgt spid="54"/>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p>
            <a:pPr indent="0" marL="0">
              <a:buNone/>
            </a:pPr>
            <a:r>
              <a:rPr lang="en-US" sz="1400" b="1" dirty="0">
                <a:solidFill>
                  <a:schemeClr val="accent1"/>
                </a:solidFill>
              </a:rPr>
              <a:t>Pourquoi ces choix</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p>
            <a:pPr algn="l" indent="0" marL="0">
              <a:buNone/>
            </a:pPr>
            <a:r>
              <a:rPr lang="en-US" sz="3200" b="1" dirty="0">
                <a:solidFill>
                  <a:schemeClr val="tx1"/>
                </a:solidFill>
              </a:rPr>
              <a:t>Des technologies </a:t>
            </a:r>
            <a:pPr algn="l" indent="0" marL="0">
              <a:buNone/>
            </a:pPr>
            <a:r>
              <a:rPr lang="en-US" sz="3200" b="1" dirty="0">
                <a:solidFill>
                  <a:schemeClr val="accent1"/>
                </a:solidFill>
              </a:rPr>
              <a:t>éprouvées</a:t>
            </a:r>
            <a:pPr algn="l" indent="0" marL="0">
              <a:buNone/>
            </a:pPr>
            <a:r>
              <a:rPr lang="en-US" sz="3200" b="1" dirty="0">
                <a:solidFill>
                  <a:schemeClr val="tx1"/>
                </a:solidFill>
              </a:rPr>
              <a:t>, sans abonnement caché</a:t>
            </a:r>
            <a:endParaRPr lang="en-US" sz="3200" dirty="0"/>
          </a:p>
        </p:txBody>
      </p:sp>
      <p:sp>
        <p:nvSpPr>
          <p:cNvPr id="4" name="a1_129"/>
          <p:cNvSpPr/>
          <p:nvPr/>
        </p:nvSpPr>
        <p:spPr>
          <a:xfrm>
            <a:off x="822960" y="1645920"/>
            <a:ext cx="4389120" cy="4389120"/>
          </a:xfrm>
          <a:prstGeom prst="ellipse">
            <a:avLst/>
          </a:prstGeom>
          <a:solidFill>
            <a:schemeClr val="bg2"/>
          </a:solidFill>
          <a:ln w="12700">
            <a:solidFill>
              <a:schemeClr val="bg2"/>
            </a:solidFill>
            <a:prstDash val="solid"/>
          </a:ln>
        </p:spPr>
      </p:sp>
      <p:pic>
        <p:nvPicPr>
          <p:cNvPr id="5" name="a1_130" descr="preencoded.png">    </p:cNvPr>
          <p:cNvPicPr>
            <a:picLocks noChangeAspect="1"/>
          </p:cNvPicPr>
          <p:nvPr/>
        </p:nvPicPr>
        <p:blipFill>
          <a:blip r:embed="rId1"/>
          <a:stretch>
            <a:fillRect/>
          </a:stretch>
        </p:blipFill>
        <p:spPr>
          <a:xfrm>
            <a:off x="914400" y="1737360"/>
            <a:ext cx="4206240" cy="4206240"/>
          </a:xfrm>
          <a:prstGeom prst="rect">
            <a:avLst/>
          </a:prstGeom>
        </p:spPr>
      </p:pic>
      <p:sp>
        <p:nvSpPr>
          <p:cNvPr id="6" name="a2_131"/>
          <p:cNvSpPr/>
          <p:nvPr/>
        </p:nvSpPr>
        <p:spPr>
          <a:xfrm>
            <a:off x="5943600" y="1783080"/>
            <a:ext cx="548640" cy="548640"/>
          </a:xfrm>
          <a:prstGeom prst="ellipse">
            <a:avLst/>
          </a:prstGeom>
          <a:solidFill>
            <a:schemeClr val="accent1"/>
          </a:solidFill>
          <a:ln w="12700">
            <a:solidFill>
              <a:schemeClr val="accent1"/>
            </a:solidFill>
            <a:prstDash val="solid"/>
          </a:ln>
        </p:spPr>
      </p:sp>
      <p:pic>
        <p:nvPicPr>
          <p:cNvPr id="7" name="a2_132" descr="preencoded.png">    </p:cNvPr>
          <p:cNvPicPr>
            <a:picLocks noChangeAspect="1"/>
          </p:cNvPicPr>
          <p:nvPr/>
        </p:nvPicPr>
        <p:blipFill>
          <a:blip r:embed="rId2"/>
          <a:stretch>
            <a:fillRect/>
          </a:stretch>
        </p:blipFill>
        <p:spPr>
          <a:xfrm>
            <a:off x="6086246" y="1925726"/>
            <a:ext cx="263347" cy="263347"/>
          </a:xfrm>
          <a:prstGeom prst="rect">
            <a:avLst/>
          </a:prstGeom>
        </p:spPr>
      </p:pic>
      <p:sp>
        <p:nvSpPr>
          <p:cNvPr id="8" name="a2_133"/>
          <p:cNvSpPr txBox="1"/>
          <p:nvPr/>
        </p:nvSpPr>
        <p:spPr>
          <a:xfrm>
            <a:off x="6720840" y="1737360"/>
            <a:ext cx="4846320" cy="457200"/>
          </a:xfrm>
          <a:prstGeom prst="rect">
            <a:avLst/>
          </a:prstGeom>
          <a:noFill/>
          <a:ln/>
        </p:spPr>
        <p:txBody>
          <a:bodyPr wrap="square" lIns="0" tIns="0" rIns="0" bIns="0" rtlCol="0" anchor="ctr"/>
          <a:lstStyle/>
          <a:p>
            <a:pPr indent="0" marL="0">
              <a:buNone/>
            </a:pPr>
            <a:r>
              <a:rPr lang="en-US" sz="2000" b="1" dirty="0">
                <a:solidFill>
                  <a:schemeClr val="tx2"/>
                </a:solidFill>
              </a:rPr>
              <a:t>Évolutif</a:t>
            </a:r>
            <a:endParaRPr lang="en-US" sz="2000" dirty="0"/>
          </a:p>
        </p:txBody>
      </p:sp>
      <p:sp>
        <p:nvSpPr>
          <p:cNvPr id="9" name="a2_134"/>
          <p:cNvSpPr txBox="1"/>
          <p:nvPr/>
        </p:nvSpPr>
        <p:spPr>
          <a:xfrm>
            <a:off x="6720840" y="2194560"/>
            <a:ext cx="4846320" cy="731520"/>
          </a:xfrm>
          <a:prstGeom prst="rect">
            <a:avLst/>
          </a:prstGeom>
          <a:noFill/>
          <a:ln/>
        </p:spPr>
        <p:txBody>
          <a:bodyPr wrap="square" lIns="0" tIns="0" rIns="0" bIns="0" rtlCol="0" anchor="t"/>
          <a:lstStyle/>
          <a:p>
            <a:pPr indent="0" marL="0">
              <a:buNone/>
            </a:pPr>
            <a:r>
              <a:rPr lang="en-US" sz="1500" dirty="0">
                <a:solidFill>
                  <a:schemeClr val="accent6"/>
                </a:solidFill>
              </a:rPr>
              <a:t>Proxmox permet d'ajouter d'autres serveurs virtuels plus tard, sans racheter de matériel.</a:t>
            </a:r>
            <a:endParaRPr lang="en-US" sz="1500" dirty="0"/>
          </a:p>
        </p:txBody>
      </p:sp>
      <p:sp>
        <p:nvSpPr>
          <p:cNvPr id="10" name="a3_135"/>
          <p:cNvSpPr/>
          <p:nvPr/>
        </p:nvSpPr>
        <p:spPr>
          <a:xfrm>
            <a:off x="5943600" y="3246120"/>
            <a:ext cx="548640" cy="548640"/>
          </a:xfrm>
          <a:prstGeom prst="ellipse">
            <a:avLst/>
          </a:prstGeom>
          <a:solidFill>
            <a:schemeClr val="accent1"/>
          </a:solidFill>
          <a:ln w="12700">
            <a:solidFill>
              <a:schemeClr val="accent1"/>
            </a:solidFill>
            <a:prstDash val="solid"/>
          </a:ln>
        </p:spPr>
      </p:sp>
      <p:pic>
        <p:nvPicPr>
          <p:cNvPr id="11" name="a3_136" descr="preencoded.png">    </p:cNvPr>
          <p:cNvPicPr>
            <a:picLocks noChangeAspect="1"/>
          </p:cNvPicPr>
          <p:nvPr/>
        </p:nvPicPr>
        <p:blipFill>
          <a:blip r:embed="rId3"/>
          <a:stretch>
            <a:fillRect/>
          </a:stretch>
        </p:blipFill>
        <p:spPr>
          <a:xfrm>
            <a:off x="6086246" y="3388766"/>
            <a:ext cx="263347" cy="263347"/>
          </a:xfrm>
          <a:prstGeom prst="rect">
            <a:avLst/>
          </a:prstGeom>
        </p:spPr>
      </p:pic>
      <p:sp>
        <p:nvSpPr>
          <p:cNvPr id="12" name="a3_137"/>
          <p:cNvSpPr txBox="1"/>
          <p:nvPr/>
        </p:nvSpPr>
        <p:spPr>
          <a:xfrm>
            <a:off x="6720840" y="3200400"/>
            <a:ext cx="4846320" cy="457200"/>
          </a:xfrm>
          <a:prstGeom prst="rect">
            <a:avLst/>
          </a:prstGeom>
          <a:noFill/>
          <a:ln/>
        </p:spPr>
        <p:txBody>
          <a:bodyPr wrap="square" lIns="0" tIns="0" rIns="0" bIns="0" rtlCol="0" anchor="ctr"/>
          <a:lstStyle/>
          <a:p>
            <a:pPr indent="0" marL="0">
              <a:buNone/>
            </a:pPr>
            <a:r>
              <a:rPr lang="en-US" sz="2000" b="1" dirty="0">
                <a:solidFill>
                  <a:schemeClr val="tx2"/>
                </a:solidFill>
              </a:rPr>
              <a:t>Standard du marché</a:t>
            </a:r>
            <a:endParaRPr lang="en-US" sz="2000" dirty="0"/>
          </a:p>
        </p:txBody>
      </p:sp>
      <p:sp>
        <p:nvSpPr>
          <p:cNvPr id="13" name="a3_138"/>
          <p:cNvSpPr txBox="1"/>
          <p:nvPr/>
        </p:nvSpPr>
        <p:spPr>
          <a:xfrm>
            <a:off x="6720840" y="3657600"/>
            <a:ext cx="4846320" cy="731520"/>
          </a:xfrm>
          <a:prstGeom prst="rect">
            <a:avLst/>
          </a:prstGeom>
          <a:noFill/>
          <a:ln/>
        </p:spPr>
        <p:txBody>
          <a:bodyPr wrap="square" lIns="0" tIns="0" rIns="0" bIns="0" rtlCol="0" anchor="t"/>
          <a:lstStyle/>
          <a:p>
            <a:pPr indent="0" marL="0">
              <a:buNone/>
            </a:pPr>
            <a:r>
              <a:rPr lang="en-US" sz="1500" dirty="0">
                <a:solidFill>
                  <a:schemeClr val="accent6"/>
                </a:solidFill>
              </a:rPr>
              <a:t>Windows Server et Active Directory : la référence pour gérer les postes d'une entreprise.</a:t>
            </a:r>
            <a:endParaRPr lang="en-US" sz="1500" dirty="0"/>
          </a:p>
        </p:txBody>
      </p:sp>
      <p:sp>
        <p:nvSpPr>
          <p:cNvPr id="14" name="a4_139"/>
          <p:cNvSpPr/>
          <p:nvPr/>
        </p:nvSpPr>
        <p:spPr>
          <a:xfrm>
            <a:off x="5943600" y="4709160"/>
            <a:ext cx="548640" cy="548640"/>
          </a:xfrm>
          <a:prstGeom prst="ellipse">
            <a:avLst/>
          </a:prstGeom>
          <a:solidFill>
            <a:schemeClr val="accent1"/>
          </a:solidFill>
          <a:ln w="12700">
            <a:solidFill>
              <a:schemeClr val="accent1"/>
            </a:solidFill>
            <a:prstDash val="solid"/>
          </a:ln>
        </p:spPr>
      </p:sp>
      <p:pic>
        <p:nvPicPr>
          <p:cNvPr id="15" name="a4_140" descr="preencoded.png">    </p:cNvPr>
          <p:cNvPicPr>
            <a:picLocks noChangeAspect="1"/>
          </p:cNvPicPr>
          <p:nvPr/>
        </p:nvPicPr>
        <p:blipFill>
          <a:blip r:embed="rId4"/>
          <a:stretch>
            <a:fillRect/>
          </a:stretch>
        </p:blipFill>
        <p:spPr>
          <a:xfrm>
            <a:off x="6086246" y="4851806"/>
            <a:ext cx="263347" cy="263347"/>
          </a:xfrm>
          <a:prstGeom prst="rect">
            <a:avLst/>
          </a:prstGeom>
        </p:spPr>
      </p:pic>
      <p:sp>
        <p:nvSpPr>
          <p:cNvPr id="16" name="a4_141"/>
          <p:cNvSpPr txBox="1"/>
          <p:nvPr/>
        </p:nvSpPr>
        <p:spPr>
          <a:xfrm>
            <a:off x="6720840" y="4663440"/>
            <a:ext cx="4846320" cy="457200"/>
          </a:xfrm>
          <a:prstGeom prst="rect">
            <a:avLst/>
          </a:prstGeom>
          <a:noFill/>
          <a:ln/>
        </p:spPr>
        <p:txBody>
          <a:bodyPr wrap="square" lIns="0" tIns="0" rIns="0" bIns="0" rtlCol="0" anchor="ctr"/>
          <a:lstStyle/>
          <a:p>
            <a:pPr indent="0" marL="0">
              <a:buNone/>
            </a:pPr>
            <a:r>
              <a:rPr lang="en-US" sz="2000" b="1" dirty="0">
                <a:solidFill>
                  <a:schemeClr val="tx2"/>
                </a:solidFill>
              </a:rPr>
              <a:t>Économique</a:t>
            </a:r>
            <a:endParaRPr lang="en-US" sz="2000" dirty="0"/>
          </a:p>
        </p:txBody>
      </p:sp>
      <p:sp>
        <p:nvSpPr>
          <p:cNvPr id="17" name="a4_142"/>
          <p:cNvSpPr txBox="1"/>
          <p:nvPr/>
        </p:nvSpPr>
        <p:spPr>
          <a:xfrm>
            <a:off x="6720840" y="5120640"/>
            <a:ext cx="4846320" cy="731520"/>
          </a:xfrm>
          <a:prstGeom prst="rect">
            <a:avLst/>
          </a:prstGeom>
          <a:noFill/>
          <a:ln/>
        </p:spPr>
        <p:txBody>
          <a:bodyPr wrap="square" lIns="0" tIns="0" rIns="0" bIns="0" rtlCol="0" anchor="t"/>
          <a:lstStyle/>
          <a:p>
            <a:pPr indent="0" marL="0">
              <a:buNone/>
            </a:pPr>
            <a:r>
              <a:rPr lang="en-US" sz="1500" dirty="0">
                <a:solidFill>
                  <a:schemeClr val="accent6"/>
                </a:solidFill>
              </a:rPr>
              <a:t>Proxmox VE et Tailscale sont gratuits : aucun abonnement mensuel à prévoir.</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45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51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p:cTn id="19" dur="600" decel="100000" fill="hold"/>
                                  <p:tgtEl>
                                    <p:spTgt spid="7"/>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57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63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9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anim calcmode="lin" valueType="num">
                                <p:cBhvr>
                                  <p:cTn id="31" dur="600" decel="100000" fill="hold"/>
                                  <p:tgtEl>
                                    <p:spTgt spid="10"/>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9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anim calcmode="lin" valueType="num">
                                <p:cBhvr>
                                  <p:cTn id="35" dur="600" decel="100000" fill="hold"/>
                                  <p:tgtEl>
                                    <p:spTgt spid="11"/>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102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108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p:cTn id="43" dur="600" decel="100000" fill="hold"/>
                                  <p:tgtEl>
                                    <p:spTgt spid="13"/>
                                  </p:tgtEl>
                                  <p:attrNameLst>
                                    <p:attrName>ppt_y</p:attrName>
                                  </p:attrNameLst>
                                </p:cBhvr>
                                <p:tavLst>
                                  <p:tav tm="0">
                                    <p:val>
                                      <p:strVal val="#ppt_y+0.03"/>
                                    </p:val>
                                  </p:tav>
                                  <p:tav tm="100000">
                                    <p:val>
                                      <p:strVal val="#ppt_y"/>
                                    </p:val>
                                  </p:tav>
                                </p:tavLst>
                              </p:anim>
                            </p:childTnLst>
                          </p:cTn>
                        </p:par>
                        <p:par>
                          <p:cTn id="44" presetID="10" presetClass="entr" presetSubtype="0" fill="hold" nodeType="withEffect">
                            <p:stCondLst>
                              <p:cond delay="135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00"/>
                                  <p:tgtEl>
                                    <p:spTgt spid="14"/>
                                  </p:tgtEl>
                                </p:cBhvr>
                              </p:animEffect>
                              <p:anim calcmode="lin" valueType="num">
                                <p:cBhvr>
                                  <p:cTn id="47" dur="600" decel="100000" fill="hold"/>
                                  <p:tgtEl>
                                    <p:spTgt spid="14"/>
                                  </p:tgtEl>
                                  <p:attrNameLst>
                                    <p:attrName>ppt_y</p:attrName>
                                  </p:attrNameLst>
                                </p:cBhvr>
                                <p:tavLst>
                                  <p:tav tm="0">
                                    <p:val>
                                      <p:strVal val="#ppt_y+0.03"/>
                                    </p:val>
                                  </p:tav>
                                  <p:tav tm="100000">
                                    <p:val>
                                      <p:strVal val="#ppt_y"/>
                                    </p:val>
                                  </p:tav>
                                </p:tavLst>
                              </p:anim>
                            </p:childTnLst>
                          </p:cTn>
                        </p:par>
                        <p:par>
                          <p:cTn id="48" presetID="10" presetClass="entr" presetSubtype="0" fill="hold" nodeType="withEffect">
                            <p:stCondLst>
                              <p:cond delay="14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600"/>
                                  <p:tgtEl>
                                    <p:spTgt spid="15"/>
                                  </p:tgtEl>
                                </p:cBhvr>
                              </p:animEffect>
                              <p:anim calcmode="lin" valueType="num">
                                <p:cBhvr>
                                  <p:cTn id="51" dur="600" decel="100000" fill="hold"/>
                                  <p:tgtEl>
                                    <p:spTgt spid="15"/>
                                  </p:tgtEl>
                                  <p:attrNameLst>
                                    <p:attrName>ppt_y</p:attrName>
                                  </p:attrNameLst>
                                </p:cBhvr>
                                <p:tavLst>
                                  <p:tav tm="0">
                                    <p:val>
                                      <p:strVal val="#ppt_y+0.03"/>
                                    </p:val>
                                  </p:tav>
                                  <p:tav tm="100000">
                                    <p:val>
                                      <p:strVal val="#ppt_y"/>
                                    </p:val>
                                  </p:tav>
                                </p:tavLst>
                              </p:anim>
                            </p:childTnLst>
                          </p:cTn>
                        </p:par>
                        <p:par>
                          <p:cTn id="52" presetID="10" presetClass="entr" presetSubtype="0" fill="hold" nodeType="withEffect">
                            <p:stCondLst>
                              <p:cond delay="147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00"/>
                                  <p:tgtEl>
                                    <p:spTgt spid="16"/>
                                  </p:tgtEl>
                                </p:cBhvr>
                              </p:animEffect>
                              <p:anim calcmode="lin" valueType="num">
                                <p:cBhvr>
                                  <p:cTn id="55" dur="600" decel="100000" fill="hold"/>
                                  <p:tgtEl>
                                    <p:spTgt spid="16"/>
                                  </p:tgtEl>
                                  <p:attrNameLst>
                                    <p:attrName>ppt_y</p:attrName>
                                  </p:attrNameLst>
                                </p:cBhvr>
                                <p:tavLst>
                                  <p:tav tm="0">
                                    <p:val>
                                      <p:strVal val="#ppt_y+0.03"/>
                                    </p:val>
                                  </p:tav>
                                  <p:tav tm="100000">
                                    <p:val>
                                      <p:strVal val="#ppt_y"/>
                                    </p:val>
                                  </p:tav>
                                </p:tavLst>
                              </p:anim>
                            </p:childTnLst>
                          </p:cTn>
                        </p:par>
                        <p:par>
                          <p:cTn id="56" presetID="10" presetClass="entr" presetSubtype="0" fill="hold" nodeType="withEffect">
                            <p:stCondLst>
                              <p:cond delay="153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600"/>
                                  <p:tgtEl>
                                    <p:spTgt spid="17"/>
                                  </p:tgtEl>
                                </p:cBhvr>
                              </p:animEffect>
                              <p:anim calcmode="lin" valueType="num">
                                <p:cBhvr>
                                  <p:cTn id="59" dur="600" decel="100000" fill="hold"/>
                                  <p:tgtEl>
                                    <p:spTgt spid="17"/>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p>
            <a:pPr indent="0" marL="0">
              <a:buNone/>
            </a:pPr>
            <a:r>
              <a:rPr lang="en-US" sz="1400" b="1" dirty="0">
                <a:solidFill>
                  <a:schemeClr val="accent1"/>
                </a:solidFill>
              </a:rPr>
              <a:t>Le déploiement</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p>
            <a:pPr algn="l" indent="0" marL="0">
              <a:buNone/>
            </a:pPr>
            <a:r>
              <a:rPr lang="en-US" sz="3200" b="1" dirty="0">
                <a:solidFill>
                  <a:schemeClr val="tx1"/>
                </a:solidFill>
              </a:rPr>
              <a:t>Nous nous occupons de </a:t>
            </a:r>
            <a:pPr algn="l" indent="0" marL="0">
              <a:buNone/>
            </a:pPr>
            <a:r>
              <a:rPr lang="en-US" sz="3200" b="1" dirty="0">
                <a:solidFill>
                  <a:schemeClr val="accent1"/>
                </a:solidFill>
              </a:rPr>
              <a:t>tout</a:t>
            </a:r>
            <a:endParaRPr lang="en-US" sz="3200" dirty="0"/>
          </a:p>
        </p:txBody>
      </p:sp>
      <p:sp>
        <p:nvSpPr>
          <p:cNvPr id="4" name="a1_143"/>
          <p:cNvSpPr/>
          <p:nvPr/>
        </p:nvSpPr>
        <p:spPr>
          <a:xfrm>
            <a:off x="1280160" y="2240280"/>
            <a:ext cx="9601200" cy="0"/>
          </a:xfrm>
          <a:prstGeom prst="line">
            <a:avLst/>
          </a:prstGeom>
          <a:noFill/>
          <a:ln w="25400">
            <a:solidFill>
              <a:schemeClr val="accent4"/>
            </a:solidFill>
            <a:prstDash val="dash"/>
          </a:ln>
        </p:spPr>
      </p:sp>
      <p:sp>
        <p:nvSpPr>
          <p:cNvPr id="5" name="a2_144"/>
          <p:cNvSpPr/>
          <p:nvPr/>
        </p:nvSpPr>
        <p:spPr>
          <a:xfrm>
            <a:off x="960120" y="1828800"/>
            <a:ext cx="822960" cy="822960"/>
          </a:xfrm>
          <a:prstGeom prst="ellipse">
            <a:avLst/>
          </a:prstGeom>
          <a:solidFill>
            <a:schemeClr val="accent1"/>
          </a:solidFill>
          <a:ln w="12700">
            <a:solidFill>
              <a:schemeClr val="accent1"/>
            </a:solidFill>
            <a:prstDash val="solid"/>
          </a:ln>
        </p:spPr>
      </p:sp>
      <p:pic>
        <p:nvPicPr>
          <p:cNvPr id="6" name="a2_145" descr="preencoded.png">    </p:cNvPr>
          <p:cNvPicPr>
            <a:picLocks noChangeAspect="1"/>
          </p:cNvPicPr>
          <p:nvPr/>
        </p:nvPicPr>
        <p:blipFill>
          <a:blip r:embed="rId1"/>
          <a:stretch>
            <a:fillRect/>
          </a:stretch>
        </p:blipFill>
        <p:spPr>
          <a:xfrm>
            <a:off x="1174090" y="2042770"/>
            <a:ext cx="395021" cy="395021"/>
          </a:xfrm>
          <a:prstGeom prst="rect">
            <a:avLst/>
          </a:prstGeom>
        </p:spPr>
      </p:pic>
      <p:sp>
        <p:nvSpPr>
          <p:cNvPr id="7" name="a2_146"/>
          <p:cNvSpPr/>
          <p:nvPr/>
        </p:nvSpPr>
        <p:spPr>
          <a:xfrm>
            <a:off x="548640" y="2926080"/>
            <a:ext cx="2057400" cy="2103120"/>
          </a:xfrm>
          <a:prstGeom prst="roundRect">
            <a:avLst>
              <a:gd name="adj" fmla="val 6222"/>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8" name="a2_147"/>
          <p:cNvSpPr txBox="1"/>
          <p:nvPr/>
        </p:nvSpPr>
        <p:spPr>
          <a:xfrm>
            <a:off x="731520" y="3063240"/>
            <a:ext cx="1737360" cy="274320"/>
          </a:xfrm>
          <a:prstGeom prst="rect">
            <a:avLst/>
          </a:prstGeom>
          <a:noFill/>
          <a:ln/>
        </p:spPr>
        <p:txBody>
          <a:bodyPr wrap="square" lIns="0" tIns="0" rIns="0" bIns="0" rtlCol="0" anchor="ctr"/>
          <a:lstStyle/>
          <a:p>
            <a:pPr indent="0" marL="0">
              <a:buNone/>
            </a:pPr>
            <a:r>
              <a:rPr lang="en-US" sz="1200" b="1" dirty="0">
                <a:solidFill>
                  <a:schemeClr val="accent1"/>
                </a:solidFill>
              </a:rPr>
              <a:t>Étape 1</a:t>
            </a:r>
            <a:endParaRPr lang="en-US" sz="1200" dirty="0"/>
          </a:p>
        </p:txBody>
      </p:sp>
      <p:sp>
        <p:nvSpPr>
          <p:cNvPr id="9" name="a2_148"/>
          <p:cNvSpPr txBox="1"/>
          <p:nvPr/>
        </p:nvSpPr>
        <p:spPr>
          <a:xfrm>
            <a:off x="731520" y="3337560"/>
            <a:ext cx="1737360" cy="411480"/>
          </a:xfrm>
          <a:prstGeom prst="rect">
            <a:avLst/>
          </a:prstGeom>
          <a:noFill/>
          <a:ln/>
        </p:spPr>
        <p:txBody>
          <a:bodyPr wrap="square" lIns="0" tIns="0" rIns="0" bIns="0" rtlCol="0" anchor="ctr"/>
          <a:lstStyle/>
          <a:p>
            <a:pPr indent="0" marL="0">
              <a:buNone/>
            </a:pPr>
            <a:r>
              <a:rPr lang="en-US" sz="1700" b="1" dirty="0">
                <a:solidFill>
                  <a:schemeClr val="tx2"/>
                </a:solidFill>
              </a:rPr>
              <a:t>Serveur</a:t>
            </a:r>
            <a:endParaRPr lang="en-US" sz="1700" dirty="0"/>
          </a:p>
        </p:txBody>
      </p:sp>
      <p:sp>
        <p:nvSpPr>
          <p:cNvPr id="10" name="a2_149"/>
          <p:cNvSpPr txBox="1"/>
          <p:nvPr/>
        </p:nvSpPr>
        <p:spPr>
          <a:xfrm>
            <a:off x="731520" y="3794760"/>
            <a:ext cx="1737360" cy="1097280"/>
          </a:xfrm>
          <a:prstGeom prst="rect">
            <a:avLst/>
          </a:prstGeom>
          <a:noFill/>
          <a:ln/>
        </p:spPr>
        <p:txBody>
          <a:bodyPr wrap="square" lIns="0" tIns="0" rIns="0" bIns="0" rtlCol="0" anchor="t"/>
          <a:lstStyle/>
          <a:p>
            <a:pPr indent="0" marL="0">
              <a:buNone/>
            </a:pPr>
            <a:r>
              <a:rPr lang="en-US" sz="1400" dirty="0">
                <a:solidFill>
                  <a:schemeClr val="accent6"/>
                </a:solidFill>
              </a:rPr>
              <a:t>Installation du serveur et de Proxmox VE</a:t>
            </a:r>
            <a:endParaRPr lang="en-US" sz="1400" dirty="0"/>
          </a:p>
        </p:txBody>
      </p:sp>
      <p:sp>
        <p:nvSpPr>
          <p:cNvPr id="11" name="a3_150"/>
          <p:cNvSpPr/>
          <p:nvPr/>
        </p:nvSpPr>
        <p:spPr>
          <a:xfrm>
            <a:off x="3200400" y="1828800"/>
            <a:ext cx="822960" cy="822960"/>
          </a:xfrm>
          <a:prstGeom prst="ellipse">
            <a:avLst/>
          </a:prstGeom>
          <a:solidFill>
            <a:schemeClr val="accent1"/>
          </a:solidFill>
          <a:ln w="12700">
            <a:solidFill>
              <a:schemeClr val="accent1"/>
            </a:solidFill>
            <a:prstDash val="solid"/>
          </a:ln>
        </p:spPr>
      </p:sp>
      <p:pic>
        <p:nvPicPr>
          <p:cNvPr id="12" name="a3_151" descr="preencoded.png">    </p:cNvPr>
          <p:cNvPicPr>
            <a:picLocks noChangeAspect="1"/>
          </p:cNvPicPr>
          <p:nvPr/>
        </p:nvPicPr>
        <p:blipFill>
          <a:blip r:embed="rId2"/>
          <a:stretch>
            <a:fillRect/>
          </a:stretch>
        </p:blipFill>
        <p:spPr>
          <a:xfrm>
            <a:off x="3414370" y="2042770"/>
            <a:ext cx="395021" cy="395021"/>
          </a:xfrm>
          <a:prstGeom prst="rect">
            <a:avLst/>
          </a:prstGeom>
        </p:spPr>
      </p:pic>
      <p:sp>
        <p:nvSpPr>
          <p:cNvPr id="13" name="a3_152"/>
          <p:cNvSpPr/>
          <p:nvPr/>
        </p:nvSpPr>
        <p:spPr>
          <a:xfrm>
            <a:off x="2788920" y="2926080"/>
            <a:ext cx="2057400" cy="2103120"/>
          </a:xfrm>
          <a:prstGeom prst="roundRect">
            <a:avLst>
              <a:gd name="adj" fmla="val 6222"/>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14" name="a3_153"/>
          <p:cNvSpPr txBox="1"/>
          <p:nvPr/>
        </p:nvSpPr>
        <p:spPr>
          <a:xfrm>
            <a:off x="2971800" y="3063240"/>
            <a:ext cx="1737360" cy="274320"/>
          </a:xfrm>
          <a:prstGeom prst="rect">
            <a:avLst/>
          </a:prstGeom>
          <a:noFill/>
          <a:ln/>
        </p:spPr>
        <p:txBody>
          <a:bodyPr wrap="square" lIns="0" tIns="0" rIns="0" bIns="0" rtlCol="0" anchor="ctr"/>
          <a:lstStyle/>
          <a:p>
            <a:pPr indent="0" marL="0">
              <a:buNone/>
            </a:pPr>
            <a:r>
              <a:rPr lang="en-US" sz="1200" b="1" dirty="0">
                <a:solidFill>
                  <a:schemeClr val="accent1"/>
                </a:solidFill>
              </a:rPr>
              <a:t>Étape 2</a:t>
            </a:r>
            <a:endParaRPr lang="en-US" sz="1200" dirty="0"/>
          </a:p>
        </p:txBody>
      </p:sp>
      <p:sp>
        <p:nvSpPr>
          <p:cNvPr id="15" name="a3_154"/>
          <p:cNvSpPr txBox="1"/>
          <p:nvPr/>
        </p:nvSpPr>
        <p:spPr>
          <a:xfrm>
            <a:off x="2971800" y="3337560"/>
            <a:ext cx="1737360" cy="411480"/>
          </a:xfrm>
          <a:prstGeom prst="rect">
            <a:avLst/>
          </a:prstGeom>
          <a:noFill/>
          <a:ln/>
        </p:spPr>
        <p:txBody>
          <a:bodyPr wrap="square" lIns="0" tIns="0" rIns="0" bIns="0" rtlCol="0" anchor="ctr"/>
          <a:lstStyle/>
          <a:p>
            <a:pPr indent="0" marL="0">
              <a:buNone/>
            </a:pPr>
            <a:r>
              <a:rPr lang="en-US" sz="1700" b="1" dirty="0">
                <a:solidFill>
                  <a:schemeClr val="tx2"/>
                </a:solidFill>
              </a:rPr>
              <a:t>Windows Server</a:t>
            </a:r>
            <a:endParaRPr lang="en-US" sz="1700" dirty="0"/>
          </a:p>
        </p:txBody>
      </p:sp>
      <p:sp>
        <p:nvSpPr>
          <p:cNvPr id="16" name="a3_155"/>
          <p:cNvSpPr txBox="1"/>
          <p:nvPr/>
        </p:nvSpPr>
        <p:spPr>
          <a:xfrm>
            <a:off x="2971800" y="3794760"/>
            <a:ext cx="1737360" cy="1097280"/>
          </a:xfrm>
          <a:prstGeom prst="rect">
            <a:avLst/>
          </a:prstGeom>
          <a:noFill/>
          <a:ln/>
        </p:spPr>
        <p:txBody>
          <a:bodyPr wrap="square" lIns="0" tIns="0" rIns="0" bIns="0" rtlCol="0" anchor="t"/>
          <a:lstStyle/>
          <a:p>
            <a:pPr indent="0" marL="0">
              <a:buNone/>
            </a:pPr>
            <a:r>
              <a:rPr lang="en-US" sz="1400" dirty="0">
                <a:solidFill>
                  <a:schemeClr val="accent6"/>
                </a:solidFill>
              </a:rPr>
              <a:t>Active Directory, DNS et DHCP</a:t>
            </a:r>
            <a:endParaRPr lang="en-US" sz="1400" dirty="0"/>
          </a:p>
        </p:txBody>
      </p:sp>
      <p:sp>
        <p:nvSpPr>
          <p:cNvPr id="17" name="a4_156"/>
          <p:cNvSpPr/>
          <p:nvPr/>
        </p:nvSpPr>
        <p:spPr>
          <a:xfrm>
            <a:off x="5440680" y="1828800"/>
            <a:ext cx="822960" cy="822960"/>
          </a:xfrm>
          <a:prstGeom prst="ellipse">
            <a:avLst/>
          </a:prstGeom>
          <a:solidFill>
            <a:schemeClr val="accent1"/>
          </a:solidFill>
          <a:ln w="12700">
            <a:solidFill>
              <a:schemeClr val="accent1"/>
            </a:solidFill>
            <a:prstDash val="solid"/>
          </a:ln>
        </p:spPr>
      </p:sp>
      <p:pic>
        <p:nvPicPr>
          <p:cNvPr id="18" name="a4_157" descr="preencoded.png">    </p:cNvPr>
          <p:cNvPicPr>
            <a:picLocks noChangeAspect="1"/>
          </p:cNvPicPr>
          <p:nvPr/>
        </p:nvPicPr>
        <p:blipFill>
          <a:blip r:embed="rId3"/>
          <a:stretch>
            <a:fillRect/>
          </a:stretch>
        </p:blipFill>
        <p:spPr>
          <a:xfrm>
            <a:off x="5654650" y="2042770"/>
            <a:ext cx="395021" cy="395021"/>
          </a:xfrm>
          <a:prstGeom prst="rect">
            <a:avLst/>
          </a:prstGeom>
        </p:spPr>
      </p:pic>
      <p:sp>
        <p:nvSpPr>
          <p:cNvPr id="19" name="a4_158"/>
          <p:cNvSpPr/>
          <p:nvPr/>
        </p:nvSpPr>
        <p:spPr>
          <a:xfrm>
            <a:off x="5029200" y="2926080"/>
            <a:ext cx="2057400" cy="2103120"/>
          </a:xfrm>
          <a:prstGeom prst="roundRect">
            <a:avLst>
              <a:gd name="adj" fmla="val 6222"/>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20" name="a4_159"/>
          <p:cNvSpPr txBox="1"/>
          <p:nvPr/>
        </p:nvSpPr>
        <p:spPr>
          <a:xfrm>
            <a:off x="5212080" y="3063240"/>
            <a:ext cx="1737360" cy="274320"/>
          </a:xfrm>
          <a:prstGeom prst="rect">
            <a:avLst/>
          </a:prstGeom>
          <a:noFill/>
          <a:ln/>
        </p:spPr>
        <p:txBody>
          <a:bodyPr wrap="square" lIns="0" tIns="0" rIns="0" bIns="0" rtlCol="0" anchor="ctr"/>
          <a:lstStyle/>
          <a:p>
            <a:pPr indent="0" marL="0">
              <a:buNone/>
            </a:pPr>
            <a:r>
              <a:rPr lang="en-US" sz="1200" b="1" dirty="0">
                <a:solidFill>
                  <a:schemeClr val="accent1"/>
                </a:solidFill>
              </a:rPr>
              <a:t>Étape 3</a:t>
            </a:r>
            <a:endParaRPr lang="en-US" sz="1200" dirty="0"/>
          </a:p>
        </p:txBody>
      </p:sp>
      <p:sp>
        <p:nvSpPr>
          <p:cNvPr id="21" name="a4_160"/>
          <p:cNvSpPr txBox="1"/>
          <p:nvPr/>
        </p:nvSpPr>
        <p:spPr>
          <a:xfrm>
            <a:off x="5212080" y="3337560"/>
            <a:ext cx="1737360" cy="411480"/>
          </a:xfrm>
          <a:prstGeom prst="rect">
            <a:avLst/>
          </a:prstGeom>
          <a:noFill/>
          <a:ln/>
        </p:spPr>
        <p:txBody>
          <a:bodyPr wrap="square" lIns="0" tIns="0" rIns="0" bIns="0" rtlCol="0" anchor="ctr"/>
          <a:lstStyle/>
          <a:p>
            <a:pPr indent="0" marL="0">
              <a:buNone/>
            </a:pPr>
            <a:r>
              <a:rPr lang="en-US" sz="1700" b="1" dirty="0">
                <a:solidFill>
                  <a:schemeClr val="tx2"/>
                </a:solidFill>
              </a:rPr>
              <a:t>Sécurité</a:t>
            </a:r>
            <a:endParaRPr lang="en-US" sz="1700" dirty="0"/>
          </a:p>
        </p:txBody>
      </p:sp>
      <p:sp>
        <p:nvSpPr>
          <p:cNvPr id="22" name="a4_161"/>
          <p:cNvSpPr txBox="1"/>
          <p:nvPr/>
        </p:nvSpPr>
        <p:spPr>
          <a:xfrm>
            <a:off x="5212080" y="3794760"/>
            <a:ext cx="1737360" cy="1097280"/>
          </a:xfrm>
          <a:prstGeom prst="rect">
            <a:avLst/>
          </a:prstGeom>
          <a:noFill/>
          <a:ln/>
        </p:spPr>
        <p:txBody>
          <a:bodyPr wrap="square" lIns="0" tIns="0" rIns="0" bIns="0" rtlCol="0" anchor="t"/>
          <a:lstStyle/>
          <a:p>
            <a:pPr indent="0" marL="0">
              <a:buNone/>
            </a:pPr>
            <a:r>
              <a:rPr lang="en-US" sz="1400" dirty="0">
                <a:solidFill>
                  <a:schemeClr val="accent6"/>
                </a:solidFill>
              </a:rPr>
              <a:t>GPO sur mesure : mots de passe, mises à jour, restrictions</a:t>
            </a:r>
            <a:endParaRPr lang="en-US" sz="1400" dirty="0"/>
          </a:p>
        </p:txBody>
      </p:sp>
      <p:sp>
        <p:nvSpPr>
          <p:cNvPr id="23" name="a5_162"/>
          <p:cNvSpPr/>
          <p:nvPr/>
        </p:nvSpPr>
        <p:spPr>
          <a:xfrm>
            <a:off x="7680960" y="1828800"/>
            <a:ext cx="822960" cy="822960"/>
          </a:xfrm>
          <a:prstGeom prst="ellipse">
            <a:avLst/>
          </a:prstGeom>
          <a:solidFill>
            <a:schemeClr val="accent1"/>
          </a:solidFill>
          <a:ln w="12700">
            <a:solidFill>
              <a:schemeClr val="accent1"/>
            </a:solidFill>
            <a:prstDash val="solid"/>
          </a:ln>
        </p:spPr>
      </p:sp>
      <p:pic>
        <p:nvPicPr>
          <p:cNvPr id="24" name="a5_163" descr="preencoded.png">    </p:cNvPr>
          <p:cNvPicPr>
            <a:picLocks noChangeAspect="1"/>
          </p:cNvPicPr>
          <p:nvPr/>
        </p:nvPicPr>
        <p:blipFill>
          <a:blip r:embed="rId4"/>
          <a:stretch>
            <a:fillRect/>
          </a:stretch>
        </p:blipFill>
        <p:spPr>
          <a:xfrm>
            <a:off x="7894930" y="2042770"/>
            <a:ext cx="395021" cy="395021"/>
          </a:xfrm>
          <a:prstGeom prst="rect">
            <a:avLst/>
          </a:prstGeom>
        </p:spPr>
      </p:pic>
      <p:sp>
        <p:nvSpPr>
          <p:cNvPr id="25" name="a5_164"/>
          <p:cNvSpPr/>
          <p:nvPr/>
        </p:nvSpPr>
        <p:spPr>
          <a:xfrm>
            <a:off x="7269480" y="2926080"/>
            <a:ext cx="2057400" cy="2103120"/>
          </a:xfrm>
          <a:prstGeom prst="roundRect">
            <a:avLst>
              <a:gd name="adj" fmla="val 6222"/>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26" name="a5_165"/>
          <p:cNvSpPr txBox="1"/>
          <p:nvPr/>
        </p:nvSpPr>
        <p:spPr>
          <a:xfrm>
            <a:off x="7452360" y="3063240"/>
            <a:ext cx="1737360" cy="274320"/>
          </a:xfrm>
          <a:prstGeom prst="rect">
            <a:avLst/>
          </a:prstGeom>
          <a:noFill/>
          <a:ln/>
        </p:spPr>
        <p:txBody>
          <a:bodyPr wrap="square" lIns="0" tIns="0" rIns="0" bIns="0" rtlCol="0" anchor="ctr"/>
          <a:lstStyle/>
          <a:p>
            <a:pPr indent="0" marL="0">
              <a:buNone/>
            </a:pPr>
            <a:r>
              <a:rPr lang="en-US" sz="1200" b="1" dirty="0">
                <a:solidFill>
                  <a:schemeClr val="accent1"/>
                </a:solidFill>
              </a:rPr>
              <a:t>Étape 4</a:t>
            </a:r>
            <a:endParaRPr lang="en-US" sz="1200" dirty="0"/>
          </a:p>
        </p:txBody>
      </p:sp>
      <p:sp>
        <p:nvSpPr>
          <p:cNvPr id="27" name="a5_166"/>
          <p:cNvSpPr txBox="1"/>
          <p:nvPr/>
        </p:nvSpPr>
        <p:spPr>
          <a:xfrm>
            <a:off x="7452360" y="3337560"/>
            <a:ext cx="1737360" cy="411480"/>
          </a:xfrm>
          <a:prstGeom prst="rect">
            <a:avLst/>
          </a:prstGeom>
          <a:noFill/>
          <a:ln/>
        </p:spPr>
        <p:txBody>
          <a:bodyPr wrap="square" lIns="0" tIns="0" rIns="0" bIns="0" rtlCol="0" anchor="ctr"/>
          <a:lstStyle/>
          <a:p>
            <a:pPr indent="0" marL="0">
              <a:buNone/>
            </a:pPr>
            <a:r>
              <a:rPr lang="en-US" sz="1700" b="1" dirty="0">
                <a:solidFill>
                  <a:schemeClr val="tx2"/>
                </a:solidFill>
              </a:rPr>
              <a:t>15 postes</a:t>
            </a:r>
            <a:endParaRPr lang="en-US" sz="1700" dirty="0"/>
          </a:p>
        </p:txBody>
      </p:sp>
      <p:sp>
        <p:nvSpPr>
          <p:cNvPr id="28" name="a5_167"/>
          <p:cNvSpPr txBox="1"/>
          <p:nvPr/>
        </p:nvSpPr>
        <p:spPr>
          <a:xfrm>
            <a:off x="7452360" y="3794760"/>
            <a:ext cx="1737360" cy="1097280"/>
          </a:xfrm>
          <a:prstGeom prst="rect">
            <a:avLst/>
          </a:prstGeom>
          <a:noFill/>
          <a:ln/>
        </p:spPr>
        <p:txBody>
          <a:bodyPr wrap="square" lIns="0" tIns="0" rIns="0" bIns="0" rtlCol="0" anchor="t"/>
          <a:lstStyle/>
          <a:p>
            <a:pPr indent="0" marL="0">
              <a:buNone/>
            </a:pPr>
            <a:r>
              <a:rPr lang="en-US" sz="1400" dirty="0">
                <a:solidFill>
                  <a:schemeClr val="accent6"/>
                </a:solidFill>
              </a:rPr>
              <a:t>Intégration de chaque poste au domaine</a:t>
            </a:r>
            <a:endParaRPr lang="en-US" sz="1400" dirty="0"/>
          </a:p>
        </p:txBody>
      </p:sp>
      <p:sp>
        <p:nvSpPr>
          <p:cNvPr id="29" name="a6_168"/>
          <p:cNvSpPr/>
          <p:nvPr/>
        </p:nvSpPr>
        <p:spPr>
          <a:xfrm>
            <a:off x="9921240" y="1828800"/>
            <a:ext cx="822960" cy="822960"/>
          </a:xfrm>
          <a:prstGeom prst="ellipse">
            <a:avLst/>
          </a:prstGeom>
          <a:solidFill>
            <a:schemeClr val="accent2"/>
          </a:solidFill>
          <a:ln w="12700">
            <a:solidFill>
              <a:schemeClr val="accent2"/>
            </a:solidFill>
            <a:prstDash val="solid"/>
          </a:ln>
        </p:spPr>
      </p:sp>
      <p:pic>
        <p:nvPicPr>
          <p:cNvPr id="30" name="a6_169" descr="preencoded.png">    </p:cNvPr>
          <p:cNvPicPr>
            <a:picLocks noChangeAspect="1"/>
          </p:cNvPicPr>
          <p:nvPr/>
        </p:nvPicPr>
        <p:blipFill>
          <a:blip r:embed="rId5"/>
          <a:stretch>
            <a:fillRect/>
          </a:stretch>
        </p:blipFill>
        <p:spPr>
          <a:xfrm>
            <a:off x="10135210" y="2042770"/>
            <a:ext cx="395021" cy="395021"/>
          </a:xfrm>
          <a:prstGeom prst="rect">
            <a:avLst/>
          </a:prstGeom>
        </p:spPr>
      </p:pic>
      <p:sp>
        <p:nvSpPr>
          <p:cNvPr id="31" name="a6_170"/>
          <p:cNvSpPr/>
          <p:nvPr/>
        </p:nvSpPr>
        <p:spPr>
          <a:xfrm>
            <a:off x="9509760" y="2926080"/>
            <a:ext cx="2057400" cy="2103120"/>
          </a:xfrm>
          <a:prstGeom prst="roundRect">
            <a:avLst>
              <a:gd name="adj" fmla="val 6222"/>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32" name="a6_171"/>
          <p:cNvSpPr txBox="1"/>
          <p:nvPr/>
        </p:nvSpPr>
        <p:spPr>
          <a:xfrm>
            <a:off x="9692640" y="3063240"/>
            <a:ext cx="1737360" cy="274320"/>
          </a:xfrm>
          <a:prstGeom prst="rect">
            <a:avLst/>
          </a:prstGeom>
          <a:noFill/>
          <a:ln/>
        </p:spPr>
        <p:txBody>
          <a:bodyPr wrap="square" lIns="0" tIns="0" rIns="0" bIns="0" rtlCol="0" anchor="ctr"/>
          <a:lstStyle/>
          <a:p>
            <a:pPr indent="0" marL="0">
              <a:buNone/>
            </a:pPr>
            <a:r>
              <a:rPr lang="en-US" sz="1200" b="1" dirty="0">
                <a:solidFill>
                  <a:schemeClr val="accent1"/>
                </a:solidFill>
              </a:rPr>
              <a:t>Étape 5</a:t>
            </a:r>
            <a:endParaRPr lang="en-US" sz="1200" dirty="0"/>
          </a:p>
        </p:txBody>
      </p:sp>
      <p:sp>
        <p:nvSpPr>
          <p:cNvPr id="33" name="a6_172"/>
          <p:cNvSpPr txBox="1"/>
          <p:nvPr/>
        </p:nvSpPr>
        <p:spPr>
          <a:xfrm>
            <a:off x="9692640" y="3337560"/>
            <a:ext cx="1737360" cy="411480"/>
          </a:xfrm>
          <a:prstGeom prst="rect">
            <a:avLst/>
          </a:prstGeom>
          <a:noFill/>
          <a:ln/>
        </p:spPr>
        <p:txBody>
          <a:bodyPr wrap="square" lIns="0" tIns="0" rIns="0" bIns="0" rtlCol="0" anchor="ctr"/>
          <a:lstStyle/>
          <a:p>
            <a:pPr indent="0" marL="0">
              <a:buNone/>
            </a:pPr>
            <a:r>
              <a:rPr lang="en-US" sz="1700" b="1" dirty="0">
                <a:solidFill>
                  <a:schemeClr val="tx2"/>
                </a:solidFill>
              </a:rPr>
              <a:t>Accès distant</a:t>
            </a:r>
            <a:endParaRPr lang="en-US" sz="1700" dirty="0"/>
          </a:p>
        </p:txBody>
      </p:sp>
      <p:sp>
        <p:nvSpPr>
          <p:cNvPr id="34" name="a6_173"/>
          <p:cNvSpPr txBox="1"/>
          <p:nvPr/>
        </p:nvSpPr>
        <p:spPr>
          <a:xfrm>
            <a:off x="9692640" y="3794760"/>
            <a:ext cx="1737360" cy="1097280"/>
          </a:xfrm>
          <a:prstGeom prst="rect">
            <a:avLst/>
          </a:prstGeom>
          <a:noFill/>
          <a:ln/>
        </p:spPr>
        <p:txBody>
          <a:bodyPr wrap="square" lIns="0" tIns="0" rIns="0" bIns="0" rtlCol="0" anchor="t"/>
          <a:lstStyle/>
          <a:p>
            <a:pPr indent="0" marL="0">
              <a:buNone/>
            </a:pPr>
            <a:r>
              <a:rPr lang="en-US" sz="1400" dirty="0">
                <a:solidFill>
                  <a:schemeClr val="accent6"/>
                </a:solidFill>
              </a:rPr>
              <a:t>Tailscale configuré et prise en main</a:t>
            </a:r>
            <a:endParaRPr lang="en-US" sz="1400" dirty="0"/>
          </a:p>
        </p:txBody>
      </p:sp>
      <p:sp>
        <p:nvSpPr>
          <p:cNvPr id="35" name="a7_174"/>
          <p:cNvSpPr/>
          <p:nvPr/>
        </p:nvSpPr>
        <p:spPr>
          <a:xfrm>
            <a:off x="548640" y="5349240"/>
            <a:ext cx="11064240" cy="777240"/>
          </a:xfrm>
          <a:prstGeom prst="roundRect">
            <a:avLst>
              <a:gd name="adj" fmla="val 16471"/>
            </a:avLst>
          </a:prstGeom>
          <a:solidFill>
            <a:schemeClr val="tx2"/>
          </a:solidFill>
          <a:ln w="12700">
            <a:solidFill>
              <a:schemeClr val="tx2"/>
            </a:solidFill>
            <a:prstDash val="solid"/>
          </a:ln>
        </p:spPr>
      </p:sp>
      <p:sp>
        <p:nvSpPr>
          <p:cNvPr id="36" name="a7_175"/>
          <p:cNvSpPr txBox="1"/>
          <p:nvPr/>
        </p:nvSpPr>
        <p:spPr>
          <a:xfrm>
            <a:off x="822960" y="5349240"/>
            <a:ext cx="10515600" cy="777240"/>
          </a:xfrm>
          <a:prstGeom prst="rect">
            <a:avLst/>
          </a:prstGeom>
          <a:noFill/>
          <a:ln/>
        </p:spPr>
        <p:txBody>
          <a:bodyPr wrap="square" lIns="0" tIns="0" rIns="0" bIns="0" rtlCol="0" anchor="ctr"/>
          <a:lstStyle/>
          <a:p>
            <a:pPr indent="0" marL="0">
              <a:buNone/>
            </a:pPr>
            <a:r>
              <a:rPr lang="en-US" sz="1800" dirty="0">
                <a:solidFill>
                  <a:schemeClr val="accent4"/>
                </a:solidFill>
              </a:rPr>
              <a:t>Installation, configuration et déploiement complet : </a:t>
            </a:r>
            <a:pPr indent="0" marL="0">
              <a:buNone/>
            </a:pPr>
            <a:r>
              <a:rPr lang="en-US" sz="1800" b="1" dirty="0">
                <a:solidFill>
                  <a:schemeClr val="bg1"/>
                </a:solidFill>
              </a:rPr>
              <a:t>450 000 FCFA</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4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51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57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p:cTn id="19" dur="600" decel="100000" fill="hold"/>
                                  <p:tgtEl>
                                    <p:spTgt spid="7"/>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63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69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7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anim calcmode="lin" valueType="num">
                                <p:cBhvr>
                                  <p:cTn id="31" dur="600" decel="100000" fill="hold"/>
                                  <p:tgtEl>
                                    <p:spTgt spid="10"/>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9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anim calcmode="lin" valueType="num">
                                <p:cBhvr>
                                  <p:cTn id="35" dur="600" decel="100000" fill="hold"/>
                                  <p:tgtEl>
                                    <p:spTgt spid="11"/>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96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102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p:cTn id="43" dur="600" decel="100000" fill="hold"/>
                                  <p:tgtEl>
                                    <p:spTgt spid="13"/>
                                  </p:tgtEl>
                                  <p:attrNameLst>
                                    <p:attrName>ppt_y</p:attrName>
                                  </p:attrNameLst>
                                </p:cBhvr>
                                <p:tavLst>
                                  <p:tav tm="0">
                                    <p:val>
                                      <p:strVal val="#ppt_y+0.03"/>
                                    </p:val>
                                  </p:tav>
                                  <p:tav tm="100000">
                                    <p:val>
                                      <p:strVal val="#ppt_y"/>
                                    </p:val>
                                  </p:tav>
                                </p:tavLst>
                              </p:anim>
                            </p:childTnLst>
                          </p:cTn>
                        </p:par>
                        <p:par>
                          <p:cTn id="44" presetID="10" presetClass="entr" presetSubtype="0" fill="hold" nodeType="withEffect">
                            <p:stCondLst>
                              <p:cond delay="108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00"/>
                                  <p:tgtEl>
                                    <p:spTgt spid="14"/>
                                  </p:tgtEl>
                                </p:cBhvr>
                              </p:animEffect>
                              <p:anim calcmode="lin" valueType="num">
                                <p:cBhvr>
                                  <p:cTn id="47" dur="600" decel="100000" fill="hold"/>
                                  <p:tgtEl>
                                    <p:spTgt spid="14"/>
                                  </p:tgtEl>
                                  <p:attrNameLst>
                                    <p:attrName>ppt_y</p:attrName>
                                  </p:attrNameLst>
                                </p:cBhvr>
                                <p:tavLst>
                                  <p:tav tm="0">
                                    <p:val>
                                      <p:strVal val="#ppt_y+0.03"/>
                                    </p:val>
                                  </p:tav>
                                  <p:tav tm="100000">
                                    <p:val>
                                      <p:strVal val="#ppt_y"/>
                                    </p:val>
                                  </p:tav>
                                </p:tavLst>
                              </p:anim>
                            </p:childTnLst>
                          </p:cTn>
                        </p:par>
                        <p:par>
                          <p:cTn id="48" presetID="10" presetClass="entr" presetSubtype="0" fill="hold" nodeType="withEffect">
                            <p:stCondLst>
                              <p:cond delay="114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600"/>
                                  <p:tgtEl>
                                    <p:spTgt spid="15"/>
                                  </p:tgtEl>
                                </p:cBhvr>
                              </p:animEffect>
                              <p:anim calcmode="lin" valueType="num">
                                <p:cBhvr>
                                  <p:cTn id="51" dur="600" decel="100000" fill="hold"/>
                                  <p:tgtEl>
                                    <p:spTgt spid="15"/>
                                  </p:tgtEl>
                                  <p:attrNameLst>
                                    <p:attrName>ppt_y</p:attrName>
                                  </p:attrNameLst>
                                </p:cBhvr>
                                <p:tavLst>
                                  <p:tav tm="0">
                                    <p:val>
                                      <p:strVal val="#ppt_y+0.03"/>
                                    </p:val>
                                  </p:tav>
                                  <p:tav tm="100000">
                                    <p:val>
                                      <p:strVal val="#ppt_y"/>
                                    </p:val>
                                  </p:tav>
                                </p:tavLst>
                              </p:anim>
                            </p:childTnLst>
                          </p:cTn>
                        </p:par>
                        <p:par>
                          <p:cTn id="52" presetID="10" presetClass="entr" presetSubtype="0" fill="hold" nodeType="withEffect">
                            <p:stCondLst>
                              <p:cond delay="120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00"/>
                                  <p:tgtEl>
                                    <p:spTgt spid="16"/>
                                  </p:tgtEl>
                                </p:cBhvr>
                              </p:animEffect>
                              <p:anim calcmode="lin" valueType="num">
                                <p:cBhvr>
                                  <p:cTn id="55" dur="600" decel="100000" fill="hold"/>
                                  <p:tgtEl>
                                    <p:spTgt spid="16"/>
                                  </p:tgtEl>
                                  <p:attrNameLst>
                                    <p:attrName>ppt_y</p:attrName>
                                  </p:attrNameLst>
                                </p:cBhvr>
                                <p:tavLst>
                                  <p:tav tm="0">
                                    <p:val>
                                      <p:strVal val="#ppt_y+0.03"/>
                                    </p:val>
                                  </p:tav>
                                  <p:tav tm="100000">
                                    <p:val>
                                      <p:strVal val="#ppt_y"/>
                                    </p:val>
                                  </p:tav>
                                </p:tavLst>
                              </p:anim>
                            </p:childTnLst>
                          </p:cTn>
                        </p:par>
                        <p:par>
                          <p:cTn id="56" presetID="10" presetClass="entr" presetSubtype="0" fill="hold" nodeType="withEffect">
                            <p:stCondLst>
                              <p:cond delay="135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600"/>
                                  <p:tgtEl>
                                    <p:spTgt spid="17"/>
                                  </p:tgtEl>
                                </p:cBhvr>
                              </p:animEffect>
                              <p:anim calcmode="lin" valueType="num">
                                <p:cBhvr>
                                  <p:cTn id="59" dur="600" decel="100000" fill="hold"/>
                                  <p:tgtEl>
                                    <p:spTgt spid="17"/>
                                  </p:tgtEl>
                                  <p:attrNameLst>
                                    <p:attrName>ppt_y</p:attrName>
                                  </p:attrNameLst>
                                </p:cBhvr>
                                <p:tavLst>
                                  <p:tav tm="0">
                                    <p:val>
                                      <p:strVal val="#ppt_y+0.03"/>
                                    </p:val>
                                  </p:tav>
                                  <p:tav tm="100000">
                                    <p:val>
                                      <p:strVal val="#ppt_y"/>
                                    </p:val>
                                  </p:tav>
                                </p:tavLst>
                              </p:anim>
                            </p:childTnLst>
                          </p:cTn>
                        </p:par>
                        <p:par>
                          <p:cTn id="60" presetID="10" presetClass="entr" presetSubtype="0" fill="hold" nodeType="withEffect">
                            <p:stCondLst>
                              <p:cond delay="141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600"/>
                                  <p:tgtEl>
                                    <p:spTgt spid="18"/>
                                  </p:tgtEl>
                                </p:cBhvr>
                              </p:animEffect>
                              <p:anim calcmode="lin" valueType="num">
                                <p:cBhvr>
                                  <p:cTn id="63" dur="600" decel="100000" fill="hold"/>
                                  <p:tgtEl>
                                    <p:spTgt spid="18"/>
                                  </p:tgtEl>
                                  <p:attrNameLst>
                                    <p:attrName>ppt_y</p:attrName>
                                  </p:attrNameLst>
                                </p:cBhvr>
                                <p:tavLst>
                                  <p:tav tm="0">
                                    <p:val>
                                      <p:strVal val="#ppt_y+0.03"/>
                                    </p:val>
                                  </p:tav>
                                  <p:tav tm="100000">
                                    <p:val>
                                      <p:strVal val="#ppt_y"/>
                                    </p:val>
                                  </p:tav>
                                </p:tavLst>
                              </p:anim>
                            </p:childTnLst>
                          </p:cTn>
                        </p:par>
                        <p:par>
                          <p:cTn id="64" presetID="10" presetClass="entr" presetSubtype="0" fill="hold" nodeType="withEffect">
                            <p:stCondLst>
                              <p:cond delay="147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600"/>
                                  <p:tgtEl>
                                    <p:spTgt spid="19"/>
                                  </p:tgtEl>
                                </p:cBhvr>
                              </p:animEffect>
                              <p:anim calcmode="lin" valueType="num">
                                <p:cBhvr>
                                  <p:cTn id="67" dur="600" decel="100000" fill="hold"/>
                                  <p:tgtEl>
                                    <p:spTgt spid="19"/>
                                  </p:tgtEl>
                                  <p:attrNameLst>
                                    <p:attrName>ppt_y</p:attrName>
                                  </p:attrNameLst>
                                </p:cBhvr>
                                <p:tavLst>
                                  <p:tav tm="0">
                                    <p:val>
                                      <p:strVal val="#ppt_y+0.03"/>
                                    </p:val>
                                  </p:tav>
                                  <p:tav tm="100000">
                                    <p:val>
                                      <p:strVal val="#ppt_y"/>
                                    </p:val>
                                  </p:tav>
                                </p:tavLst>
                              </p:anim>
                            </p:childTnLst>
                          </p:cTn>
                        </p:par>
                        <p:par>
                          <p:cTn id="68" presetID="10" presetClass="entr" presetSubtype="0" fill="hold" nodeType="withEffect">
                            <p:stCondLst>
                              <p:cond delay="153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600"/>
                                  <p:tgtEl>
                                    <p:spTgt spid="20"/>
                                  </p:tgtEl>
                                </p:cBhvr>
                              </p:animEffect>
                              <p:anim calcmode="lin" valueType="num">
                                <p:cBhvr>
                                  <p:cTn id="71" dur="600" decel="100000" fill="hold"/>
                                  <p:tgtEl>
                                    <p:spTgt spid="20"/>
                                  </p:tgtEl>
                                  <p:attrNameLst>
                                    <p:attrName>ppt_y</p:attrName>
                                  </p:attrNameLst>
                                </p:cBhvr>
                                <p:tavLst>
                                  <p:tav tm="0">
                                    <p:val>
                                      <p:strVal val="#ppt_y+0.03"/>
                                    </p:val>
                                  </p:tav>
                                  <p:tav tm="100000">
                                    <p:val>
                                      <p:strVal val="#ppt_y"/>
                                    </p:val>
                                  </p:tav>
                                </p:tavLst>
                              </p:anim>
                            </p:childTnLst>
                          </p:cTn>
                        </p:par>
                        <p:par>
                          <p:cTn id="72" presetID="10" presetClass="entr" presetSubtype="0" fill="hold" nodeType="withEffect">
                            <p:stCondLst>
                              <p:cond delay="159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600"/>
                                  <p:tgtEl>
                                    <p:spTgt spid="21"/>
                                  </p:tgtEl>
                                </p:cBhvr>
                              </p:animEffect>
                              <p:anim calcmode="lin" valueType="num">
                                <p:cBhvr>
                                  <p:cTn id="75" dur="600" decel="100000" fill="hold"/>
                                  <p:tgtEl>
                                    <p:spTgt spid="21"/>
                                  </p:tgtEl>
                                  <p:attrNameLst>
                                    <p:attrName>ppt_y</p:attrName>
                                  </p:attrNameLst>
                                </p:cBhvr>
                                <p:tavLst>
                                  <p:tav tm="0">
                                    <p:val>
                                      <p:strVal val="#ppt_y+0.03"/>
                                    </p:val>
                                  </p:tav>
                                  <p:tav tm="100000">
                                    <p:val>
                                      <p:strVal val="#ppt_y"/>
                                    </p:val>
                                  </p:tav>
                                </p:tavLst>
                              </p:anim>
                            </p:childTnLst>
                          </p:cTn>
                        </p:par>
                        <p:par>
                          <p:cTn id="76" presetID="10" presetClass="entr" presetSubtype="0" fill="hold" nodeType="withEffect">
                            <p:stCondLst>
                              <p:cond delay="165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600"/>
                                  <p:tgtEl>
                                    <p:spTgt spid="22"/>
                                  </p:tgtEl>
                                </p:cBhvr>
                              </p:animEffect>
                              <p:anim calcmode="lin" valueType="num">
                                <p:cBhvr>
                                  <p:cTn id="79" dur="600" decel="100000" fill="hold"/>
                                  <p:tgtEl>
                                    <p:spTgt spid="22"/>
                                  </p:tgtEl>
                                  <p:attrNameLst>
                                    <p:attrName>ppt_y</p:attrName>
                                  </p:attrNameLst>
                                </p:cBhvr>
                                <p:tavLst>
                                  <p:tav tm="0">
                                    <p:val>
                                      <p:strVal val="#ppt_y+0.03"/>
                                    </p:val>
                                  </p:tav>
                                  <p:tav tm="100000">
                                    <p:val>
                                      <p:strVal val="#ppt_y"/>
                                    </p:val>
                                  </p:tav>
                                </p:tavLst>
                              </p:anim>
                            </p:childTnLst>
                          </p:cTn>
                        </p:par>
                        <p:par>
                          <p:cTn id="80" presetID="10" presetClass="entr" presetSubtype="0" fill="hold" nodeType="withEffect">
                            <p:stCondLst>
                              <p:cond delay="180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p:cTn id="83" dur="600" decel="100000" fill="hold"/>
                                  <p:tgtEl>
                                    <p:spTgt spid="23"/>
                                  </p:tgtEl>
                                  <p:attrNameLst>
                                    <p:attrName>ppt_y</p:attrName>
                                  </p:attrNameLst>
                                </p:cBhvr>
                                <p:tavLst>
                                  <p:tav tm="0">
                                    <p:val>
                                      <p:strVal val="#ppt_y+0.03"/>
                                    </p:val>
                                  </p:tav>
                                  <p:tav tm="100000">
                                    <p:val>
                                      <p:strVal val="#ppt_y"/>
                                    </p:val>
                                  </p:tav>
                                </p:tavLst>
                              </p:anim>
                            </p:childTnLst>
                          </p:cTn>
                        </p:par>
                        <p:par>
                          <p:cTn id="84" presetID="10" presetClass="entr" presetSubtype="0" fill="hold" nodeType="withEffect">
                            <p:stCondLst>
                              <p:cond delay="186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600"/>
                                  <p:tgtEl>
                                    <p:spTgt spid="24"/>
                                  </p:tgtEl>
                                </p:cBhvr>
                              </p:animEffect>
                              <p:anim calcmode="lin" valueType="num">
                                <p:cBhvr>
                                  <p:cTn id="87" dur="600" decel="100000" fill="hold"/>
                                  <p:tgtEl>
                                    <p:spTgt spid="24"/>
                                  </p:tgtEl>
                                  <p:attrNameLst>
                                    <p:attrName>ppt_y</p:attrName>
                                  </p:attrNameLst>
                                </p:cBhvr>
                                <p:tavLst>
                                  <p:tav tm="0">
                                    <p:val>
                                      <p:strVal val="#ppt_y+0.03"/>
                                    </p:val>
                                  </p:tav>
                                  <p:tav tm="100000">
                                    <p:val>
                                      <p:strVal val="#ppt_y"/>
                                    </p:val>
                                  </p:tav>
                                </p:tavLst>
                              </p:anim>
                            </p:childTnLst>
                          </p:cTn>
                        </p:par>
                        <p:par>
                          <p:cTn id="88" presetID="10" presetClass="entr" presetSubtype="0" fill="hold" nodeType="withEffect">
                            <p:stCondLst>
                              <p:cond delay="192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600"/>
                                  <p:tgtEl>
                                    <p:spTgt spid="25"/>
                                  </p:tgtEl>
                                </p:cBhvr>
                              </p:animEffect>
                              <p:anim calcmode="lin" valueType="num">
                                <p:cBhvr>
                                  <p:cTn id="91" dur="600" decel="100000" fill="hold"/>
                                  <p:tgtEl>
                                    <p:spTgt spid="25"/>
                                  </p:tgtEl>
                                  <p:attrNameLst>
                                    <p:attrName>ppt_y</p:attrName>
                                  </p:attrNameLst>
                                </p:cBhvr>
                                <p:tavLst>
                                  <p:tav tm="0">
                                    <p:val>
                                      <p:strVal val="#ppt_y+0.03"/>
                                    </p:val>
                                  </p:tav>
                                  <p:tav tm="100000">
                                    <p:val>
                                      <p:strVal val="#ppt_y"/>
                                    </p:val>
                                  </p:tav>
                                </p:tavLst>
                              </p:anim>
                            </p:childTnLst>
                          </p:cTn>
                        </p:par>
                        <p:par>
                          <p:cTn id="92" presetID="10" presetClass="entr" presetSubtype="0" fill="hold" nodeType="withEffect">
                            <p:stCondLst>
                              <p:cond delay="198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600"/>
                                  <p:tgtEl>
                                    <p:spTgt spid="26"/>
                                  </p:tgtEl>
                                </p:cBhvr>
                              </p:animEffect>
                              <p:anim calcmode="lin" valueType="num">
                                <p:cBhvr>
                                  <p:cTn id="95" dur="600" decel="100000" fill="hold"/>
                                  <p:tgtEl>
                                    <p:spTgt spid="26"/>
                                  </p:tgtEl>
                                  <p:attrNameLst>
                                    <p:attrName>ppt_y</p:attrName>
                                  </p:attrNameLst>
                                </p:cBhvr>
                                <p:tavLst>
                                  <p:tav tm="0">
                                    <p:val>
                                      <p:strVal val="#ppt_y+0.03"/>
                                    </p:val>
                                  </p:tav>
                                  <p:tav tm="100000">
                                    <p:val>
                                      <p:strVal val="#ppt_y"/>
                                    </p:val>
                                  </p:tav>
                                </p:tavLst>
                              </p:anim>
                            </p:childTnLst>
                          </p:cTn>
                        </p:par>
                        <p:par>
                          <p:cTn id="96" presetID="10" presetClass="entr" presetSubtype="0" fill="hold" nodeType="withEffect">
                            <p:stCondLst>
                              <p:cond delay="204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anim calcmode="lin" valueType="num">
                                <p:cBhvr>
                                  <p:cTn id="99" dur="600" decel="100000" fill="hold"/>
                                  <p:tgtEl>
                                    <p:spTgt spid="27"/>
                                  </p:tgtEl>
                                  <p:attrNameLst>
                                    <p:attrName>ppt_y</p:attrName>
                                  </p:attrNameLst>
                                </p:cBhvr>
                                <p:tavLst>
                                  <p:tav tm="0">
                                    <p:val>
                                      <p:strVal val="#ppt_y+0.03"/>
                                    </p:val>
                                  </p:tav>
                                  <p:tav tm="100000">
                                    <p:val>
                                      <p:strVal val="#ppt_y"/>
                                    </p:val>
                                  </p:tav>
                                </p:tavLst>
                              </p:anim>
                            </p:childTnLst>
                          </p:cTn>
                        </p:par>
                        <p:par>
                          <p:cTn id="100" presetID="10" presetClass="entr" presetSubtype="0" fill="hold" nodeType="withEffect">
                            <p:stCondLst>
                              <p:cond delay="210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600"/>
                                  <p:tgtEl>
                                    <p:spTgt spid="28"/>
                                  </p:tgtEl>
                                </p:cBhvr>
                              </p:animEffect>
                              <p:anim calcmode="lin" valueType="num">
                                <p:cBhvr>
                                  <p:cTn id="103" dur="600" decel="100000" fill="hold"/>
                                  <p:tgtEl>
                                    <p:spTgt spid="28"/>
                                  </p:tgtEl>
                                  <p:attrNameLst>
                                    <p:attrName>ppt_y</p:attrName>
                                  </p:attrNameLst>
                                </p:cBhvr>
                                <p:tavLst>
                                  <p:tav tm="0">
                                    <p:val>
                                      <p:strVal val="#ppt_y+0.03"/>
                                    </p:val>
                                  </p:tav>
                                  <p:tav tm="100000">
                                    <p:val>
                                      <p:strVal val="#ppt_y"/>
                                    </p:val>
                                  </p:tav>
                                </p:tavLst>
                              </p:anim>
                            </p:childTnLst>
                          </p:cTn>
                        </p:par>
                        <p:par>
                          <p:cTn id="104" presetID="10" presetClass="entr" presetSubtype="0" fill="hold" nodeType="withEffect">
                            <p:stCondLst>
                              <p:cond delay="225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600"/>
                                  <p:tgtEl>
                                    <p:spTgt spid="29"/>
                                  </p:tgtEl>
                                </p:cBhvr>
                              </p:animEffect>
                              <p:anim calcmode="lin" valueType="num">
                                <p:cBhvr>
                                  <p:cTn id="107" dur="600" decel="100000" fill="hold"/>
                                  <p:tgtEl>
                                    <p:spTgt spid="29"/>
                                  </p:tgtEl>
                                  <p:attrNameLst>
                                    <p:attrName>ppt_y</p:attrName>
                                  </p:attrNameLst>
                                </p:cBhvr>
                                <p:tavLst>
                                  <p:tav tm="0">
                                    <p:val>
                                      <p:strVal val="#ppt_y+0.03"/>
                                    </p:val>
                                  </p:tav>
                                  <p:tav tm="100000">
                                    <p:val>
                                      <p:strVal val="#ppt_y"/>
                                    </p:val>
                                  </p:tav>
                                </p:tavLst>
                              </p:anim>
                            </p:childTnLst>
                          </p:cTn>
                        </p:par>
                        <p:par>
                          <p:cTn id="108" presetID="10" presetClass="entr" presetSubtype="0" fill="hold" nodeType="withEffect">
                            <p:stCondLst>
                              <p:cond delay="231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600"/>
                                  <p:tgtEl>
                                    <p:spTgt spid="30"/>
                                  </p:tgtEl>
                                </p:cBhvr>
                              </p:animEffect>
                              <p:anim calcmode="lin" valueType="num">
                                <p:cBhvr>
                                  <p:cTn id="111" dur="600" decel="100000" fill="hold"/>
                                  <p:tgtEl>
                                    <p:spTgt spid="30"/>
                                  </p:tgtEl>
                                  <p:attrNameLst>
                                    <p:attrName>ppt_y</p:attrName>
                                  </p:attrNameLst>
                                </p:cBhvr>
                                <p:tavLst>
                                  <p:tav tm="0">
                                    <p:val>
                                      <p:strVal val="#ppt_y+0.03"/>
                                    </p:val>
                                  </p:tav>
                                  <p:tav tm="100000">
                                    <p:val>
                                      <p:strVal val="#ppt_y"/>
                                    </p:val>
                                  </p:tav>
                                </p:tavLst>
                              </p:anim>
                            </p:childTnLst>
                          </p:cTn>
                        </p:par>
                        <p:par>
                          <p:cTn id="112" presetID="10" presetClass="entr" presetSubtype="0" fill="hold" nodeType="withEffect">
                            <p:stCondLst>
                              <p:cond delay="2370"/>
                            </p:stCondLst>
                            <p:childTnLst>
                              <p:set>
                                <p:cBhvr>
                                  <p:cTn id="113" dur="1" fill="hold">
                                    <p:stCondLst>
                                      <p:cond delay="0"/>
                                    </p:stCondLst>
                                  </p:cTn>
                                  <p:tgtEl>
                                    <p:spTgt spid="31"/>
                                  </p:tgtEl>
                                  <p:attrNameLst>
                                    <p:attrName>style.visibility</p:attrName>
                                  </p:attrNameLst>
                                </p:cBhvr>
                                <p:to>
                                  <p:strVal val="visible"/>
                                </p:to>
                              </p:set>
                              <p:animEffect transition="in" filter="fade">
                                <p:cBhvr>
                                  <p:cTn id="114" dur="600"/>
                                  <p:tgtEl>
                                    <p:spTgt spid="31"/>
                                  </p:tgtEl>
                                </p:cBhvr>
                              </p:animEffect>
                              <p:anim calcmode="lin" valueType="num">
                                <p:cBhvr>
                                  <p:cTn id="115" dur="600" decel="100000" fill="hold"/>
                                  <p:tgtEl>
                                    <p:spTgt spid="31"/>
                                  </p:tgtEl>
                                  <p:attrNameLst>
                                    <p:attrName>ppt_y</p:attrName>
                                  </p:attrNameLst>
                                </p:cBhvr>
                                <p:tavLst>
                                  <p:tav tm="0">
                                    <p:val>
                                      <p:strVal val="#ppt_y+0.03"/>
                                    </p:val>
                                  </p:tav>
                                  <p:tav tm="100000">
                                    <p:val>
                                      <p:strVal val="#ppt_y"/>
                                    </p:val>
                                  </p:tav>
                                </p:tavLst>
                              </p:anim>
                            </p:childTnLst>
                          </p:cTn>
                        </p:par>
                        <p:par>
                          <p:cTn id="116" presetID="10" presetClass="entr" presetSubtype="0" fill="hold" nodeType="withEffect">
                            <p:stCondLst>
                              <p:cond delay="2430"/>
                            </p:stCondLst>
                            <p:childTnLst>
                              <p:set>
                                <p:cBhvr>
                                  <p:cTn id="117" dur="1" fill="hold">
                                    <p:stCondLst>
                                      <p:cond delay="0"/>
                                    </p:stCondLst>
                                  </p:cTn>
                                  <p:tgtEl>
                                    <p:spTgt spid="32"/>
                                  </p:tgtEl>
                                  <p:attrNameLst>
                                    <p:attrName>style.visibility</p:attrName>
                                  </p:attrNameLst>
                                </p:cBhvr>
                                <p:to>
                                  <p:strVal val="visible"/>
                                </p:to>
                              </p:set>
                              <p:animEffect transition="in" filter="fade">
                                <p:cBhvr>
                                  <p:cTn id="118" dur="600"/>
                                  <p:tgtEl>
                                    <p:spTgt spid="32"/>
                                  </p:tgtEl>
                                </p:cBhvr>
                              </p:animEffect>
                              <p:anim calcmode="lin" valueType="num">
                                <p:cBhvr>
                                  <p:cTn id="119" dur="600" decel="100000" fill="hold"/>
                                  <p:tgtEl>
                                    <p:spTgt spid="32"/>
                                  </p:tgtEl>
                                  <p:attrNameLst>
                                    <p:attrName>ppt_y</p:attrName>
                                  </p:attrNameLst>
                                </p:cBhvr>
                                <p:tavLst>
                                  <p:tav tm="0">
                                    <p:val>
                                      <p:strVal val="#ppt_y+0.03"/>
                                    </p:val>
                                  </p:tav>
                                  <p:tav tm="100000">
                                    <p:val>
                                      <p:strVal val="#ppt_y"/>
                                    </p:val>
                                  </p:tav>
                                </p:tavLst>
                              </p:anim>
                            </p:childTnLst>
                          </p:cTn>
                        </p:par>
                        <p:par>
                          <p:cTn id="120" presetID="10" presetClass="entr" presetSubtype="0" fill="hold" nodeType="withEffect">
                            <p:stCondLst>
                              <p:cond delay="249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600"/>
                                  <p:tgtEl>
                                    <p:spTgt spid="33"/>
                                  </p:tgtEl>
                                </p:cBhvr>
                              </p:animEffect>
                              <p:anim calcmode="lin" valueType="num">
                                <p:cBhvr>
                                  <p:cTn id="123" dur="600" decel="100000" fill="hold"/>
                                  <p:tgtEl>
                                    <p:spTgt spid="33"/>
                                  </p:tgtEl>
                                  <p:attrNameLst>
                                    <p:attrName>ppt_y</p:attrName>
                                  </p:attrNameLst>
                                </p:cBhvr>
                                <p:tavLst>
                                  <p:tav tm="0">
                                    <p:val>
                                      <p:strVal val="#ppt_y+0.03"/>
                                    </p:val>
                                  </p:tav>
                                  <p:tav tm="100000">
                                    <p:val>
                                      <p:strVal val="#ppt_y"/>
                                    </p:val>
                                  </p:tav>
                                </p:tavLst>
                              </p:anim>
                            </p:childTnLst>
                          </p:cTn>
                        </p:par>
                        <p:par>
                          <p:cTn id="124" presetID="10" presetClass="entr" presetSubtype="0" fill="hold" nodeType="withEffect">
                            <p:stCondLst>
                              <p:cond delay="255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600"/>
                                  <p:tgtEl>
                                    <p:spTgt spid="34"/>
                                  </p:tgtEl>
                                </p:cBhvr>
                              </p:animEffect>
                              <p:anim calcmode="lin" valueType="num">
                                <p:cBhvr>
                                  <p:cTn id="127" dur="600" decel="100000" fill="hold"/>
                                  <p:tgtEl>
                                    <p:spTgt spid="34"/>
                                  </p:tgtEl>
                                  <p:attrNameLst>
                                    <p:attrName>ppt_y</p:attrName>
                                  </p:attrNameLst>
                                </p:cBhvr>
                                <p:tavLst>
                                  <p:tav tm="0">
                                    <p:val>
                                      <p:strVal val="#ppt_y+0.03"/>
                                    </p:val>
                                  </p:tav>
                                  <p:tav tm="100000">
                                    <p:val>
                                      <p:strVal val="#ppt_y"/>
                                    </p:val>
                                  </p:tav>
                                </p:tavLst>
                              </p:anim>
                            </p:childTnLst>
                          </p:cTn>
                        </p:par>
                        <p:par>
                          <p:cTn id="128" presetID="10" presetClass="entr" presetSubtype="0" fill="hold" nodeType="withEffect">
                            <p:stCondLst>
                              <p:cond delay="270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600"/>
                                  <p:tgtEl>
                                    <p:spTgt spid="35"/>
                                  </p:tgtEl>
                                </p:cBhvr>
                              </p:animEffect>
                              <p:anim calcmode="lin" valueType="num">
                                <p:cBhvr>
                                  <p:cTn id="131" dur="600" decel="100000" fill="hold"/>
                                  <p:tgtEl>
                                    <p:spTgt spid="35"/>
                                  </p:tgtEl>
                                  <p:attrNameLst>
                                    <p:attrName>ppt_y</p:attrName>
                                  </p:attrNameLst>
                                </p:cBhvr>
                                <p:tavLst>
                                  <p:tav tm="0">
                                    <p:val>
                                      <p:strVal val="#ppt_y+0.03"/>
                                    </p:val>
                                  </p:tav>
                                  <p:tav tm="100000">
                                    <p:val>
                                      <p:strVal val="#ppt_y"/>
                                    </p:val>
                                  </p:tav>
                                </p:tavLst>
                              </p:anim>
                            </p:childTnLst>
                          </p:cTn>
                        </p:par>
                        <p:par>
                          <p:cTn id="132" presetID="10" presetClass="entr" presetSubtype="0" fill="hold" nodeType="withEffect">
                            <p:stCondLst>
                              <p:cond delay="2760"/>
                            </p:stCondLst>
                            <p:childTnLst>
                              <p:set>
                                <p:cBhvr>
                                  <p:cTn id="133" dur="1" fill="hold">
                                    <p:stCondLst>
                                      <p:cond delay="0"/>
                                    </p:stCondLst>
                                  </p:cTn>
                                  <p:tgtEl>
                                    <p:spTgt spid="36"/>
                                  </p:tgtEl>
                                  <p:attrNameLst>
                                    <p:attrName>style.visibility</p:attrName>
                                  </p:attrNameLst>
                                </p:cBhvr>
                                <p:to>
                                  <p:strVal val="visible"/>
                                </p:to>
                              </p:set>
                              <p:animEffect transition="in" filter="fade">
                                <p:cBhvr>
                                  <p:cTn id="134" dur="600"/>
                                  <p:tgtEl>
                                    <p:spTgt spid="36"/>
                                  </p:tgtEl>
                                </p:cBhvr>
                              </p:animEffect>
                              <p:anim calcmode="lin" valueType="num">
                                <p:cBhvr>
                                  <p:cTn id="135" dur="600" decel="100000" fill="hold"/>
                                  <p:tgtEl>
                                    <p:spTgt spid="36"/>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p>
            <a:pPr indent="0" marL="0">
              <a:buNone/>
            </a:pPr>
            <a:r>
              <a:rPr lang="en-US" sz="1400" b="1" dirty="0">
                <a:solidFill>
                  <a:schemeClr val="accent1"/>
                </a:solidFill>
              </a:rPr>
              <a:t>Votre investissement</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p>
            <a:pPr algn="l" indent="0" marL="0">
              <a:buNone/>
            </a:pPr>
            <a:r>
              <a:rPr lang="en-US" sz="3200" b="1" dirty="0">
                <a:solidFill>
                  <a:schemeClr val="tx1"/>
                </a:solidFill>
              </a:rPr>
              <a:t>Un investissement unique</a:t>
            </a:r>
            <a:endParaRPr lang="en-US" sz="3200" dirty="0"/>
          </a:p>
        </p:txBody>
      </p:sp>
      <p:sp>
        <p:nvSpPr>
          <p:cNvPr id="4" name="a1_176"/>
          <p:cNvSpPr txBox="1"/>
          <p:nvPr/>
        </p:nvSpPr>
        <p:spPr>
          <a:xfrm>
            <a:off x="548640" y="1737360"/>
            <a:ext cx="6035040" cy="1645920"/>
          </a:xfrm>
          <a:prstGeom prst="rect">
            <a:avLst/>
          </a:prstGeom>
          <a:noFill/>
          <a:ln/>
        </p:spPr>
        <p:txBody>
          <a:bodyPr wrap="square" lIns="0" tIns="0" rIns="0" bIns="0" rtlCol="0" anchor="t"/>
          <a:lstStyle/>
          <a:p>
            <a:pPr indent="0" marL="0">
              <a:buNone/>
            </a:pPr>
            <a:r>
              <a:rPr lang="en-US" sz="2600" dirty="0">
                <a:solidFill>
                  <a:schemeClr val="tx1"/>
                </a:solidFill>
              </a:rPr>
              <a:t>15 postes administrés comme dans une grande entreprise, pour </a:t>
            </a:r>
            <a:pPr indent="0" marL="0">
              <a:buNone/>
            </a:pPr>
            <a:r>
              <a:rPr lang="en-US" sz="2600" b="1" dirty="0">
                <a:solidFill>
                  <a:schemeClr val="accent1"/>
                </a:solidFill>
              </a:rPr>
              <a:t>≈ 76 700 FCFA par poste.</a:t>
            </a:r>
            <a:endParaRPr lang="en-US" sz="2600" dirty="0"/>
          </a:p>
        </p:txBody>
      </p:sp>
      <p:sp>
        <p:nvSpPr>
          <p:cNvPr id="5" name="a1_177"/>
          <p:cNvSpPr txBox="1"/>
          <p:nvPr/>
        </p:nvSpPr>
        <p:spPr>
          <a:xfrm>
            <a:off x="548640" y="3429000"/>
            <a:ext cx="6035040" cy="365760"/>
          </a:xfrm>
          <a:prstGeom prst="rect">
            <a:avLst/>
          </a:prstGeom>
          <a:noFill/>
          <a:ln/>
        </p:spPr>
        <p:txBody>
          <a:bodyPr wrap="square" lIns="0" tIns="0" rIns="0" bIns="0" rtlCol="0" anchor="ctr"/>
          <a:lstStyle/>
          <a:p>
            <a:pPr indent="0" marL="0">
              <a:buNone/>
            </a:pPr>
            <a:r>
              <a:rPr lang="en-US" sz="1500" i="1" dirty="0">
                <a:solidFill>
                  <a:schemeClr val="accent6"/>
                </a:solidFill>
              </a:rPr>
              <a:t>Paiement unique · aucun abonnement obligatoire</a:t>
            </a:r>
            <a:endParaRPr lang="en-US" sz="1500" dirty="0"/>
          </a:p>
        </p:txBody>
      </p:sp>
      <p:sp>
        <p:nvSpPr>
          <p:cNvPr id="6" name="a2_178"/>
          <p:cNvSpPr/>
          <p:nvPr/>
        </p:nvSpPr>
        <p:spPr>
          <a:xfrm>
            <a:off x="7680960" y="1371600"/>
            <a:ext cx="3840480" cy="3840480"/>
          </a:xfrm>
          <a:prstGeom prst="ellipse">
            <a:avLst/>
          </a:prstGeom>
          <a:solidFill>
            <a:schemeClr val="accent1"/>
          </a:solidFill>
          <a:ln w="12700">
            <a:solidFill>
              <a:schemeClr val="accent1"/>
            </a:solidFill>
            <a:prstDash val="solid"/>
          </a:ln>
        </p:spPr>
      </p:sp>
      <p:sp>
        <p:nvSpPr>
          <p:cNvPr id="7" name="a2_179"/>
          <p:cNvSpPr txBox="1"/>
          <p:nvPr/>
        </p:nvSpPr>
        <p:spPr>
          <a:xfrm>
            <a:off x="7818120" y="2139696"/>
            <a:ext cx="3566160" cy="2304288"/>
          </a:xfrm>
          <a:prstGeom prst="rect">
            <a:avLst/>
          </a:prstGeom>
          <a:noFill/>
          <a:ln/>
        </p:spPr>
        <p:txBody>
          <a:bodyPr wrap="square" lIns="0" tIns="0" rIns="0" bIns="0" rtlCol="0" anchor="ctr"/>
          <a:lstStyle/>
          <a:p>
            <a:pPr algn="ctr" indent="0" marL="0">
              <a:buNone/>
            </a:pPr>
            <a:r>
              <a:rPr lang="en-US" sz="4000" b="1" dirty="0">
                <a:solidFill>
                  <a:schemeClr val="bg1"/>
                </a:solidFill>
              </a:rPr>
              <a:t>1 150 000</a:t>
            </a:r>
            <a:endParaRPr lang="en-US" sz="4000" dirty="0"/>
          </a:p>
          <a:p>
            <a:pPr algn="ctr" indent="0" marL="0">
              <a:buNone/>
            </a:pPr>
            <a:r>
              <a:rPr lang="en-US" sz="1600" dirty="0">
                <a:solidFill>
                  <a:schemeClr val="accent4"/>
                </a:solidFill>
              </a:rPr>
              <a:t>FCFA HT · investissement total</a:t>
            </a:r>
            <a:endParaRPr lang="en-US" sz="4000" dirty="0"/>
          </a:p>
        </p:txBody>
      </p:sp>
      <p:sp>
        <p:nvSpPr>
          <p:cNvPr id="8" name="a3_180"/>
          <p:cNvSpPr/>
          <p:nvPr/>
        </p:nvSpPr>
        <p:spPr>
          <a:xfrm>
            <a:off x="4754880" y="3931920"/>
            <a:ext cx="2377440" cy="2377440"/>
          </a:xfrm>
          <a:prstGeom prst="ellipse">
            <a:avLst/>
          </a:prstGeom>
          <a:solidFill>
            <a:schemeClr val="accent3"/>
          </a:solidFill>
          <a:ln w="12700">
            <a:solidFill>
              <a:schemeClr val="accent3"/>
            </a:solidFill>
            <a:prstDash val="solid"/>
          </a:ln>
        </p:spPr>
      </p:sp>
      <p:sp>
        <p:nvSpPr>
          <p:cNvPr id="9" name="a3_181"/>
          <p:cNvSpPr txBox="1"/>
          <p:nvPr/>
        </p:nvSpPr>
        <p:spPr>
          <a:xfrm>
            <a:off x="4892040" y="4407408"/>
            <a:ext cx="2103120" cy="1426464"/>
          </a:xfrm>
          <a:prstGeom prst="rect">
            <a:avLst/>
          </a:prstGeom>
          <a:noFill/>
          <a:ln/>
        </p:spPr>
        <p:txBody>
          <a:bodyPr wrap="square" lIns="0" tIns="0" rIns="0" bIns="0" rtlCol="0" anchor="ctr"/>
          <a:lstStyle/>
          <a:p>
            <a:pPr algn="ctr" indent="0" marL="0">
              <a:buNone/>
            </a:pPr>
            <a:r>
              <a:rPr lang="en-US" sz="2400" b="1" dirty="0">
                <a:solidFill>
                  <a:schemeClr val="bg1"/>
                </a:solidFill>
              </a:rPr>
              <a:t>500 000</a:t>
            </a:r>
            <a:endParaRPr lang="en-US" sz="2400" dirty="0"/>
          </a:p>
          <a:p>
            <a:pPr algn="ctr" indent="0" marL="0">
              <a:buNone/>
            </a:pPr>
            <a:r>
              <a:rPr lang="en-US" sz="1300" dirty="0">
                <a:solidFill>
                  <a:schemeClr val="bg1"/>
                </a:solidFill>
              </a:rPr>
              <a:t>Serveur</a:t>
            </a:r>
            <a:endParaRPr lang="en-US" sz="2400" dirty="0"/>
          </a:p>
        </p:txBody>
      </p:sp>
      <p:sp>
        <p:nvSpPr>
          <p:cNvPr id="10" name="a4_182"/>
          <p:cNvSpPr/>
          <p:nvPr/>
        </p:nvSpPr>
        <p:spPr>
          <a:xfrm>
            <a:off x="6949440" y="4343400"/>
            <a:ext cx="2011680" cy="2011680"/>
          </a:xfrm>
          <a:prstGeom prst="ellipse">
            <a:avLst/>
          </a:prstGeom>
          <a:solidFill>
            <a:schemeClr val="tx2"/>
          </a:solidFill>
          <a:ln w="12700">
            <a:solidFill>
              <a:schemeClr val="tx2"/>
            </a:solidFill>
            <a:prstDash val="solid"/>
          </a:ln>
        </p:spPr>
      </p:sp>
      <p:sp>
        <p:nvSpPr>
          <p:cNvPr id="11" name="a4_183"/>
          <p:cNvSpPr txBox="1"/>
          <p:nvPr/>
        </p:nvSpPr>
        <p:spPr>
          <a:xfrm>
            <a:off x="7086600" y="4745736"/>
            <a:ext cx="1737360" cy="1207008"/>
          </a:xfrm>
          <a:prstGeom prst="rect">
            <a:avLst/>
          </a:prstGeom>
          <a:noFill/>
          <a:ln/>
        </p:spPr>
        <p:txBody>
          <a:bodyPr wrap="square" lIns="0" tIns="0" rIns="0" bIns="0" rtlCol="0" anchor="ctr"/>
          <a:lstStyle/>
          <a:p>
            <a:pPr algn="ctr" indent="0" marL="0">
              <a:buNone/>
            </a:pPr>
            <a:r>
              <a:rPr lang="en-US" sz="2400" b="1" dirty="0">
                <a:solidFill>
                  <a:schemeClr val="bg1"/>
                </a:solidFill>
              </a:rPr>
              <a:t>450 000</a:t>
            </a:r>
            <a:endParaRPr lang="en-US" sz="2400" dirty="0"/>
          </a:p>
          <a:p>
            <a:pPr algn="ctr" indent="0" marL="0">
              <a:buNone/>
            </a:pPr>
            <a:r>
              <a:rPr lang="en-US" sz="1300" dirty="0">
                <a:solidFill>
                  <a:schemeClr val="accent4"/>
                </a:solidFill>
              </a:rPr>
              <a:t>Installation et 15 postes</a:t>
            </a:r>
            <a:endParaRPr lang="en-US" sz="2400" dirty="0"/>
          </a:p>
        </p:txBody>
      </p:sp>
      <p:sp>
        <p:nvSpPr>
          <p:cNvPr id="12" name="a5_184"/>
          <p:cNvSpPr/>
          <p:nvPr/>
        </p:nvSpPr>
        <p:spPr>
          <a:xfrm>
            <a:off x="9966960" y="4846320"/>
            <a:ext cx="1554480" cy="1554480"/>
          </a:xfrm>
          <a:prstGeom prst="ellipse">
            <a:avLst/>
          </a:prstGeom>
          <a:solidFill>
            <a:schemeClr val="bg2"/>
          </a:solidFill>
          <a:ln w="12700">
            <a:solidFill>
              <a:schemeClr val="bg2"/>
            </a:solidFill>
            <a:prstDash val="solid"/>
          </a:ln>
        </p:spPr>
      </p:sp>
      <p:sp>
        <p:nvSpPr>
          <p:cNvPr id="13" name="a5_185"/>
          <p:cNvSpPr txBox="1"/>
          <p:nvPr/>
        </p:nvSpPr>
        <p:spPr>
          <a:xfrm>
            <a:off x="10104120" y="5157216"/>
            <a:ext cx="1280160" cy="932688"/>
          </a:xfrm>
          <a:prstGeom prst="rect">
            <a:avLst/>
          </a:prstGeom>
          <a:noFill/>
          <a:ln/>
        </p:spPr>
        <p:txBody>
          <a:bodyPr wrap="square" lIns="0" tIns="0" rIns="0" bIns="0" rtlCol="0" anchor="ctr"/>
          <a:lstStyle/>
          <a:p>
            <a:pPr algn="ctr" indent="0" marL="0">
              <a:buNone/>
            </a:pPr>
            <a:r>
              <a:rPr lang="en-US" sz="2000" b="1" dirty="0">
                <a:solidFill>
                  <a:schemeClr val="tx2"/>
                </a:solidFill>
              </a:rPr>
              <a:t>200 000</a:t>
            </a:r>
            <a:endParaRPr lang="en-US" sz="2000" dirty="0"/>
          </a:p>
          <a:p>
            <a:pPr algn="ctr" indent="0" marL="0">
              <a:buNone/>
            </a:pPr>
            <a:r>
              <a:rPr lang="en-US" sz="1300" dirty="0">
                <a:solidFill>
                  <a:schemeClr val="accent6"/>
                </a:solidFill>
              </a:rPr>
              <a:t>Licences ×2</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45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51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p:cTn id="19" dur="600" decel="100000" fill="hold"/>
                                  <p:tgtEl>
                                    <p:spTgt spid="7"/>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9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96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13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anim calcmode="lin" valueType="num">
                                <p:cBhvr>
                                  <p:cTn id="31" dur="600" decel="100000" fill="hold"/>
                                  <p:tgtEl>
                                    <p:spTgt spid="10"/>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141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anim calcmode="lin" valueType="num">
                                <p:cBhvr>
                                  <p:cTn id="35" dur="600" decel="100000" fill="hold"/>
                                  <p:tgtEl>
                                    <p:spTgt spid="11"/>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18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186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p:cTn id="43" dur="600" decel="100000" fill="hold"/>
                                  <p:tgtEl>
                                    <p:spTgt spid="13"/>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p>
            <a:pPr indent="0" marL="0">
              <a:buNone/>
            </a:pPr>
            <a:r>
              <a:rPr lang="en-US" sz="1400" b="1" dirty="0">
                <a:solidFill>
                  <a:schemeClr val="accent1"/>
                </a:solidFill>
              </a:rPr>
              <a:t>Après le déploiement</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p>
            <a:pPr algn="l" indent="0" marL="0">
              <a:buNone/>
            </a:pPr>
            <a:r>
              <a:rPr lang="en-US" sz="3200" b="1" dirty="0">
                <a:solidFill>
                  <a:schemeClr val="tx1"/>
                </a:solidFill>
              </a:rPr>
              <a:t>Nous restons </a:t>
            </a:r>
            <a:pPr algn="l" indent="0" marL="0">
              <a:buNone/>
            </a:pPr>
            <a:r>
              <a:rPr lang="en-US" sz="3200" b="1" dirty="0">
                <a:solidFill>
                  <a:schemeClr val="accent1"/>
                </a:solidFill>
              </a:rPr>
              <a:t>à vos côtés</a:t>
            </a:r>
            <a:endParaRPr lang="en-US" sz="3200" dirty="0"/>
          </a:p>
        </p:txBody>
      </p:sp>
      <p:sp>
        <p:nvSpPr>
          <p:cNvPr id="4" name="a1_186"/>
          <p:cNvSpPr/>
          <p:nvPr/>
        </p:nvSpPr>
        <p:spPr>
          <a:xfrm>
            <a:off x="548640" y="1645920"/>
            <a:ext cx="5394960" cy="4206240"/>
          </a:xfrm>
          <a:prstGeom prst="roundRect">
            <a:avLst>
              <a:gd name="adj" fmla="val 3043"/>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5" name="a1_187"/>
          <p:cNvSpPr/>
          <p:nvPr/>
        </p:nvSpPr>
        <p:spPr>
          <a:xfrm>
            <a:off x="868680" y="1965960"/>
            <a:ext cx="822960" cy="822960"/>
          </a:xfrm>
          <a:prstGeom prst="ellipse">
            <a:avLst/>
          </a:prstGeom>
          <a:solidFill>
            <a:schemeClr val="accent1"/>
          </a:solidFill>
          <a:ln w="12700">
            <a:solidFill>
              <a:schemeClr val="accent1"/>
            </a:solidFill>
            <a:prstDash val="solid"/>
          </a:ln>
        </p:spPr>
      </p:sp>
      <p:pic>
        <p:nvPicPr>
          <p:cNvPr id="6" name="a1_188" descr="preencoded.png">    </p:cNvPr>
          <p:cNvPicPr>
            <a:picLocks noChangeAspect="1"/>
          </p:cNvPicPr>
          <p:nvPr/>
        </p:nvPicPr>
        <p:blipFill>
          <a:blip r:embed="rId1"/>
          <a:stretch>
            <a:fillRect/>
          </a:stretch>
        </p:blipFill>
        <p:spPr>
          <a:xfrm>
            <a:off x="1082650" y="2179930"/>
            <a:ext cx="395021" cy="395021"/>
          </a:xfrm>
          <a:prstGeom prst="rect">
            <a:avLst/>
          </a:prstGeom>
        </p:spPr>
      </p:pic>
      <p:sp>
        <p:nvSpPr>
          <p:cNvPr id="7" name="a1_189"/>
          <p:cNvSpPr txBox="1"/>
          <p:nvPr/>
        </p:nvSpPr>
        <p:spPr>
          <a:xfrm>
            <a:off x="868680" y="2971800"/>
            <a:ext cx="4754880" cy="914400"/>
          </a:xfrm>
          <a:prstGeom prst="rect">
            <a:avLst/>
          </a:prstGeom>
          <a:noFill/>
          <a:ln/>
        </p:spPr>
        <p:txBody>
          <a:bodyPr wrap="square" lIns="0" tIns="0" rIns="0" bIns="0" rtlCol="0" anchor="ctr"/>
          <a:lstStyle/>
          <a:p>
            <a:pPr indent="0" marL="0">
              <a:buNone/>
            </a:pPr>
            <a:r>
              <a:rPr lang="en-US" sz="6000" b="1" dirty="0">
                <a:solidFill>
                  <a:schemeClr val="accent1"/>
                </a:solidFill>
              </a:rPr>
              <a:t>3 mois</a:t>
            </a:r>
            <a:endParaRPr lang="en-US" sz="6000" dirty="0"/>
          </a:p>
        </p:txBody>
      </p:sp>
      <p:sp>
        <p:nvSpPr>
          <p:cNvPr id="8" name="a1_190"/>
          <p:cNvSpPr txBox="1"/>
          <p:nvPr/>
        </p:nvSpPr>
        <p:spPr>
          <a:xfrm>
            <a:off x="868680" y="3886200"/>
            <a:ext cx="4754880" cy="457200"/>
          </a:xfrm>
          <a:prstGeom prst="rect">
            <a:avLst/>
          </a:prstGeom>
          <a:noFill/>
          <a:ln/>
        </p:spPr>
        <p:txBody>
          <a:bodyPr wrap="square" lIns="0" tIns="0" rIns="0" bIns="0" rtlCol="0" anchor="ctr"/>
          <a:lstStyle/>
          <a:p>
            <a:pPr indent="0" marL="0">
              <a:buNone/>
            </a:pPr>
            <a:r>
              <a:rPr lang="en-US" sz="2200" b="1" dirty="0">
                <a:solidFill>
                  <a:schemeClr val="tx2"/>
                </a:solidFill>
              </a:rPr>
              <a:t>de maintenance offerts</a:t>
            </a:r>
            <a:endParaRPr lang="en-US" sz="2200" dirty="0"/>
          </a:p>
        </p:txBody>
      </p:sp>
      <p:sp>
        <p:nvSpPr>
          <p:cNvPr id="9" name="a1_191"/>
          <p:cNvSpPr txBox="1"/>
          <p:nvPr/>
        </p:nvSpPr>
        <p:spPr>
          <a:xfrm>
            <a:off x="868680" y="4434840"/>
            <a:ext cx="4754880" cy="1097280"/>
          </a:xfrm>
          <a:prstGeom prst="rect">
            <a:avLst/>
          </a:prstGeom>
          <a:noFill/>
          <a:ln/>
        </p:spPr>
        <p:txBody>
          <a:bodyPr wrap="square" lIns="0" tIns="0" rIns="0" bIns="0" rtlCol="0" anchor="t"/>
          <a:lstStyle/>
          <a:p>
            <a:pPr indent="0" marL="0">
              <a:buNone/>
            </a:pPr>
            <a:r>
              <a:rPr lang="en-US" sz="1500" dirty="0">
                <a:solidFill>
                  <a:schemeClr val="accent6"/>
                </a:solidFill>
              </a:rPr>
              <a:t>Dès la mise en service : surveillance, corrections et ajustements des GPO, sans frais.</a:t>
            </a:r>
            <a:endParaRPr lang="en-US" sz="1500" dirty="0"/>
          </a:p>
        </p:txBody>
      </p:sp>
      <p:sp>
        <p:nvSpPr>
          <p:cNvPr id="10" name="a2_192"/>
          <p:cNvSpPr/>
          <p:nvPr/>
        </p:nvSpPr>
        <p:spPr>
          <a:xfrm>
            <a:off x="6126480" y="3749040"/>
            <a:ext cx="548640" cy="0"/>
          </a:xfrm>
          <a:prstGeom prst="line">
            <a:avLst/>
          </a:prstGeom>
          <a:noFill/>
          <a:ln w="25400">
            <a:solidFill>
              <a:schemeClr val="accent4"/>
            </a:solidFill>
            <a:prstDash val="solid"/>
            <a:tailEnd type="triangle"/>
          </a:ln>
        </p:spPr>
      </p:sp>
      <p:sp>
        <p:nvSpPr>
          <p:cNvPr id="11" name="a2_193"/>
          <p:cNvSpPr/>
          <p:nvPr/>
        </p:nvSpPr>
        <p:spPr>
          <a:xfrm>
            <a:off x="6858000" y="1645920"/>
            <a:ext cx="4754880" cy="4206240"/>
          </a:xfrm>
          <a:prstGeom prst="roundRect">
            <a:avLst>
              <a:gd name="adj" fmla="val 3043"/>
            </a:avLst>
          </a:prstGeom>
          <a:solidFill>
            <a:schemeClr val="tx2"/>
          </a:solidFill>
          <a:ln w="12700">
            <a:solidFill>
              <a:schemeClr val="tx2"/>
            </a:solidFill>
            <a:prstDash val="solid"/>
          </a:ln>
          <a:effectLst>
            <a:outerShdw sx="100000" sy="100000" kx="0" ky="0" algn="bl" rotWithShape="0" blurRad="127000" dist="38100" dir="5400000">
              <a:srgbClr val="0B2A6F">
                <a:alpha val="12000"/>
              </a:srgbClr>
            </a:outerShdw>
          </a:effectLst>
        </p:spPr>
      </p:sp>
      <p:sp>
        <p:nvSpPr>
          <p:cNvPr id="12" name="a2_194"/>
          <p:cNvSpPr/>
          <p:nvPr/>
        </p:nvSpPr>
        <p:spPr>
          <a:xfrm>
            <a:off x="7178040" y="1965960"/>
            <a:ext cx="822960" cy="822960"/>
          </a:xfrm>
          <a:prstGeom prst="ellipse">
            <a:avLst/>
          </a:prstGeom>
          <a:solidFill>
            <a:schemeClr val="accent2"/>
          </a:solidFill>
          <a:ln w="12700">
            <a:solidFill>
              <a:schemeClr val="accent2"/>
            </a:solidFill>
            <a:prstDash val="solid"/>
          </a:ln>
        </p:spPr>
      </p:sp>
      <p:pic>
        <p:nvPicPr>
          <p:cNvPr id="13" name="a2_195" descr="preencoded.png">    </p:cNvPr>
          <p:cNvPicPr>
            <a:picLocks noChangeAspect="1"/>
          </p:cNvPicPr>
          <p:nvPr/>
        </p:nvPicPr>
        <p:blipFill>
          <a:blip r:embed="rId2"/>
          <a:stretch>
            <a:fillRect/>
          </a:stretch>
        </p:blipFill>
        <p:spPr>
          <a:xfrm>
            <a:off x="7392010" y="2179930"/>
            <a:ext cx="395021" cy="395021"/>
          </a:xfrm>
          <a:prstGeom prst="rect">
            <a:avLst/>
          </a:prstGeom>
        </p:spPr>
      </p:pic>
      <p:sp>
        <p:nvSpPr>
          <p:cNvPr id="14" name="a2_196"/>
          <p:cNvSpPr txBox="1"/>
          <p:nvPr/>
        </p:nvSpPr>
        <p:spPr>
          <a:xfrm>
            <a:off x="7178040" y="2971800"/>
            <a:ext cx="4206240" cy="365760"/>
          </a:xfrm>
          <a:prstGeom prst="rect">
            <a:avLst/>
          </a:prstGeom>
          <a:noFill/>
          <a:ln/>
        </p:spPr>
        <p:txBody>
          <a:bodyPr wrap="square" lIns="0" tIns="0" rIns="0" bIns="0" rtlCol="0" anchor="ctr"/>
          <a:lstStyle/>
          <a:p>
            <a:pPr indent="0" marL="0">
              <a:buNone/>
            </a:pPr>
            <a:r>
              <a:rPr lang="en-US" sz="1600" dirty="0">
                <a:solidFill>
                  <a:schemeClr val="accent4"/>
                </a:solidFill>
              </a:rPr>
              <a:t>Ensuite, en option</a:t>
            </a:r>
            <a:endParaRPr lang="en-US" sz="1600" dirty="0"/>
          </a:p>
        </p:txBody>
      </p:sp>
      <p:sp>
        <p:nvSpPr>
          <p:cNvPr id="15" name="a2_197"/>
          <p:cNvSpPr txBox="1"/>
          <p:nvPr/>
        </p:nvSpPr>
        <p:spPr>
          <a:xfrm>
            <a:off x="7178040" y="3337560"/>
            <a:ext cx="4206240" cy="548640"/>
          </a:xfrm>
          <a:prstGeom prst="rect">
            <a:avLst/>
          </a:prstGeom>
          <a:noFill/>
          <a:ln/>
        </p:spPr>
        <p:txBody>
          <a:bodyPr wrap="square" lIns="0" tIns="0" rIns="0" bIns="0" rtlCol="0" anchor="ctr"/>
          <a:lstStyle/>
          <a:p>
            <a:pPr indent="0" marL="0">
              <a:buNone/>
            </a:pPr>
            <a:r>
              <a:rPr lang="en-US" sz="2800" b="1" dirty="0">
                <a:solidFill>
                  <a:schemeClr val="bg1"/>
                </a:solidFill>
              </a:rPr>
              <a:t>à partir de 100 000 FCFA</a:t>
            </a:r>
            <a:endParaRPr lang="en-US" sz="2800" dirty="0"/>
          </a:p>
        </p:txBody>
      </p:sp>
      <p:sp>
        <p:nvSpPr>
          <p:cNvPr id="16" name="a2_198"/>
          <p:cNvSpPr txBox="1"/>
          <p:nvPr/>
        </p:nvSpPr>
        <p:spPr>
          <a:xfrm>
            <a:off x="7178040" y="3886200"/>
            <a:ext cx="4206240" cy="365760"/>
          </a:xfrm>
          <a:prstGeom prst="rect">
            <a:avLst/>
          </a:prstGeom>
          <a:noFill/>
          <a:ln/>
        </p:spPr>
        <p:txBody>
          <a:bodyPr wrap="square" lIns="0" tIns="0" rIns="0" bIns="0" rtlCol="0" anchor="ctr"/>
          <a:lstStyle/>
          <a:p>
            <a:pPr indent="0" marL="0">
              <a:buNone/>
            </a:pPr>
            <a:r>
              <a:rPr lang="en-US" sz="1500" dirty="0">
                <a:solidFill>
                  <a:schemeClr val="accent4"/>
                </a:solidFill>
              </a:rPr>
              <a:t>par trimestre · formule à définir ensemble</a:t>
            </a:r>
            <a:endParaRPr lang="en-US" sz="1500" dirty="0"/>
          </a:p>
        </p:txBody>
      </p:sp>
      <p:sp>
        <p:nvSpPr>
          <p:cNvPr id="17" name="a3_199"/>
          <p:cNvSpPr txBox="1"/>
          <p:nvPr/>
        </p:nvSpPr>
        <p:spPr>
          <a:xfrm>
            <a:off x="7178040" y="4389120"/>
            <a:ext cx="420624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Mises à jour et supervision du serveur</a:t>
            </a:r>
            <a:endParaRPr lang="en-US" sz="1500" dirty="0"/>
          </a:p>
          <a:p>
            <a:pPr marL="342900" indent="-342900">
              <a:spcAft>
                <a:spcPts val="600"/>
              </a:spcAft>
              <a:buSzPct val="100000"/>
              <a:buChar char="•"/>
            </a:pPr>
            <a:r>
              <a:rPr lang="en-US" sz="1500" dirty="0">
                <a:solidFill>
                  <a:schemeClr val="bg1"/>
                </a:solidFill>
              </a:rPr>
              <a:t>Gestion des comptes et des GPO</a:t>
            </a:r>
            <a:endParaRPr lang="en-US" sz="1500" dirty="0"/>
          </a:p>
          <a:p>
            <a:pPr marL="342900" indent="-342900">
              <a:spcAft>
                <a:spcPts val="600"/>
              </a:spcAft>
              <a:buSzPct val="100000"/>
              <a:buChar char="•"/>
            </a:pPr>
            <a:r>
              <a:rPr lang="en-US" sz="1500" dirty="0">
                <a:solidFill>
                  <a:schemeClr val="bg1"/>
                </a:solidFill>
              </a:rPr>
              <a:t>Assistance à distance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12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18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p:cTn id="19" dur="600" decel="100000" fill="hold"/>
                                  <p:tgtEl>
                                    <p:spTgt spid="7"/>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24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3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4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anim calcmode="lin" valueType="num">
                                <p:cBhvr>
                                  <p:cTn id="31" dur="600" decel="100000" fill="hold"/>
                                  <p:tgtEl>
                                    <p:spTgt spid="10"/>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51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anim calcmode="lin" valueType="num">
                                <p:cBhvr>
                                  <p:cTn id="35" dur="600" decel="100000" fill="hold"/>
                                  <p:tgtEl>
                                    <p:spTgt spid="11"/>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57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63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p:cTn id="43" dur="600" decel="100000" fill="hold"/>
                                  <p:tgtEl>
                                    <p:spTgt spid="13"/>
                                  </p:tgtEl>
                                  <p:attrNameLst>
                                    <p:attrName>ppt_y</p:attrName>
                                  </p:attrNameLst>
                                </p:cBhvr>
                                <p:tavLst>
                                  <p:tav tm="0">
                                    <p:val>
                                      <p:strVal val="#ppt_y+0.03"/>
                                    </p:val>
                                  </p:tav>
                                  <p:tav tm="100000">
                                    <p:val>
                                      <p:strVal val="#ppt_y"/>
                                    </p:val>
                                  </p:tav>
                                </p:tavLst>
                              </p:anim>
                            </p:childTnLst>
                          </p:cTn>
                        </p:par>
                        <p:par>
                          <p:cTn id="44" presetID="10" presetClass="entr" presetSubtype="0" fill="hold" nodeType="withEffect">
                            <p:stCondLst>
                              <p:cond delay="69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00"/>
                                  <p:tgtEl>
                                    <p:spTgt spid="14"/>
                                  </p:tgtEl>
                                </p:cBhvr>
                              </p:animEffect>
                              <p:anim calcmode="lin" valueType="num">
                                <p:cBhvr>
                                  <p:cTn id="47" dur="600" decel="100000" fill="hold"/>
                                  <p:tgtEl>
                                    <p:spTgt spid="14"/>
                                  </p:tgtEl>
                                  <p:attrNameLst>
                                    <p:attrName>ppt_y</p:attrName>
                                  </p:attrNameLst>
                                </p:cBhvr>
                                <p:tavLst>
                                  <p:tav tm="0">
                                    <p:val>
                                      <p:strVal val="#ppt_y+0.03"/>
                                    </p:val>
                                  </p:tav>
                                  <p:tav tm="100000">
                                    <p:val>
                                      <p:strVal val="#ppt_y"/>
                                    </p:val>
                                  </p:tav>
                                </p:tavLst>
                              </p:anim>
                            </p:childTnLst>
                          </p:cTn>
                        </p:par>
                        <p:par>
                          <p:cTn id="48" presetID="10" presetClass="entr" presetSubtype="0" fill="hold" nodeType="withEffect">
                            <p:stCondLst>
                              <p:cond delay="75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600"/>
                                  <p:tgtEl>
                                    <p:spTgt spid="15"/>
                                  </p:tgtEl>
                                </p:cBhvr>
                              </p:animEffect>
                              <p:anim calcmode="lin" valueType="num">
                                <p:cBhvr>
                                  <p:cTn id="51" dur="600" decel="100000" fill="hold"/>
                                  <p:tgtEl>
                                    <p:spTgt spid="15"/>
                                  </p:tgtEl>
                                  <p:attrNameLst>
                                    <p:attrName>ppt_y</p:attrName>
                                  </p:attrNameLst>
                                </p:cBhvr>
                                <p:tavLst>
                                  <p:tav tm="0">
                                    <p:val>
                                      <p:strVal val="#ppt_y+0.03"/>
                                    </p:val>
                                  </p:tav>
                                  <p:tav tm="100000">
                                    <p:val>
                                      <p:strVal val="#ppt_y"/>
                                    </p:val>
                                  </p:tav>
                                </p:tavLst>
                              </p:anim>
                            </p:childTnLst>
                          </p:cTn>
                        </p:par>
                        <p:par>
                          <p:cTn id="52" presetID="10" presetClass="entr" presetSubtype="0" fill="hold" nodeType="withEffect">
                            <p:stCondLst>
                              <p:cond delay="81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00"/>
                                  <p:tgtEl>
                                    <p:spTgt spid="16"/>
                                  </p:tgtEl>
                                </p:cBhvr>
                              </p:animEffect>
                              <p:anim calcmode="lin" valueType="num">
                                <p:cBhvr>
                                  <p:cTn id="55" dur="600" decel="100000" fill="hold"/>
                                  <p:tgtEl>
                                    <p:spTgt spid="16"/>
                                  </p:tgtEl>
                                  <p:attrNameLst>
                                    <p:attrName>ppt_y</p:attrName>
                                  </p:attrNameLst>
                                </p:cBhvr>
                                <p:tavLst>
                                  <p:tav tm="0">
                                    <p:val>
                                      <p:strVal val="#ppt_y+0.03"/>
                                    </p:val>
                                  </p:tav>
                                  <p:tav tm="100000">
                                    <p:val>
                                      <p:strVal val="#ppt_y"/>
                                    </p:val>
                                  </p:tav>
                                </p:tavLst>
                              </p:anim>
                            </p:childTnLst>
                          </p:cTn>
                        </p:par>
                        <p:par>
                          <p:cTn id="56" presetID="10" presetClass="entr" presetSubtype="0" fill="hold" nodeType="withEffect">
                            <p:stCondLst>
                              <p:cond delay="90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600"/>
                                  <p:tgtEl>
                                    <p:spTgt spid="17"/>
                                  </p:tgtEl>
                                </p:cBhvr>
                              </p:animEffect>
                              <p:anim calcmode="lin" valueType="num">
                                <p:cBhvr>
                                  <p:cTn id="59" dur="600" decel="100000" fill="hold"/>
                                  <p:tgtEl>
                                    <p:spTgt spid="17"/>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p>
            <a:pPr indent="0" marL="0">
              <a:buNone/>
            </a:pPr>
            <a:r>
              <a:rPr lang="en-US" sz="1400" b="1" dirty="0">
                <a:solidFill>
                  <a:schemeClr val="accent1"/>
                </a:solidFill>
              </a:rPr>
              <a:t>Et en cadeau</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p>
            <a:pPr algn="l" indent="0" marL="0">
              <a:buNone/>
            </a:pPr>
            <a:r>
              <a:rPr lang="en-US" sz="3200" b="1" dirty="0">
                <a:solidFill>
                  <a:schemeClr val="tx1"/>
                </a:solidFill>
              </a:rPr>
              <a:t>Votre site web vitrine </a:t>
            </a:r>
            <a:pPr algn="l" indent="0" marL="0">
              <a:buNone/>
            </a:pPr>
            <a:r>
              <a:rPr lang="en-US" sz="3200" b="1" dirty="0">
                <a:solidFill>
                  <a:schemeClr val="accent1"/>
                </a:solidFill>
              </a:rPr>
              <a:t>offert</a:t>
            </a:r>
            <a:endParaRPr lang="en-US" sz="3200" dirty="0"/>
          </a:p>
        </p:txBody>
      </p:sp>
      <p:sp>
        <p:nvSpPr>
          <p:cNvPr id="4" name="a1_200"/>
          <p:cNvSpPr/>
          <p:nvPr/>
        </p:nvSpPr>
        <p:spPr>
          <a:xfrm>
            <a:off x="548640" y="1600200"/>
            <a:ext cx="5669280" cy="4480560"/>
          </a:xfrm>
          <a:prstGeom prst="roundRect">
            <a:avLst>
              <a:gd name="adj" fmla="val 2857"/>
            </a:avLst>
          </a:prstGeom>
          <a:solidFill>
            <a:srgbClr val="DCE5F7"/>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5" name="a1_201"/>
          <p:cNvSpPr/>
          <p:nvPr/>
        </p:nvSpPr>
        <p:spPr>
          <a:xfrm>
            <a:off x="685800" y="2011680"/>
            <a:ext cx="5394960" cy="3931920"/>
          </a:xfrm>
          <a:prstGeom prst="rect">
            <a:avLst/>
          </a:prstGeom>
          <a:solidFill>
            <a:schemeClr val="bg1"/>
          </a:solidFill>
          <a:ln w="12700">
            <a:solidFill>
              <a:schemeClr val="bg1"/>
            </a:solidFill>
            <a:prstDash val="solid"/>
          </a:ln>
        </p:spPr>
      </p:sp>
      <p:sp>
        <p:nvSpPr>
          <p:cNvPr id="6" name="a1_202"/>
          <p:cNvSpPr/>
          <p:nvPr/>
        </p:nvSpPr>
        <p:spPr>
          <a:xfrm>
            <a:off x="822960" y="1737360"/>
            <a:ext cx="146304" cy="146304"/>
          </a:xfrm>
          <a:prstGeom prst="ellipse">
            <a:avLst/>
          </a:prstGeom>
          <a:solidFill>
            <a:srgbClr val="E5484D"/>
          </a:solidFill>
          <a:ln w="12700">
            <a:solidFill>
              <a:srgbClr val="E5484D"/>
            </a:solidFill>
            <a:prstDash val="solid"/>
          </a:ln>
        </p:spPr>
      </p:sp>
      <p:sp>
        <p:nvSpPr>
          <p:cNvPr id="7" name="a1_203"/>
          <p:cNvSpPr/>
          <p:nvPr/>
        </p:nvSpPr>
        <p:spPr>
          <a:xfrm>
            <a:off x="1078992" y="1737360"/>
            <a:ext cx="146304" cy="146304"/>
          </a:xfrm>
          <a:prstGeom prst="ellipse">
            <a:avLst/>
          </a:prstGeom>
          <a:solidFill>
            <a:srgbClr val="F5B700"/>
          </a:solidFill>
          <a:ln w="12700">
            <a:solidFill>
              <a:srgbClr val="F5B700"/>
            </a:solidFill>
            <a:prstDash val="solid"/>
          </a:ln>
        </p:spPr>
      </p:sp>
      <p:sp>
        <p:nvSpPr>
          <p:cNvPr id="8" name="a1_204"/>
          <p:cNvSpPr/>
          <p:nvPr/>
        </p:nvSpPr>
        <p:spPr>
          <a:xfrm>
            <a:off x="1335024" y="1737360"/>
            <a:ext cx="146304" cy="146304"/>
          </a:xfrm>
          <a:prstGeom prst="ellipse">
            <a:avLst/>
          </a:prstGeom>
          <a:solidFill>
            <a:srgbClr val="16B37A"/>
          </a:solidFill>
          <a:ln w="12700">
            <a:solidFill>
              <a:srgbClr val="16B37A"/>
            </a:solidFill>
            <a:prstDash val="solid"/>
          </a:ln>
        </p:spPr>
      </p:sp>
      <p:sp>
        <p:nvSpPr>
          <p:cNvPr id="9" name="a1_205"/>
          <p:cNvSpPr/>
          <p:nvPr/>
        </p:nvSpPr>
        <p:spPr>
          <a:xfrm>
            <a:off x="685800" y="2011680"/>
            <a:ext cx="5394960" cy="1737360"/>
          </a:xfrm>
          <a:prstGeom prst="rect">
            <a:avLst/>
          </a:prstGeom>
          <a:solidFill>
            <a:schemeClr val="accent1"/>
          </a:solidFill>
          <a:ln w="12700">
            <a:solidFill>
              <a:schemeClr val="accent1"/>
            </a:solidFill>
            <a:prstDash val="solid"/>
          </a:ln>
        </p:spPr>
      </p:sp>
      <p:sp>
        <p:nvSpPr>
          <p:cNvPr id="10" name="a1_206"/>
          <p:cNvSpPr txBox="1"/>
          <p:nvPr/>
        </p:nvSpPr>
        <p:spPr>
          <a:xfrm>
            <a:off x="960120" y="2240280"/>
            <a:ext cx="4846320" cy="548640"/>
          </a:xfrm>
          <a:prstGeom prst="rect">
            <a:avLst/>
          </a:prstGeom>
          <a:noFill/>
          <a:ln/>
        </p:spPr>
        <p:txBody>
          <a:bodyPr wrap="square" lIns="0" tIns="0" rIns="0" bIns="0" rtlCol="0" anchor="ctr"/>
          <a:lstStyle/>
          <a:p>
            <a:pPr indent="0" marL="0">
              <a:buNone/>
            </a:pPr>
            <a:r>
              <a:rPr lang="en-US" sz="2600" b="1" dirty="0">
                <a:solidFill>
                  <a:schemeClr val="bg1"/>
                </a:solidFill>
              </a:rPr>
              <a:t>Votre Entreprise</a:t>
            </a:r>
            <a:endParaRPr lang="en-US" sz="2600" dirty="0"/>
          </a:p>
        </p:txBody>
      </p:sp>
      <p:sp>
        <p:nvSpPr>
          <p:cNvPr id="11" name="a1_207"/>
          <p:cNvSpPr txBox="1"/>
          <p:nvPr/>
        </p:nvSpPr>
        <p:spPr>
          <a:xfrm>
            <a:off x="960120" y="2788920"/>
            <a:ext cx="4846320" cy="365760"/>
          </a:xfrm>
          <a:prstGeom prst="rect">
            <a:avLst/>
          </a:prstGeom>
          <a:noFill/>
          <a:ln/>
        </p:spPr>
        <p:txBody>
          <a:bodyPr wrap="square" lIns="0" tIns="0" rIns="0" bIns="0" rtlCol="0" anchor="ctr"/>
          <a:lstStyle/>
          <a:p>
            <a:pPr indent="0" marL="0">
              <a:buNone/>
            </a:pPr>
            <a:r>
              <a:rPr lang="en-US" sz="1400" dirty="0">
                <a:solidFill>
                  <a:schemeClr val="accent4"/>
                </a:solidFill>
              </a:rPr>
              <a:t>Votre savoir-faire, visible partout</a:t>
            </a:r>
            <a:endParaRPr lang="en-US" sz="1400" dirty="0"/>
          </a:p>
        </p:txBody>
      </p:sp>
      <p:sp>
        <p:nvSpPr>
          <p:cNvPr id="12" name="a1_208"/>
          <p:cNvSpPr/>
          <p:nvPr/>
        </p:nvSpPr>
        <p:spPr>
          <a:xfrm>
            <a:off x="960120" y="3246120"/>
            <a:ext cx="1554480" cy="347472"/>
          </a:xfrm>
          <a:prstGeom prst="roundRect">
            <a:avLst>
              <a:gd name="adj" fmla="val 50000"/>
            </a:avLst>
          </a:prstGeom>
          <a:solidFill>
            <a:schemeClr val="bg1"/>
          </a:solidFill>
          <a:ln w="12700">
            <a:solidFill>
              <a:schemeClr val="bg1"/>
            </a:solidFill>
            <a:prstDash val="solid"/>
          </a:ln>
        </p:spPr>
      </p:sp>
      <p:sp>
        <p:nvSpPr>
          <p:cNvPr id="13" name="a1_209"/>
          <p:cNvSpPr txBox="1"/>
          <p:nvPr/>
        </p:nvSpPr>
        <p:spPr>
          <a:xfrm>
            <a:off x="960120" y="3246120"/>
            <a:ext cx="1554480" cy="347472"/>
          </a:xfrm>
          <a:prstGeom prst="rect">
            <a:avLst/>
          </a:prstGeom>
          <a:noFill/>
          <a:ln/>
        </p:spPr>
        <p:txBody>
          <a:bodyPr wrap="square" lIns="0" tIns="0" rIns="0" bIns="0" rtlCol="0" anchor="ctr"/>
          <a:lstStyle/>
          <a:p>
            <a:pPr algn="ctr" indent="0" marL="0">
              <a:buNone/>
            </a:pPr>
            <a:r>
              <a:rPr lang="en-US" sz="1200" b="1" dirty="0">
                <a:solidFill>
                  <a:schemeClr val="accent1"/>
                </a:solidFill>
              </a:rPr>
              <a:t>Nous contacter</a:t>
            </a:r>
            <a:endParaRPr lang="en-US" sz="1200" dirty="0"/>
          </a:p>
        </p:txBody>
      </p:sp>
      <p:sp>
        <p:nvSpPr>
          <p:cNvPr id="14" name="a1_210"/>
          <p:cNvSpPr/>
          <p:nvPr/>
        </p:nvSpPr>
        <p:spPr>
          <a:xfrm>
            <a:off x="960120" y="3977640"/>
            <a:ext cx="1463040" cy="1737360"/>
          </a:xfrm>
          <a:prstGeom prst="roundRect">
            <a:avLst>
              <a:gd name="adj" fmla="val 8750"/>
            </a:avLst>
          </a:prstGeom>
          <a:solidFill>
            <a:schemeClr val="bg2"/>
          </a:solidFill>
          <a:ln w="12700">
            <a:solidFill>
              <a:schemeClr val="bg2"/>
            </a:solidFill>
            <a:prstDash val="solid"/>
          </a:ln>
        </p:spPr>
      </p:sp>
      <p:sp>
        <p:nvSpPr>
          <p:cNvPr id="15" name="a1_211"/>
          <p:cNvSpPr/>
          <p:nvPr/>
        </p:nvSpPr>
        <p:spPr>
          <a:xfrm>
            <a:off x="1417320" y="4206240"/>
            <a:ext cx="548640" cy="548640"/>
          </a:xfrm>
          <a:prstGeom prst="ellipse">
            <a:avLst/>
          </a:prstGeom>
          <a:solidFill>
            <a:schemeClr val="accent1"/>
          </a:solidFill>
          <a:ln w="12700">
            <a:solidFill>
              <a:schemeClr val="accent1"/>
            </a:solidFill>
            <a:prstDash val="solid"/>
          </a:ln>
        </p:spPr>
      </p:sp>
      <p:pic>
        <p:nvPicPr>
          <p:cNvPr id="16" name="a1_212" descr="preencoded.png">    </p:cNvPr>
          <p:cNvPicPr>
            <a:picLocks noChangeAspect="1"/>
          </p:cNvPicPr>
          <p:nvPr/>
        </p:nvPicPr>
        <p:blipFill>
          <a:blip r:embed="rId1"/>
          <a:stretch>
            <a:fillRect/>
          </a:stretch>
        </p:blipFill>
        <p:spPr>
          <a:xfrm>
            <a:off x="1559966" y="4348886"/>
            <a:ext cx="263347" cy="263347"/>
          </a:xfrm>
          <a:prstGeom prst="rect">
            <a:avLst/>
          </a:prstGeom>
        </p:spPr>
      </p:pic>
      <p:sp>
        <p:nvSpPr>
          <p:cNvPr id="17" name="a1_213"/>
          <p:cNvSpPr txBox="1"/>
          <p:nvPr/>
        </p:nvSpPr>
        <p:spPr>
          <a:xfrm>
            <a:off x="960120" y="4937760"/>
            <a:ext cx="1463040" cy="411480"/>
          </a:xfrm>
          <a:prstGeom prst="rect">
            <a:avLst/>
          </a:prstGeom>
          <a:noFill/>
          <a:ln/>
        </p:spPr>
        <p:txBody>
          <a:bodyPr wrap="square" lIns="0" tIns="0" rIns="0" bIns="0" rtlCol="0" anchor="ctr"/>
          <a:lstStyle/>
          <a:p>
            <a:pPr algn="ctr" indent="0" marL="0">
              <a:buNone/>
            </a:pPr>
            <a:r>
              <a:rPr lang="en-US" sz="1400" b="1" dirty="0">
                <a:solidFill>
                  <a:schemeClr val="tx2"/>
                </a:solidFill>
              </a:rPr>
              <a:t>Services</a:t>
            </a:r>
            <a:endParaRPr lang="en-US" sz="1400" dirty="0"/>
          </a:p>
        </p:txBody>
      </p:sp>
      <p:sp>
        <p:nvSpPr>
          <p:cNvPr id="18" name="a1_214"/>
          <p:cNvSpPr/>
          <p:nvPr/>
        </p:nvSpPr>
        <p:spPr>
          <a:xfrm>
            <a:off x="2624328" y="3977640"/>
            <a:ext cx="1463040" cy="1737360"/>
          </a:xfrm>
          <a:prstGeom prst="roundRect">
            <a:avLst>
              <a:gd name="adj" fmla="val 8750"/>
            </a:avLst>
          </a:prstGeom>
          <a:solidFill>
            <a:schemeClr val="bg2"/>
          </a:solidFill>
          <a:ln w="12700">
            <a:solidFill>
              <a:schemeClr val="bg2"/>
            </a:solidFill>
            <a:prstDash val="solid"/>
          </a:ln>
        </p:spPr>
      </p:sp>
      <p:sp>
        <p:nvSpPr>
          <p:cNvPr id="19" name="a1_215"/>
          <p:cNvSpPr/>
          <p:nvPr/>
        </p:nvSpPr>
        <p:spPr>
          <a:xfrm>
            <a:off x="3081528" y="4206240"/>
            <a:ext cx="548640" cy="548640"/>
          </a:xfrm>
          <a:prstGeom prst="ellipse">
            <a:avLst/>
          </a:prstGeom>
          <a:solidFill>
            <a:schemeClr val="accent1"/>
          </a:solidFill>
          <a:ln w="12700">
            <a:solidFill>
              <a:schemeClr val="accent1"/>
            </a:solidFill>
            <a:prstDash val="solid"/>
          </a:ln>
        </p:spPr>
      </p:sp>
      <p:pic>
        <p:nvPicPr>
          <p:cNvPr id="20" name="a1_216" descr="preencoded.png">    </p:cNvPr>
          <p:cNvPicPr>
            <a:picLocks noChangeAspect="1"/>
          </p:cNvPicPr>
          <p:nvPr/>
        </p:nvPicPr>
        <p:blipFill>
          <a:blip r:embed="rId2"/>
          <a:stretch>
            <a:fillRect/>
          </a:stretch>
        </p:blipFill>
        <p:spPr>
          <a:xfrm>
            <a:off x="3224174" y="4348886"/>
            <a:ext cx="263347" cy="263347"/>
          </a:xfrm>
          <a:prstGeom prst="rect">
            <a:avLst/>
          </a:prstGeom>
        </p:spPr>
      </p:pic>
      <p:sp>
        <p:nvSpPr>
          <p:cNvPr id="21" name="a1_217"/>
          <p:cNvSpPr txBox="1"/>
          <p:nvPr/>
        </p:nvSpPr>
        <p:spPr>
          <a:xfrm>
            <a:off x="2624328" y="4937760"/>
            <a:ext cx="1463040" cy="411480"/>
          </a:xfrm>
          <a:prstGeom prst="rect">
            <a:avLst/>
          </a:prstGeom>
          <a:noFill/>
          <a:ln/>
        </p:spPr>
        <p:txBody>
          <a:bodyPr wrap="square" lIns="0" tIns="0" rIns="0" bIns="0" rtlCol="0" anchor="ctr"/>
          <a:lstStyle/>
          <a:p>
            <a:pPr algn="ctr" indent="0" marL="0">
              <a:buNone/>
            </a:pPr>
            <a:r>
              <a:rPr lang="en-US" sz="1400" b="1" dirty="0">
                <a:solidFill>
                  <a:schemeClr val="tx2"/>
                </a:solidFill>
              </a:rPr>
              <a:t>Réalisations</a:t>
            </a:r>
            <a:endParaRPr lang="en-US" sz="1400" dirty="0"/>
          </a:p>
        </p:txBody>
      </p:sp>
      <p:sp>
        <p:nvSpPr>
          <p:cNvPr id="22" name="a1_218"/>
          <p:cNvSpPr/>
          <p:nvPr/>
        </p:nvSpPr>
        <p:spPr>
          <a:xfrm>
            <a:off x="4288536" y="3977640"/>
            <a:ext cx="1463040" cy="1737360"/>
          </a:xfrm>
          <a:prstGeom prst="roundRect">
            <a:avLst>
              <a:gd name="adj" fmla="val 8750"/>
            </a:avLst>
          </a:prstGeom>
          <a:solidFill>
            <a:schemeClr val="bg2"/>
          </a:solidFill>
          <a:ln w="12700">
            <a:solidFill>
              <a:schemeClr val="bg2"/>
            </a:solidFill>
            <a:prstDash val="solid"/>
          </a:ln>
        </p:spPr>
      </p:sp>
      <p:sp>
        <p:nvSpPr>
          <p:cNvPr id="23" name="a1_219"/>
          <p:cNvSpPr/>
          <p:nvPr/>
        </p:nvSpPr>
        <p:spPr>
          <a:xfrm>
            <a:off x="4745736" y="4206240"/>
            <a:ext cx="548640" cy="548640"/>
          </a:xfrm>
          <a:prstGeom prst="ellipse">
            <a:avLst/>
          </a:prstGeom>
          <a:solidFill>
            <a:schemeClr val="accent1"/>
          </a:solidFill>
          <a:ln w="12700">
            <a:solidFill>
              <a:schemeClr val="accent1"/>
            </a:solidFill>
            <a:prstDash val="solid"/>
          </a:ln>
        </p:spPr>
      </p:sp>
      <p:pic>
        <p:nvPicPr>
          <p:cNvPr id="24" name="a1_220" descr="preencoded.png">    </p:cNvPr>
          <p:cNvPicPr>
            <a:picLocks noChangeAspect="1"/>
          </p:cNvPicPr>
          <p:nvPr/>
        </p:nvPicPr>
        <p:blipFill>
          <a:blip r:embed="rId3"/>
          <a:stretch>
            <a:fillRect/>
          </a:stretch>
        </p:blipFill>
        <p:spPr>
          <a:xfrm>
            <a:off x="4888382" y="4348886"/>
            <a:ext cx="263347" cy="263347"/>
          </a:xfrm>
          <a:prstGeom prst="rect">
            <a:avLst/>
          </a:prstGeom>
        </p:spPr>
      </p:pic>
      <p:sp>
        <p:nvSpPr>
          <p:cNvPr id="25" name="a1_221"/>
          <p:cNvSpPr txBox="1"/>
          <p:nvPr/>
        </p:nvSpPr>
        <p:spPr>
          <a:xfrm>
            <a:off x="4288536" y="4937760"/>
            <a:ext cx="1463040" cy="411480"/>
          </a:xfrm>
          <a:prstGeom prst="rect">
            <a:avLst/>
          </a:prstGeom>
          <a:noFill/>
          <a:ln/>
        </p:spPr>
        <p:txBody>
          <a:bodyPr wrap="square" lIns="0" tIns="0" rIns="0" bIns="0" rtlCol="0" anchor="ctr"/>
          <a:lstStyle/>
          <a:p>
            <a:pPr algn="ctr" indent="0" marL="0">
              <a:buNone/>
            </a:pPr>
            <a:r>
              <a:rPr lang="en-US" sz="1400" b="1" dirty="0">
                <a:solidFill>
                  <a:schemeClr val="tx2"/>
                </a:solidFill>
              </a:rPr>
              <a:t>Contact</a:t>
            </a:r>
            <a:endParaRPr lang="en-US" sz="1400" dirty="0"/>
          </a:p>
        </p:txBody>
      </p:sp>
      <p:sp>
        <p:nvSpPr>
          <p:cNvPr id="26" name="a2_222"/>
          <p:cNvSpPr txBox="1"/>
          <p:nvPr/>
        </p:nvSpPr>
        <p:spPr>
          <a:xfrm>
            <a:off x="6675120" y="1645920"/>
            <a:ext cx="4937760" cy="411480"/>
          </a:xfrm>
          <a:prstGeom prst="rect">
            <a:avLst/>
          </a:prstGeom>
          <a:noFill/>
          <a:ln/>
        </p:spPr>
        <p:txBody>
          <a:bodyPr wrap="square" lIns="0" tIns="0" rIns="0" bIns="0" rtlCol="0" anchor="ctr"/>
          <a:lstStyle/>
          <a:p>
            <a:pPr indent="0" marL="0">
              <a:buNone/>
            </a:pPr>
            <a:r>
              <a:rPr lang="en-US" sz="1800" strike="sngStrike" dirty="0">
                <a:solidFill>
                  <a:schemeClr val="accent6"/>
                </a:solidFill>
              </a:rPr>
              <a:t>Valeur 365 000 FCFA</a:t>
            </a:r>
            <a:endParaRPr lang="en-US" sz="1800" dirty="0"/>
          </a:p>
        </p:txBody>
      </p:sp>
      <p:sp>
        <p:nvSpPr>
          <p:cNvPr id="27" name="a2_223"/>
          <p:cNvSpPr txBox="1"/>
          <p:nvPr/>
        </p:nvSpPr>
        <p:spPr>
          <a:xfrm>
            <a:off x="6675120" y="2011680"/>
            <a:ext cx="4937760" cy="822960"/>
          </a:xfrm>
          <a:prstGeom prst="rect">
            <a:avLst/>
          </a:prstGeom>
          <a:noFill/>
          <a:ln/>
        </p:spPr>
        <p:txBody>
          <a:bodyPr wrap="square" lIns="0" tIns="0" rIns="0" bIns="0" rtlCol="0" anchor="ctr"/>
          <a:lstStyle/>
          <a:p>
            <a:pPr indent="0" marL="0">
              <a:buNone/>
            </a:pPr>
            <a:r>
              <a:rPr lang="en-US" sz="5400" b="1" dirty="0">
                <a:solidFill>
                  <a:schemeClr val="accent1"/>
                </a:solidFill>
              </a:rPr>
              <a:t>OFFERT</a:t>
            </a:r>
            <a:endParaRPr lang="en-US" sz="5400" dirty="0"/>
          </a:p>
        </p:txBody>
      </p:sp>
      <p:sp>
        <p:nvSpPr>
          <p:cNvPr id="28" name="a3_224"/>
          <p:cNvSpPr/>
          <p:nvPr/>
        </p:nvSpPr>
        <p:spPr>
          <a:xfrm>
            <a:off x="6675120" y="3063240"/>
            <a:ext cx="438912" cy="438912"/>
          </a:xfrm>
          <a:prstGeom prst="ellipse">
            <a:avLst/>
          </a:prstGeom>
          <a:solidFill>
            <a:schemeClr val="bg2"/>
          </a:solidFill>
          <a:ln w="12700">
            <a:solidFill>
              <a:schemeClr val="bg2"/>
            </a:solidFill>
            <a:prstDash val="solid"/>
          </a:ln>
        </p:spPr>
      </p:sp>
      <p:pic>
        <p:nvPicPr>
          <p:cNvPr id="29" name="a3_225" descr="preencoded.png">    </p:cNvPr>
          <p:cNvPicPr>
            <a:picLocks noChangeAspect="1"/>
          </p:cNvPicPr>
          <p:nvPr/>
        </p:nvPicPr>
        <p:blipFill>
          <a:blip r:embed="rId4"/>
          <a:stretch>
            <a:fillRect/>
          </a:stretch>
        </p:blipFill>
        <p:spPr>
          <a:xfrm>
            <a:off x="6789237" y="3177357"/>
            <a:ext cx="210678" cy="210678"/>
          </a:xfrm>
          <a:prstGeom prst="rect">
            <a:avLst/>
          </a:prstGeom>
        </p:spPr>
      </p:pic>
      <p:sp>
        <p:nvSpPr>
          <p:cNvPr id="30" name="a3_226"/>
          <p:cNvSpPr txBox="1"/>
          <p:nvPr/>
        </p:nvSpPr>
        <p:spPr>
          <a:xfrm>
            <a:off x="7269480" y="3063240"/>
            <a:ext cx="4389120" cy="438912"/>
          </a:xfrm>
          <a:prstGeom prst="rect">
            <a:avLst/>
          </a:prstGeom>
          <a:noFill/>
          <a:ln/>
        </p:spPr>
        <p:txBody>
          <a:bodyPr wrap="square" lIns="0" tIns="0" rIns="0" bIns="0" rtlCol="0" anchor="ctr"/>
          <a:lstStyle/>
          <a:p>
            <a:pPr indent="0" marL="0">
              <a:buNone/>
            </a:pPr>
            <a:r>
              <a:rPr lang="en-US" sz="1500" dirty="0">
                <a:solidFill>
                  <a:schemeClr val="tx1"/>
                </a:solidFill>
              </a:rPr>
              <a:t>Adapté au mobile, à la tablette et à l'ordinateur</a:t>
            </a:r>
            <a:endParaRPr lang="en-US" sz="1500" dirty="0"/>
          </a:p>
        </p:txBody>
      </p:sp>
      <p:sp>
        <p:nvSpPr>
          <p:cNvPr id="31" name="a4_227"/>
          <p:cNvSpPr/>
          <p:nvPr/>
        </p:nvSpPr>
        <p:spPr>
          <a:xfrm>
            <a:off x="6675120" y="3630168"/>
            <a:ext cx="438912" cy="438912"/>
          </a:xfrm>
          <a:prstGeom prst="ellipse">
            <a:avLst/>
          </a:prstGeom>
          <a:solidFill>
            <a:schemeClr val="bg2"/>
          </a:solidFill>
          <a:ln w="12700">
            <a:solidFill>
              <a:schemeClr val="bg2"/>
            </a:solidFill>
            <a:prstDash val="solid"/>
          </a:ln>
        </p:spPr>
      </p:sp>
      <p:pic>
        <p:nvPicPr>
          <p:cNvPr id="32" name="a4_228" descr="preencoded.png">    </p:cNvPr>
          <p:cNvPicPr>
            <a:picLocks noChangeAspect="1"/>
          </p:cNvPicPr>
          <p:nvPr/>
        </p:nvPicPr>
        <p:blipFill>
          <a:blip r:embed="rId5"/>
          <a:stretch>
            <a:fillRect/>
          </a:stretch>
        </p:blipFill>
        <p:spPr>
          <a:xfrm>
            <a:off x="6789237" y="3744285"/>
            <a:ext cx="210678" cy="210678"/>
          </a:xfrm>
          <a:prstGeom prst="rect">
            <a:avLst/>
          </a:prstGeom>
        </p:spPr>
      </p:pic>
      <p:sp>
        <p:nvSpPr>
          <p:cNvPr id="33" name="a4_229"/>
          <p:cNvSpPr txBox="1"/>
          <p:nvPr/>
        </p:nvSpPr>
        <p:spPr>
          <a:xfrm>
            <a:off x="7269480" y="3630168"/>
            <a:ext cx="4389120" cy="438912"/>
          </a:xfrm>
          <a:prstGeom prst="rect">
            <a:avLst/>
          </a:prstGeom>
          <a:noFill/>
          <a:ln/>
        </p:spPr>
        <p:txBody>
          <a:bodyPr wrap="square" lIns="0" tIns="0" rIns="0" bIns="0" rtlCol="0" anchor="ctr"/>
          <a:lstStyle/>
          <a:p>
            <a:pPr indent="0" marL="0">
              <a:buNone/>
            </a:pPr>
            <a:r>
              <a:rPr lang="en-US" sz="1500" dirty="0">
                <a:solidFill>
                  <a:schemeClr val="tx1"/>
                </a:solidFill>
              </a:rPr>
              <a:t>Accueil, À propos, Services, Réalisations, Contact</a:t>
            </a:r>
            <a:endParaRPr lang="en-US" sz="1500" dirty="0"/>
          </a:p>
        </p:txBody>
      </p:sp>
      <p:sp>
        <p:nvSpPr>
          <p:cNvPr id="34" name="a5_230"/>
          <p:cNvSpPr/>
          <p:nvPr/>
        </p:nvSpPr>
        <p:spPr>
          <a:xfrm>
            <a:off x="6675120" y="4197096"/>
            <a:ext cx="438912" cy="438912"/>
          </a:xfrm>
          <a:prstGeom prst="ellipse">
            <a:avLst/>
          </a:prstGeom>
          <a:solidFill>
            <a:schemeClr val="bg2"/>
          </a:solidFill>
          <a:ln w="12700">
            <a:solidFill>
              <a:schemeClr val="bg2"/>
            </a:solidFill>
            <a:prstDash val="solid"/>
          </a:ln>
        </p:spPr>
      </p:sp>
      <p:pic>
        <p:nvPicPr>
          <p:cNvPr id="35" name="a5_231" descr="preencoded.png">    </p:cNvPr>
          <p:cNvPicPr>
            <a:picLocks noChangeAspect="1"/>
          </p:cNvPicPr>
          <p:nvPr/>
        </p:nvPicPr>
        <p:blipFill>
          <a:blip r:embed="rId6"/>
          <a:stretch>
            <a:fillRect/>
          </a:stretch>
        </p:blipFill>
        <p:spPr>
          <a:xfrm>
            <a:off x="6789237" y="4311213"/>
            <a:ext cx="210678" cy="210678"/>
          </a:xfrm>
          <a:prstGeom prst="rect">
            <a:avLst/>
          </a:prstGeom>
        </p:spPr>
      </p:pic>
      <p:sp>
        <p:nvSpPr>
          <p:cNvPr id="36" name="a5_232"/>
          <p:cNvSpPr txBox="1"/>
          <p:nvPr/>
        </p:nvSpPr>
        <p:spPr>
          <a:xfrm>
            <a:off x="7269480" y="4197096"/>
            <a:ext cx="4389120" cy="438912"/>
          </a:xfrm>
          <a:prstGeom prst="rect">
            <a:avLst/>
          </a:prstGeom>
          <a:noFill/>
          <a:ln/>
        </p:spPr>
        <p:txBody>
          <a:bodyPr wrap="square" lIns="0" tIns="0" rIns="0" bIns="0" rtlCol="0" anchor="ctr"/>
          <a:lstStyle/>
          <a:p>
            <a:pPr indent="0" marL="0">
              <a:buNone/>
            </a:pPr>
            <a:r>
              <a:rPr lang="en-US" sz="1500" dirty="0">
                <a:solidFill>
                  <a:schemeClr val="tx1"/>
                </a:solidFill>
              </a:rPr>
              <a:t>Formulaire de contact, Google Maps et WhatsApp</a:t>
            </a:r>
            <a:endParaRPr lang="en-US" sz="1500" dirty="0"/>
          </a:p>
        </p:txBody>
      </p:sp>
      <p:sp>
        <p:nvSpPr>
          <p:cNvPr id="37" name="a6_233"/>
          <p:cNvSpPr/>
          <p:nvPr/>
        </p:nvSpPr>
        <p:spPr>
          <a:xfrm>
            <a:off x="6675120" y="4764024"/>
            <a:ext cx="438912" cy="438912"/>
          </a:xfrm>
          <a:prstGeom prst="ellipse">
            <a:avLst/>
          </a:prstGeom>
          <a:solidFill>
            <a:schemeClr val="bg2"/>
          </a:solidFill>
          <a:ln w="12700">
            <a:solidFill>
              <a:schemeClr val="bg2"/>
            </a:solidFill>
            <a:prstDash val="solid"/>
          </a:ln>
        </p:spPr>
      </p:sp>
      <p:pic>
        <p:nvPicPr>
          <p:cNvPr id="38" name="a6_234" descr="preencoded.png">    </p:cNvPr>
          <p:cNvPicPr>
            <a:picLocks noChangeAspect="1"/>
          </p:cNvPicPr>
          <p:nvPr/>
        </p:nvPicPr>
        <p:blipFill>
          <a:blip r:embed="rId7"/>
          <a:stretch>
            <a:fillRect/>
          </a:stretch>
        </p:blipFill>
        <p:spPr>
          <a:xfrm>
            <a:off x="6789237" y="4878141"/>
            <a:ext cx="210678" cy="210678"/>
          </a:xfrm>
          <a:prstGeom prst="rect">
            <a:avLst/>
          </a:prstGeom>
        </p:spPr>
      </p:pic>
      <p:sp>
        <p:nvSpPr>
          <p:cNvPr id="39" name="a6_235"/>
          <p:cNvSpPr txBox="1"/>
          <p:nvPr/>
        </p:nvSpPr>
        <p:spPr>
          <a:xfrm>
            <a:off x="7269480" y="4764024"/>
            <a:ext cx="4389120" cy="438912"/>
          </a:xfrm>
          <a:prstGeom prst="rect">
            <a:avLst/>
          </a:prstGeom>
          <a:noFill/>
          <a:ln/>
        </p:spPr>
        <p:txBody>
          <a:bodyPr wrap="square" lIns="0" tIns="0" rIns="0" bIns="0" rtlCol="0" anchor="ctr"/>
          <a:lstStyle/>
          <a:p>
            <a:pPr indent="0" marL="0">
              <a:buNone/>
            </a:pPr>
            <a:r>
              <a:rPr lang="en-US" sz="1500" dirty="0">
                <a:solidFill>
                  <a:schemeClr val="tx1"/>
                </a:solidFill>
              </a:rPr>
              <a:t>Visible sur Google, sécurisé en HTTPS</a:t>
            </a:r>
            <a:endParaRPr lang="en-US" sz="1500" dirty="0"/>
          </a:p>
        </p:txBody>
      </p:sp>
      <p:sp>
        <p:nvSpPr>
          <p:cNvPr id="40" name="a7_236"/>
          <p:cNvSpPr/>
          <p:nvPr/>
        </p:nvSpPr>
        <p:spPr>
          <a:xfrm>
            <a:off x="6675120" y="5440680"/>
            <a:ext cx="4937760" cy="685800"/>
          </a:xfrm>
          <a:prstGeom prst="roundRect">
            <a:avLst>
              <a:gd name="adj" fmla="val 18667"/>
            </a:avLst>
          </a:prstGeom>
          <a:solidFill>
            <a:schemeClr val="tx2"/>
          </a:solidFill>
          <a:ln w="12700">
            <a:solidFill>
              <a:schemeClr val="tx2"/>
            </a:solidFill>
            <a:prstDash val="solid"/>
          </a:ln>
        </p:spPr>
      </p:sp>
      <p:sp>
        <p:nvSpPr>
          <p:cNvPr id="41" name="a7_237"/>
          <p:cNvSpPr txBox="1"/>
          <p:nvPr/>
        </p:nvSpPr>
        <p:spPr>
          <a:xfrm>
            <a:off x="6858000" y="5440680"/>
            <a:ext cx="4663440" cy="685800"/>
          </a:xfrm>
          <a:prstGeom prst="rect">
            <a:avLst/>
          </a:prstGeom>
          <a:noFill/>
          <a:ln/>
        </p:spPr>
        <p:txBody>
          <a:bodyPr wrap="square" lIns="0" tIns="0" rIns="0" bIns="0" rtlCol="0" anchor="ctr"/>
          <a:lstStyle/>
          <a:p>
            <a:pPr indent="0" marL="0">
              <a:buNone/>
            </a:pPr>
            <a:r>
              <a:rPr lang="en-US" sz="1500" dirty="0">
                <a:solidFill>
                  <a:schemeClr val="accent4"/>
                </a:solidFill>
              </a:rPr>
              <a:t>Valeur totale 1 515 000 FCFA  →  </a:t>
            </a:r>
            <a:pPr indent="0" marL="0">
              <a:buNone/>
            </a:pPr>
            <a:r>
              <a:rPr lang="en-US" sz="1500" b="1" dirty="0">
                <a:solidFill>
                  <a:schemeClr val="bg1"/>
                </a:solidFill>
              </a:rPr>
              <a:t>vous payez 1 150 000 FCFA</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12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18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p:cTn id="19" dur="600" decel="100000" fill="hold"/>
                                  <p:tgtEl>
                                    <p:spTgt spid="7"/>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24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3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3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anim calcmode="lin" valueType="num">
                                <p:cBhvr>
                                  <p:cTn id="31" dur="600" decel="100000" fill="hold"/>
                                  <p:tgtEl>
                                    <p:spTgt spid="10"/>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42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anim calcmode="lin" valueType="num">
                                <p:cBhvr>
                                  <p:cTn id="35" dur="600" decel="100000" fill="hold"/>
                                  <p:tgtEl>
                                    <p:spTgt spid="11"/>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4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54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p:cTn id="43" dur="600" decel="100000" fill="hold"/>
                                  <p:tgtEl>
                                    <p:spTgt spid="13"/>
                                  </p:tgtEl>
                                  <p:attrNameLst>
                                    <p:attrName>ppt_y</p:attrName>
                                  </p:attrNameLst>
                                </p:cBhvr>
                                <p:tavLst>
                                  <p:tav tm="0">
                                    <p:val>
                                      <p:strVal val="#ppt_y+0.03"/>
                                    </p:val>
                                  </p:tav>
                                  <p:tav tm="100000">
                                    <p:val>
                                      <p:strVal val="#ppt_y"/>
                                    </p:val>
                                  </p:tav>
                                </p:tavLst>
                              </p:anim>
                            </p:childTnLst>
                          </p:cTn>
                        </p:par>
                        <p:par>
                          <p:cTn id="44" presetID="10" presetClass="entr" presetSubtype="0" fill="hold" nodeType="withEffect">
                            <p:stCondLst>
                              <p:cond delay="6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00"/>
                                  <p:tgtEl>
                                    <p:spTgt spid="14"/>
                                  </p:tgtEl>
                                </p:cBhvr>
                              </p:animEffect>
                              <p:anim calcmode="lin" valueType="num">
                                <p:cBhvr>
                                  <p:cTn id="47" dur="600" decel="100000" fill="hold"/>
                                  <p:tgtEl>
                                    <p:spTgt spid="14"/>
                                  </p:tgtEl>
                                  <p:attrNameLst>
                                    <p:attrName>ppt_y</p:attrName>
                                  </p:attrNameLst>
                                </p:cBhvr>
                                <p:tavLst>
                                  <p:tav tm="0">
                                    <p:val>
                                      <p:strVal val="#ppt_y+0.03"/>
                                    </p:val>
                                  </p:tav>
                                  <p:tav tm="100000">
                                    <p:val>
                                      <p:strVal val="#ppt_y"/>
                                    </p:val>
                                  </p:tav>
                                </p:tavLst>
                              </p:anim>
                            </p:childTnLst>
                          </p:cTn>
                        </p:par>
                        <p:par>
                          <p:cTn id="48" presetID="10" presetClass="entr" presetSubtype="0" fill="hold" nodeType="withEffect">
                            <p:stCondLst>
                              <p:cond delay="66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600"/>
                                  <p:tgtEl>
                                    <p:spTgt spid="15"/>
                                  </p:tgtEl>
                                </p:cBhvr>
                              </p:animEffect>
                              <p:anim calcmode="lin" valueType="num">
                                <p:cBhvr>
                                  <p:cTn id="51" dur="600" decel="100000" fill="hold"/>
                                  <p:tgtEl>
                                    <p:spTgt spid="15"/>
                                  </p:tgtEl>
                                  <p:attrNameLst>
                                    <p:attrName>ppt_y</p:attrName>
                                  </p:attrNameLst>
                                </p:cBhvr>
                                <p:tavLst>
                                  <p:tav tm="0">
                                    <p:val>
                                      <p:strVal val="#ppt_y+0.03"/>
                                    </p:val>
                                  </p:tav>
                                  <p:tav tm="100000">
                                    <p:val>
                                      <p:strVal val="#ppt_y"/>
                                    </p:val>
                                  </p:tav>
                                </p:tavLst>
                              </p:anim>
                            </p:childTnLst>
                          </p:cTn>
                        </p:par>
                        <p:par>
                          <p:cTn id="52" presetID="10" presetClass="entr" presetSubtype="0" fill="hold" nodeType="withEffect">
                            <p:stCondLst>
                              <p:cond delay="72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00"/>
                                  <p:tgtEl>
                                    <p:spTgt spid="16"/>
                                  </p:tgtEl>
                                </p:cBhvr>
                              </p:animEffect>
                              <p:anim calcmode="lin" valueType="num">
                                <p:cBhvr>
                                  <p:cTn id="55" dur="600" decel="100000" fill="hold"/>
                                  <p:tgtEl>
                                    <p:spTgt spid="16"/>
                                  </p:tgtEl>
                                  <p:attrNameLst>
                                    <p:attrName>ppt_y</p:attrName>
                                  </p:attrNameLst>
                                </p:cBhvr>
                                <p:tavLst>
                                  <p:tav tm="0">
                                    <p:val>
                                      <p:strVal val="#ppt_y+0.03"/>
                                    </p:val>
                                  </p:tav>
                                  <p:tav tm="100000">
                                    <p:val>
                                      <p:strVal val="#ppt_y"/>
                                    </p:val>
                                  </p:tav>
                                </p:tavLst>
                              </p:anim>
                            </p:childTnLst>
                          </p:cTn>
                        </p:par>
                        <p:par>
                          <p:cTn id="56" presetID="10" presetClass="entr" presetSubtype="0" fill="hold" nodeType="withEffect">
                            <p:stCondLst>
                              <p:cond delay="78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600"/>
                                  <p:tgtEl>
                                    <p:spTgt spid="17"/>
                                  </p:tgtEl>
                                </p:cBhvr>
                              </p:animEffect>
                              <p:anim calcmode="lin" valueType="num">
                                <p:cBhvr>
                                  <p:cTn id="59" dur="600" decel="100000" fill="hold"/>
                                  <p:tgtEl>
                                    <p:spTgt spid="17"/>
                                  </p:tgtEl>
                                  <p:attrNameLst>
                                    <p:attrName>ppt_y</p:attrName>
                                  </p:attrNameLst>
                                </p:cBhvr>
                                <p:tavLst>
                                  <p:tav tm="0">
                                    <p:val>
                                      <p:strVal val="#ppt_y+0.03"/>
                                    </p:val>
                                  </p:tav>
                                  <p:tav tm="100000">
                                    <p:val>
                                      <p:strVal val="#ppt_y"/>
                                    </p:val>
                                  </p:tav>
                                </p:tavLst>
                              </p:anim>
                            </p:childTnLst>
                          </p:cTn>
                        </p:par>
                        <p:par>
                          <p:cTn id="60" presetID="10" presetClass="entr" presetSubtype="0" fill="hold" nodeType="withEffect">
                            <p:stCondLst>
                              <p:cond delay="84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600"/>
                                  <p:tgtEl>
                                    <p:spTgt spid="18"/>
                                  </p:tgtEl>
                                </p:cBhvr>
                              </p:animEffect>
                              <p:anim calcmode="lin" valueType="num">
                                <p:cBhvr>
                                  <p:cTn id="63" dur="600" decel="100000" fill="hold"/>
                                  <p:tgtEl>
                                    <p:spTgt spid="18"/>
                                  </p:tgtEl>
                                  <p:attrNameLst>
                                    <p:attrName>ppt_y</p:attrName>
                                  </p:attrNameLst>
                                </p:cBhvr>
                                <p:tavLst>
                                  <p:tav tm="0">
                                    <p:val>
                                      <p:strVal val="#ppt_y+0.03"/>
                                    </p:val>
                                  </p:tav>
                                  <p:tav tm="100000">
                                    <p:val>
                                      <p:strVal val="#ppt_y"/>
                                    </p:val>
                                  </p:tav>
                                </p:tavLst>
                              </p:anim>
                            </p:childTnLst>
                          </p:cTn>
                        </p:par>
                        <p:par>
                          <p:cTn id="64" presetID="10" presetClass="entr" presetSubtype="0" fill="hold" nodeType="withEffect">
                            <p:stCondLst>
                              <p:cond delay="90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600"/>
                                  <p:tgtEl>
                                    <p:spTgt spid="19"/>
                                  </p:tgtEl>
                                </p:cBhvr>
                              </p:animEffect>
                              <p:anim calcmode="lin" valueType="num">
                                <p:cBhvr>
                                  <p:cTn id="67" dur="600" decel="100000" fill="hold"/>
                                  <p:tgtEl>
                                    <p:spTgt spid="19"/>
                                  </p:tgtEl>
                                  <p:attrNameLst>
                                    <p:attrName>ppt_y</p:attrName>
                                  </p:attrNameLst>
                                </p:cBhvr>
                                <p:tavLst>
                                  <p:tav tm="0">
                                    <p:val>
                                      <p:strVal val="#ppt_y+0.03"/>
                                    </p:val>
                                  </p:tav>
                                  <p:tav tm="100000">
                                    <p:val>
                                      <p:strVal val="#ppt_y"/>
                                    </p:val>
                                  </p:tav>
                                </p:tavLst>
                              </p:anim>
                            </p:childTnLst>
                          </p:cTn>
                        </p:par>
                        <p:par>
                          <p:cTn id="68" presetID="10" presetClass="entr" presetSubtype="0" fill="hold" nodeType="withEffect">
                            <p:stCondLst>
                              <p:cond delay="96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600"/>
                                  <p:tgtEl>
                                    <p:spTgt spid="20"/>
                                  </p:tgtEl>
                                </p:cBhvr>
                              </p:animEffect>
                              <p:anim calcmode="lin" valueType="num">
                                <p:cBhvr>
                                  <p:cTn id="71" dur="600" decel="100000" fill="hold"/>
                                  <p:tgtEl>
                                    <p:spTgt spid="20"/>
                                  </p:tgtEl>
                                  <p:attrNameLst>
                                    <p:attrName>ppt_y</p:attrName>
                                  </p:attrNameLst>
                                </p:cBhvr>
                                <p:tavLst>
                                  <p:tav tm="0">
                                    <p:val>
                                      <p:strVal val="#ppt_y+0.03"/>
                                    </p:val>
                                  </p:tav>
                                  <p:tav tm="100000">
                                    <p:val>
                                      <p:strVal val="#ppt_y"/>
                                    </p:val>
                                  </p:tav>
                                </p:tavLst>
                              </p:anim>
                            </p:childTnLst>
                          </p:cTn>
                        </p:par>
                        <p:par>
                          <p:cTn id="72" presetID="10" presetClass="entr" presetSubtype="0" fill="hold" nodeType="withEffect">
                            <p:stCondLst>
                              <p:cond delay="102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600"/>
                                  <p:tgtEl>
                                    <p:spTgt spid="21"/>
                                  </p:tgtEl>
                                </p:cBhvr>
                              </p:animEffect>
                              <p:anim calcmode="lin" valueType="num">
                                <p:cBhvr>
                                  <p:cTn id="75" dur="600" decel="100000" fill="hold"/>
                                  <p:tgtEl>
                                    <p:spTgt spid="21"/>
                                  </p:tgtEl>
                                  <p:attrNameLst>
                                    <p:attrName>ppt_y</p:attrName>
                                  </p:attrNameLst>
                                </p:cBhvr>
                                <p:tavLst>
                                  <p:tav tm="0">
                                    <p:val>
                                      <p:strVal val="#ppt_y+0.03"/>
                                    </p:val>
                                  </p:tav>
                                  <p:tav tm="100000">
                                    <p:val>
                                      <p:strVal val="#ppt_y"/>
                                    </p:val>
                                  </p:tav>
                                </p:tavLst>
                              </p:anim>
                            </p:childTnLst>
                          </p:cTn>
                        </p:par>
                        <p:par>
                          <p:cTn id="76" presetID="10" presetClass="entr" presetSubtype="0" fill="hold" nodeType="withEffect">
                            <p:stCondLst>
                              <p:cond delay="108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600"/>
                                  <p:tgtEl>
                                    <p:spTgt spid="22"/>
                                  </p:tgtEl>
                                </p:cBhvr>
                              </p:animEffect>
                              <p:anim calcmode="lin" valueType="num">
                                <p:cBhvr>
                                  <p:cTn id="79" dur="600" decel="100000" fill="hold"/>
                                  <p:tgtEl>
                                    <p:spTgt spid="22"/>
                                  </p:tgtEl>
                                  <p:attrNameLst>
                                    <p:attrName>ppt_y</p:attrName>
                                  </p:attrNameLst>
                                </p:cBhvr>
                                <p:tavLst>
                                  <p:tav tm="0">
                                    <p:val>
                                      <p:strVal val="#ppt_y+0.03"/>
                                    </p:val>
                                  </p:tav>
                                  <p:tav tm="100000">
                                    <p:val>
                                      <p:strVal val="#ppt_y"/>
                                    </p:val>
                                  </p:tav>
                                </p:tavLst>
                              </p:anim>
                            </p:childTnLst>
                          </p:cTn>
                        </p:par>
                        <p:par>
                          <p:cTn id="80" presetID="10" presetClass="entr" presetSubtype="0" fill="hold" nodeType="withEffect">
                            <p:stCondLst>
                              <p:cond delay="114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p:cTn id="83" dur="600" decel="100000" fill="hold"/>
                                  <p:tgtEl>
                                    <p:spTgt spid="23"/>
                                  </p:tgtEl>
                                  <p:attrNameLst>
                                    <p:attrName>ppt_y</p:attrName>
                                  </p:attrNameLst>
                                </p:cBhvr>
                                <p:tavLst>
                                  <p:tav tm="0">
                                    <p:val>
                                      <p:strVal val="#ppt_y+0.03"/>
                                    </p:val>
                                  </p:tav>
                                  <p:tav tm="100000">
                                    <p:val>
                                      <p:strVal val="#ppt_y"/>
                                    </p:val>
                                  </p:tav>
                                </p:tavLst>
                              </p:anim>
                            </p:childTnLst>
                          </p:cTn>
                        </p:par>
                        <p:par>
                          <p:cTn id="84" presetID="10" presetClass="entr" presetSubtype="0" fill="hold" nodeType="withEffect">
                            <p:stCondLst>
                              <p:cond delay="120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600"/>
                                  <p:tgtEl>
                                    <p:spTgt spid="24"/>
                                  </p:tgtEl>
                                </p:cBhvr>
                              </p:animEffect>
                              <p:anim calcmode="lin" valueType="num">
                                <p:cBhvr>
                                  <p:cTn id="87" dur="600" decel="100000" fill="hold"/>
                                  <p:tgtEl>
                                    <p:spTgt spid="24"/>
                                  </p:tgtEl>
                                  <p:attrNameLst>
                                    <p:attrName>ppt_y</p:attrName>
                                  </p:attrNameLst>
                                </p:cBhvr>
                                <p:tavLst>
                                  <p:tav tm="0">
                                    <p:val>
                                      <p:strVal val="#ppt_y+0.03"/>
                                    </p:val>
                                  </p:tav>
                                  <p:tav tm="100000">
                                    <p:val>
                                      <p:strVal val="#ppt_y"/>
                                    </p:val>
                                  </p:tav>
                                </p:tavLst>
                              </p:anim>
                            </p:childTnLst>
                          </p:cTn>
                        </p:par>
                        <p:par>
                          <p:cTn id="88" presetID="10" presetClass="entr" presetSubtype="0" fill="hold" nodeType="withEffect">
                            <p:stCondLst>
                              <p:cond delay="126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600"/>
                                  <p:tgtEl>
                                    <p:spTgt spid="25"/>
                                  </p:tgtEl>
                                </p:cBhvr>
                              </p:animEffect>
                              <p:anim calcmode="lin" valueType="num">
                                <p:cBhvr>
                                  <p:cTn id="91" dur="600" decel="100000" fill="hold"/>
                                  <p:tgtEl>
                                    <p:spTgt spid="25"/>
                                  </p:tgtEl>
                                  <p:attrNameLst>
                                    <p:attrName>ppt_y</p:attrName>
                                  </p:attrNameLst>
                                </p:cBhvr>
                                <p:tavLst>
                                  <p:tav tm="0">
                                    <p:val>
                                      <p:strVal val="#ppt_y+0.03"/>
                                    </p:val>
                                  </p:tav>
                                  <p:tav tm="100000">
                                    <p:val>
                                      <p:strVal val="#ppt_y"/>
                                    </p:val>
                                  </p:tav>
                                </p:tavLst>
                              </p:anim>
                            </p:childTnLst>
                          </p:cTn>
                        </p:par>
                        <p:par>
                          <p:cTn id="92" presetID="10" presetClass="entr" presetSubtype="0" fill="hold" nodeType="withEffect">
                            <p:stCondLst>
                              <p:cond delay="45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600"/>
                                  <p:tgtEl>
                                    <p:spTgt spid="26"/>
                                  </p:tgtEl>
                                </p:cBhvr>
                              </p:animEffect>
                              <p:anim calcmode="lin" valueType="num">
                                <p:cBhvr>
                                  <p:cTn id="95" dur="600" decel="100000" fill="hold"/>
                                  <p:tgtEl>
                                    <p:spTgt spid="26"/>
                                  </p:tgtEl>
                                  <p:attrNameLst>
                                    <p:attrName>ppt_y</p:attrName>
                                  </p:attrNameLst>
                                </p:cBhvr>
                                <p:tavLst>
                                  <p:tav tm="0">
                                    <p:val>
                                      <p:strVal val="#ppt_y+0.03"/>
                                    </p:val>
                                  </p:tav>
                                  <p:tav tm="100000">
                                    <p:val>
                                      <p:strVal val="#ppt_y"/>
                                    </p:val>
                                  </p:tav>
                                </p:tavLst>
                              </p:anim>
                            </p:childTnLst>
                          </p:cTn>
                        </p:par>
                        <p:par>
                          <p:cTn id="96" presetID="10" presetClass="entr" presetSubtype="0" fill="hold" nodeType="withEffect">
                            <p:stCondLst>
                              <p:cond delay="51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anim calcmode="lin" valueType="num">
                                <p:cBhvr>
                                  <p:cTn id="99" dur="600" decel="100000" fill="hold"/>
                                  <p:tgtEl>
                                    <p:spTgt spid="27"/>
                                  </p:tgtEl>
                                  <p:attrNameLst>
                                    <p:attrName>ppt_y</p:attrName>
                                  </p:attrNameLst>
                                </p:cBhvr>
                                <p:tavLst>
                                  <p:tav tm="0">
                                    <p:val>
                                      <p:strVal val="#ppt_y+0.03"/>
                                    </p:val>
                                  </p:tav>
                                  <p:tav tm="100000">
                                    <p:val>
                                      <p:strVal val="#ppt_y"/>
                                    </p:val>
                                  </p:tav>
                                </p:tavLst>
                              </p:anim>
                            </p:childTnLst>
                          </p:cTn>
                        </p:par>
                        <p:par>
                          <p:cTn id="100" presetID="10" presetClass="entr" presetSubtype="0" fill="hold" nodeType="withEffect">
                            <p:stCondLst>
                              <p:cond delay="90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600"/>
                                  <p:tgtEl>
                                    <p:spTgt spid="28"/>
                                  </p:tgtEl>
                                </p:cBhvr>
                              </p:animEffect>
                              <p:anim calcmode="lin" valueType="num">
                                <p:cBhvr>
                                  <p:cTn id="103" dur="600" decel="100000" fill="hold"/>
                                  <p:tgtEl>
                                    <p:spTgt spid="28"/>
                                  </p:tgtEl>
                                  <p:attrNameLst>
                                    <p:attrName>ppt_y</p:attrName>
                                  </p:attrNameLst>
                                </p:cBhvr>
                                <p:tavLst>
                                  <p:tav tm="0">
                                    <p:val>
                                      <p:strVal val="#ppt_y+0.03"/>
                                    </p:val>
                                  </p:tav>
                                  <p:tav tm="100000">
                                    <p:val>
                                      <p:strVal val="#ppt_y"/>
                                    </p:val>
                                  </p:tav>
                                </p:tavLst>
                              </p:anim>
                            </p:childTnLst>
                          </p:cTn>
                        </p:par>
                        <p:par>
                          <p:cTn id="104" presetID="10" presetClass="entr" presetSubtype="0" fill="hold" nodeType="withEffect">
                            <p:stCondLst>
                              <p:cond delay="96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600"/>
                                  <p:tgtEl>
                                    <p:spTgt spid="29"/>
                                  </p:tgtEl>
                                </p:cBhvr>
                              </p:animEffect>
                              <p:anim calcmode="lin" valueType="num">
                                <p:cBhvr>
                                  <p:cTn id="107" dur="600" decel="100000" fill="hold"/>
                                  <p:tgtEl>
                                    <p:spTgt spid="29"/>
                                  </p:tgtEl>
                                  <p:attrNameLst>
                                    <p:attrName>ppt_y</p:attrName>
                                  </p:attrNameLst>
                                </p:cBhvr>
                                <p:tavLst>
                                  <p:tav tm="0">
                                    <p:val>
                                      <p:strVal val="#ppt_y+0.03"/>
                                    </p:val>
                                  </p:tav>
                                  <p:tav tm="100000">
                                    <p:val>
                                      <p:strVal val="#ppt_y"/>
                                    </p:val>
                                  </p:tav>
                                </p:tavLst>
                              </p:anim>
                            </p:childTnLst>
                          </p:cTn>
                        </p:par>
                        <p:par>
                          <p:cTn id="108" presetID="10" presetClass="entr" presetSubtype="0" fill="hold" nodeType="withEffect">
                            <p:stCondLst>
                              <p:cond delay="102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600"/>
                                  <p:tgtEl>
                                    <p:spTgt spid="30"/>
                                  </p:tgtEl>
                                </p:cBhvr>
                              </p:animEffect>
                              <p:anim calcmode="lin" valueType="num">
                                <p:cBhvr>
                                  <p:cTn id="111" dur="600" decel="100000" fill="hold"/>
                                  <p:tgtEl>
                                    <p:spTgt spid="30"/>
                                  </p:tgtEl>
                                  <p:attrNameLst>
                                    <p:attrName>ppt_y</p:attrName>
                                  </p:attrNameLst>
                                </p:cBhvr>
                                <p:tavLst>
                                  <p:tav tm="0">
                                    <p:val>
                                      <p:strVal val="#ppt_y+0.03"/>
                                    </p:val>
                                  </p:tav>
                                  <p:tav tm="100000">
                                    <p:val>
                                      <p:strVal val="#ppt_y"/>
                                    </p:val>
                                  </p:tav>
                                </p:tavLst>
                              </p:anim>
                            </p:childTnLst>
                          </p:cTn>
                        </p:par>
                        <p:par>
                          <p:cTn id="112" presetID="10" presetClass="entr" presetSubtype="0" fill="hold" nodeType="withEffect">
                            <p:stCondLst>
                              <p:cond delay="1350"/>
                            </p:stCondLst>
                            <p:childTnLst>
                              <p:set>
                                <p:cBhvr>
                                  <p:cTn id="113" dur="1" fill="hold">
                                    <p:stCondLst>
                                      <p:cond delay="0"/>
                                    </p:stCondLst>
                                  </p:cTn>
                                  <p:tgtEl>
                                    <p:spTgt spid="31"/>
                                  </p:tgtEl>
                                  <p:attrNameLst>
                                    <p:attrName>style.visibility</p:attrName>
                                  </p:attrNameLst>
                                </p:cBhvr>
                                <p:to>
                                  <p:strVal val="visible"/>
                                </p:to>
                              </p:set>
                              <p:animEffect transition="in" filter="fade">
                                <p:cBhvr>
                                  <p:cTn id="114" dur="600"/>
                                  <p:tgtEl>
                                    <p:spTgt spid="31"/>
                                  </p:tgtEl>
                                </p:cBhvr>
                              </p:animEffect>
                              <p:anim calcmode="lin" valueType="num">
                                <p:cBhvr>
                                  <p:cTn id="115" dur="600" decel="100000" fill="hold"/>
                                  <p:tgtEl>
                                    <p:spTgt spid="31"/>
                                  </p:tgtEl>
                                  <p:attrNameLst>
                                    <p:attrName>ppt_y</p:attrName>
                                  </p:attrNameLst>
                                </p:cBhvr>
                                <p:tavLst>
                                  <p:tav tm="0">
                                    <p:val>
                                      <p:strVal val="#ppt_y+0.03"/>
                                    </p:val>
                                  </p:tav>
                                  <p:tav tm="100000">
                                    <p:val>
                                      <p:strVal val="#ppt_y"/>
                                    </p:val>
                                  </p:tav>
                                </p:tavLst>
                              </p:anim>
                            </p:childTnLst>
                          </p:cTn>
                        </p:par>
                        <p:par>
                          <p:cTn id="116" presetID="10" presetClass="entr" presetSubtype="0" fill="hold" nodeType="withEffect">
                            <p:stCondLst>
                              <p:cond delay="1410"/>
                            </p:stCondLst>
                            <p:childTnLst>
                              <p:set>
                                <p:cBhvr>
                                  <p:cTn id="117" dur="1" fill="hold">
                                    <p:stCondLst>
                                      <p:cond delay="0"/>
                                    </p:stCondLst>
                                  </p:cTn>
                                  <p:tgtEl>
                                    <p:spTgt spid="32"/>
                                  </p:tgtEl>
                                  <p:attrNameLst>
                                    <p:attrName>style.visibility</p:attrName>
                                  </p:attrNameLst>
                                </p:cBhvr>
                                <p:to>
                                  <p:strVal val="visible"/>
                                </p:to>
                              </p:set>
                              <p:animEffect transition="in" filter="fade">
                                <p:cBhvr>
                                  <p:cTn id="118" dur="600"/>
                                  <p:tgtEl>
                                    <p:spTgt spid="32"/>
                                  </p:tgtEl>
                                </p:cBhvr>
                              </p:animEffect>
                              <p:anim calcmode="lin" valueType="num">
                                <p:cBhvr>
                                  <p:cTn id="119" dur="600" decel="100000" fill="hold"/>
                                  <p:tgtEl>
                                    <p:spTgt spid="32"/>
                                  </p:tgtEl>
                                  <p:attrNameLst>
                                    <p:attrName>ppt_y</p:attrName>
                                  </p:attrNameLst>
                                </p:cBhvr>
                                <p:tavLst>
                                  <p:tav tm="0">
                                    <p:val>
                                      <p:strVal val="#ppt_y+0.03"/>
                                    </p:val>
                                  </p:tav>
                                  <p:tav tm="100000">
                                    <p:val>
                                      <p:strVal val="#ppt_y"/>
                                    </p:val>
                                  </p:tav>
                                </p:tavLst>
                              </p:anim>
                            </p:childTnLst>
                          </p:cTn>
                        </p:par>
                        <p:par>
                          <p:cTn id="120" presetID="10" presetClass="entr" presetSubtype="0" fill="hold" nodeType="withEffect">
                            <p:stCondLst>
                              <p:cond delay="147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600"/>
                                  <p:tgtEl>
                                    <p:spTgt spid="33"/>
                                  </p:tgtEl>
                                </p:cBhvr>
                              </p:animEffect>
                              <p:anim calcmode="lin" valueType="num">
                                <p:cBhvr>
                                  <p:cTn id="123" dur="600" decel="100000" fill="hold"/>
                                  <p:tgtEl>
                                    <p:spTgt spid="33"/>
                                  </p:tgtEl>
                                  <p:attrNameLst>
                                    <p:attrName>ppt_y</p:attrName>
                                  </p:attrNameLst>
                                </p:cBhvr>
                                <p:tavLst>
                                  <p:tav tm="0">
                                    <p:val>
                                      <p:strVal val="#ppt_y+0.03"/>
                                    </p:val>
                                  </p:tav>
                                  <p:tav tm="100000">
                                    <p:val>
                                      <p:strVal val="#ppt_y"/>
                                    </p:val>
                                  </p:tav>
                                </p:tavLst>
                              </p:anim>
                            </p:childTnLst>
                          </p:cTn>
                        </p:par>
                        <p:par>
                          <p:cTn id="124" presetID="10" presetClass="entr" presetSubtype="0" fill="hold" nodeType="withEffect">
                            <p:stCondLst>
                              <p:cond delay="180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600"/>
                                  <p:tgtEl>
                                    <p:spTgt spid="34"/>
                                  </p:tgtEl>
                                </p:cBhvr>
                              </p:animEffect>
                              <p:anim calcmode="lin" valueType="num">
                                <p:cBhvr>
                                  <p:cTn id="127" dur="600" decel="100000" fill="hold"/>
                                  <p:tgtEl>
                                    <p:spTgt spid="34"/>
                                  </p:tgtEl>
                                  <p:attrNameLst>
                                    <p:attrName>ppt_y</p:attrName>
                                  </p:attrNameLst>
                                </p:cBhvr>
                                <p:tavLst>
                                  <p:tav tm="0">
                                    <p:val>
                                      <p:strVal val="#ppt_y+0.03"/>
                                    </p:val>
                                  </p:tav>
                                  <p:tav tm="100000">
                                    <p:val>
                                      <p:strVal val="#ppt_y"/>
                                    </p:val>
                                  </p:tav>
                                </p:tavLst>
                              </p:anim>
                            </p:childTnLst>
                          </p:cTn>
                        </p:par>
                        <p:par>
                          <p:cTn id="128" presetID="10" presetClass="entr" presetSubtype="0" fill="hold" nodeType="withEffect">
                            <p:stCondLst>
                              <p:cond delay="186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600"/>
                                  <p:tgtEl>
                                    <p:spTgt spid="35"/>
                                  </p:tgtEl>
                                </p:cBhvr>
                              </p:animEffect>
                              <p:anim calcmode="lin" valueType="num">
                                <p:cBhvr>
                                  <p:cTn id="131" dur="600" decel="100000" fill="hold"/>
                                  <p:tgtEl>
                                    <p:spTgt spid="35"/>
                                  </p:tgtEl>
                                  <p:attrNameLst>
                                    <p:attrName>ppt_y</p:attrName>
                                  </p:attrNameLst>
                                </p:cBhvr>
                                <p:tavLst>
                                  <p:tav tm="0">
                                    <p:val>
                                      <p:strVal val="#ppt_y+0.03"/>
                                    </p:val>
                                  </p:tav>
                                  <p:tav tm="100000">
                                    <p:val>
                                      <p:strVal val="#ppt_y"/>
                                    </p:val>
                                  </p:tav>
                                </p:tavLst>
                              </p:anim>
                            </p:childTnLst>
                          </p:cTn>
                        </p:par>
                        <p:par>
                          <p:cTn id="132" presetID="10" presetClass="entr" presetSubtype="0" fill="hold" nodeType="withEffect">
                            <p:stCondLst>
                              <p:cond delay="1920"/>
                            </p:stCondLst>
                            <p:childTnLst>
                              <p:set>
                                <p:cBhvr>
                                  <p:cTn id="133" dur="1" fill="hold">
                                    <p:stCondLst>
                                      <p:cond delay="0"/>
                                    </p:stCondLst>
                                  </p:cTn>
                                  <p:tgtEl>
                                    <p:spTgt spid="36"/>
                                  </p:tgtEl>
                                  <p:attrNameLst>
                                    <p:attrName>style.visibility</p:attrName>
                                  </p:attrNameLst>
                                </p:cBhvr>
                                <p:to>
                                  <p:strVal val="visible"/>
                                </p:to>
                              </p:set>
                              <p:animEffect transition="in" filter="fade">
                                <p:cBhvr>
                                  <p:cTn id="134" dur="600"/>
                                  <p:tgtEl>
                                    <p:spTgt spid="36"/>
                                  </p:tgtEl>
                                </p:cBhvr>
                              </p:animEffect>
                              <p:anim calcmode="lin" valueType="num">
                                <p:cBhvr>
                                  <p:cTn id="135" dur="600" decel="100000" fill="hold"/>
                                  <p:tgtEl>
                                    <p:spTgt spid="36"/>
                                  </p:tgtEl>
                                  <p:attrNameLst>
                                    <p:attrName>ppt_y</p:attrName>
                                  </p:attrNameLst>
                                </p:cBhvr>
                                <p:tavLst>
                                  <p:tav tm="0">
                                    <p:val>
                                      <p:strVal val="#ppt_y+0.03"/>
                                    </p:val>
                                  </p:tav>
                                  <p:tav tm="100000">
                                    <p:val>
                                      <p:strVal val="#ppt_y"/>
                                    </p:val>
                                  </p:tav>
                                </p:tavLst>
                              </p:anim>
                            </p:childTnLst>
                          </p:cTn>
                        </p:par>
                        <p:par>
                          <p:cTn id="136" presetID="10" presetClass="entr" presetSubtype="0" fill="hold" nodeType="withEffect">
                            <p:stCondLst>
                              <p:cond delay="2250"/>
                            </p:stCondLst>
                            <p:childTnLst>
                              <p:set>
                                <p:cBhvr>
                                  <p:cTn id="137" dur="1" fill="hold">
                                    <p:stCondLst>
                                      <p:cond delay="0"/>
                                    </p:stCondLst>
                                  </p:cTn>
                                  <p:tgtEl>
                                    <p:spTgt spid="37"/>
                                  </p:tgtEl>
                                  <p:attrNameLst>
                                    <p:attrName>style.visibility</p:attrName>
                                  </p:attrNameLst>
                                </p:cBhvr>
                                <p:to>
                                  <p:strVal val="visible"/>
                                </p:to>
                              </p:set>
                              <p:animEffect transition="in" filter="fade">
                                <p:cBhvr>
                                  <p:cTn id="138" dur="600"/>
                                  <p:tgtEl>
                                    <p:spTgt spid="37"/>
                                  </p:tgtEl>
                                </p:cBhvr>
                              </p:animEffect>
                              <p:anim calcmode="lin" valueType="num">
                                <p:cBhvr>
                                  <p:cTn id="139" dur="600" decel="100000" fill="hold"/>
                                  <p:tgtEl>
                                    <p:spTgt spid="37"/>
                                  </p:tgtEl>
                                  <p:attrNameLst>
                                    <p:attrName>ppt_y</p:attrName>
                                  </p:attrNameLst>
                                </p:cBhvr>
                                <p:tavLst>
                                  <p:tav tm="0">
                                    <p:val>
                                      <p:strVal val="#ppt_y+0.03"/>
                                    </p:val>
                                  </p:tav>
                                  <p:tav tm="100000">
                                    <p:val>
                                      <p:strVal val="#ppt_y"/>
                                    </p:val>
                                  </p:tav>
                                </p:tavLst>
                              </p:anim>
                            </p:childTnLst>
                          </p:cTn>
                        </p:par>
                        <p:par>
                          <p:cTn id="140" presetID="10" presetClass="entr" presetSubtype="0" fill="hold" nodeType="withEffect">
                            <p:stCondLst>
                              <p:cond delay="2310"/>
                            </p:stCondLst>
                            <p:childTnLst>
                              <p:set>
                                <p:cBhvr>
                                  <p:cTn id="141" dur="1" fill="hold">
                                    <p:stCondLst>
                                      <p:cond delay="0"/>
                                    </p:stCondLst>
                                  </p:cTn>
                                  <p:tgtEl>
                                    <p:spTgt spid="38"/>
                                  </p:tgtEl>
                                  <p:attrNameLst>
                                    <p:attrName>style.visibility</p:attrName>
                                  </p:attrNameLst>
                                </p:cBhvr>
                                <p:to>
                                  <p:strVal val="visible"/>
                                </p:to>
                              </p:set>
                              <p:animEffect transition="in" filter="fade">
                                <p:cBhvr>
                                  <p:cTn id="142" dur="600"/>
                                  <p:tgtEl>
                                    <p:spTgt spid="38"/>
                                  </p:tgtEl>
                                </p:cBhvr>
                              </p:animEffect>
                              <p:anim calcmode="lin" valueType="num">
                                <p:cBhvr>
                                  <p:cTn id="143" dur="600" decel="100000" fill="hold"/>
                                  <p:tgtEl>
                                    <p:spTgt spid="38"/>
                                  </p:tgtEl>
                                  <p:attrNameLst>
                                    <p:attrName>ppt_y</p:attrName>
                                  </p:attrNameLst>
                                </p:cBhvr>
                                <p:tavLst>
                                  <p:tav tm="0">
                                    <p:val>
                                      <p:strVal val="#ppt_y+0.03"/>
                                    </p:val>
                                  </p:tav>
                                  <p:tav tm="100000">
                                    <p:val>
                                      <p:strVal val="#ppt_y"/>
                                    </p:val>
                                  </p:tav>
                                </p:tavLst>
                              </p:anim>
                            </p:childTnLst>
                          </p:cTn>
                        </p:par>
                        <p:par>
                          <p:cTn id="144" presetID="10" presetClass="entr" presetSubtype="0" fill="hold" nodeType="withEffect">
                            <p:stCondLst>
                              <p:cond delay="2370"/>
                            </p:stCondLst>
                            <p:childTnLst>
                              <p:set>
                                <p:cBhvr>
                                  <p:cTn id="145" dur="1" fill="hold">
                                    <p:stCondLst>
                                      <p:cond delay="0"/>
                                    </p:stCondLst>
                                  </p:cTn>
                                  <p:tgtEl>
                                    <p:spTgt spid="39"/>
                                  </p:tgtEl>
                                  <p:attrNameLst>
                                    <p:attrName>style.visibility</p:attrName>
                                  </p:attrNameLst>
                                </p:cBhvr>
                                <p:to>
                                  <p:strVal val="visible"/>
                                </p:to>
                              </p:set>
                              <p:animEffect transition="in" filter="fade">
                                <p:cBhvr>
                                  <p:cTn id="146" dur="600"/>
                                  <p:tgtEl>
                                    <p:spTgt spid="39"/>
                                  </p:tgtEl>
                                </p:cBhvr>
                              </p:animEffect>
                              <p:anim calcmode="lin" valueType="num">
                                <p:cBhvr>
                                  <p:cTn id="147" dur="600" decel="100000" fill="hold"/>
                                  <p:tgtEl>
                                    <p:spTgt spid="39"/>
                                  </p:tgtEl>
                                  <p:attrNameLst>
                                    <p:attrName>ppt_y</p:attrName>
                                  </p:attrNameLst>
                                </p:cBhvr>
                                <p:tavLst>
                                  <p:tav tm="0">
                                    <p:val>
                                      <p:strVal val="#ppt_y+0.03"/>
                                    </p:val>
                                  </p:tav>
                                  <p:tav tm="100000">
                                    <p:val>
                                      <p:strVal val="#ppt_y"/>
                                    </p:val>
                                  </p:tav>
                                </p:tavLst>
                              </p:anim>
                            </p:childTnLst>
                          </p:cTn>
                        </p:par>
                        <p:par>
                          <p:cTn id="148" presetID="10" presetClass="entr" presetSubtype="0" fill="hold" nodeType="withEffect">
                            <p:stCondLst>
                              <p:cond delay="2700"/>
                            </p:stCondLst>
                            <p:childTnLst>
                              <p:set>
                                <p:cBhvr>
                                  <p:cTn id="149" dur="1" fill="hold">
                                    <p:stCondLst>
                                      <p:cond delay="0"/>
                                    </p:stCondLst>
                                  </p:cTn>
                                  <p:tgtEl>
                                    <p:spTgt spid="40"/>
                                  </p:tgtEl>
                                  <p:attrNameLst>
                                    <p:attrName>style.visibility</p:attrName>
                                  </p:attrNameLst>
                                </p:cBhvr>
                                <p:to>
                                  <p:strVal val="visible"/>
                                </p:to>
                              </p:set>
                              <p:animEffect transition="in" filter="fade">
                                <p:cBhvr>
                                  <p:cTn id="150" dur="600"/>
                                  <p:tgtEl>
                                    <p:spTgt spid="40"/>
                                  </p:tgtEl>
                                </p:cBhvr>
                              </p:animEffect>
                              <p:anim calcmode="lin" valueType="num">
                                <p:cBhvr>
                                  <p:cTn id="151" dur="600" decel="100000" fill="hold"/>
                                  <p:tgtEl>
                                    <p:spTgt spid="40"/>
                                  </p:tgtEl>
                                  <p:attrNameLst>
                                    <p:attrName>ppt_y</p:attrName>
                                  </p:attrNameLst>
                                </p:cBhvr>
                                <p:tavLst>
                                  <p:tav tm="0">
                                    <p:val>
                                      <p:strVal val="#ppt_y+0.03"/>
                                    </p:val>
                                  </p:tav>
                                  <p:tav tm="100000">
                                    <p:val>
                                      <p:strVal val="#ppt_y"/>
                                    </p:val>
                                  </p:tav>
                                </p:tavLst>
                              </p:anim>
                            </p:childTnLst>
                          </p:cTn>
                        </p:par>
                        <p:par>
                          <p:cTn id="152" presetID="10" presetClass="entr" presetSubtype="0" fill="hold" nodeType="withEffect">
                            <p:stCondLst>
                              <p:cond delay="2760"/>
                            </p:stCondLst>
                            <p:childTnLst>
                              <p:set>
                                <p:cBhvr>
                                  <p:cTn id="153" dur="1" fill="hold">
                                    <p:stCondLst>
                                      <p:cond delay="0"/>
                                    </p:stCondLst>
                                  </p:cTn>
                                  <p:tgtEl>
                                    <p:spTgt spid="41"/>
                                  </p:tgtEl>
                                  <p:attrNameLst>
                                    <p:attrName>style.visibility</p:attrName>
                                  </p:attrNameLst>
                                </p:cBhvr>
                                <p:to>
                                  <p:strVal val="visible"/>
                                </p:to>
                              </p:set>
                              <p:animEffect transition="in" filter="fade">
                                <p:cBhvr>
                                  <p:cTn id="154" dur="600"/>
                                  <p:tgtEl>
                                    <p:spTgt spid="41"/>
                                  </p:tgtEl>
                                </p:cBhvr>
                              </p:animEffect>
                              <p:anim calcmode="lin" valueType="num">
                                <p:cBhvr>
                                  <p:cTn id="155" dur="600" decel="100000" fill="hold"/>
                                  <p:tgtEl>
                                    <p:spTgt spid="41"/>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6400800" cy="411480"/>
          </a:xfrm>
          <a:prstGeom prst="rect">
            <a:avLst/>
          </a:prstGeom>
          <a:noFill/>
          <a:ln/>
        </p:spPr>
        <p:txBody>
          <a:bodyPr wrap="square" rtlCol="0"/>
          <a:lstStyle/>
          <a:p>
            <a:pPr indent="0" marL="0">
              <a:buNone/>
            </a:pPr>
            <a:r>
              <a:rPr lang="en-US" sz="1800" dirty="0">
                <a:solidFill>
                  <a:schemeClr val="accent4"/>
                </a:solidFill>
              </a:rPr>
              <a:t>Option · proposition séparée</a:t>
            </a:r>
            <a:endParaRPr lang="en-US" sz="1800" dirty="0"/>
          </a:p>
        </p:txBody>
      </p:sp>
      <p:sp>
        <p:nvSpPr>
          <p:cNvPr id="3" name="Text 0"/>
          <p:cNvSpPr/>
          <p:nvPr>
            <p:ph idx="101" type="title" hasCustomPrompt="1"/>
          </p:nvPr>
        </p:nvSpPr>
        <p:spPr>
          <a:xfrm>
            <a:off x="731520" y="2468880"/>
            <a:ext cx="6766560" cy="2011680"/>
          </a:xfrm>
          <a:prstGeom prst="rect">
            <a:avLst/>
          </a:prstGeom>
          <a:noFill/>
          <a:ln/>
        </p:spPr>
        <p:txBody>
          <a:bodyPr wrap="square" rtlCol="0" anchor="t"/>
          <a:lstStyle/>
          <a:p>
            <a:pPr algn="l" indent="0" marL="0">
              <a:buNone/>
            </a:pPr>
            <a:r>
              <a:rPr lang="en-US" sz="4000" b="1" dirty="0">
                <a:solidFill>
                  <a:schemeClr val="bg1"/>
                </a:solidFill>
              </a:rPr>
              <a:t>Et si un ransomware frappait demain ?</a:t>
            </a:r>
            <a:endParaRPr lang="en-US" sz="4000" dirty="0"/>
          </a:p>
        </p:txBody>
      </p:sp>
      <p:sp>
        <p:nvSpPr>
          <p:cNvPr id="4" name="a1_238"/>
          <p:cNvSpPr txBox="1"/>
          <p:nvPr/>
        </p:nvSpPr>
        <p:spPr>
          <a:xfrm>
            <a:off x="731520" y="4023360"/>
            <a:ext cx="6583680" cy="1097280"/>
          </a:xfrm>
          <a:prstGeom prst="rect">
            <a:avLst/>
          </a:prstGeom>
          <a:noFill/>
          <a:ln/>
        </p:spPr>
        <p:txBody>
          <a:bodyPr wrap="square" lIns="0" tIns="0" rIns="0" bIns="0" rtlCol="0" anchor="t"/>
          <a:lstStyle/>
          <a:p>
            <a:pPr indent="0" marL="0">
              <a:buNone/>
            </a:pPr>
            <a:r>
              <a:rPr lang="en-US" sz="2000" dirty="0">
                <a:solidFill>
                  <a:schemeClr val="accent4"/>
                </a:solidFill>
              </a:rPr>
              <a:t>Un poste infecté peut chiffrer les fichiers partagés et paralyser toute l'activité. Ajoutons une protection professionnelle.</a:t>
            </a:r>
            <a:endParaRPr lang="en-US" sz="2000" dirty="0"/>
          </a:p>
        </p:txBody>
      </p:sp>
      <p:sp>
        <p:nvSpPr>
          <p:cNvPr id="5" name="a2_239"/>
          <p:cNvSpPr/>
          <p:nvPr/>
        </p:nvSpPr>
        <p:spPr>
          <a:xfrm>
            <a:off x="8778240" y="2103120"/>
            <a:ext cx="2377440" cy="2377440"/>
          </a:xfrm>
          <a:prstGeom prst="ellipse">
            <a:avLst/>
          </a:prstGeom>
          <a:solidFill>
            <a:schemeClr val="bg1"/>
          </a:solidFill>
          <a:ln w="12700">
            <a:solidFill>
              <a:schemeClr val="bg1"/>
            </a:solidFill>
            <a:prstDash val="solid"/>
          </a:ln>
        </p:spPr>
      </p:sp>
      <p:pic>
        <p:nvPicPr>
          <p:cNvPr id="6" name="a2_240" descr="preencoded.png">    </p:cNvPr>
          <p:cNvPicPr>
            <a:picLocks noChangeAspect="1"/>
          </p:cNvPicPr>
          <p:nvPr/>
        </p:nvPicPr>
        <p:blipFill>
          <a:blip r:embed="rId1"/>
          <a:stretch>
            <a:fillRect/>
          </a:stretch>
        </p:blipFill>
        <p:spPr>
          <a:xfrm>
            <a:off x="9396374" y="2721254"/>
            <a:ext cx="1141171" cy="1141171"/>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4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51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p>
            <a:pPr indent="0" marL="0">
              <a:buNone/>
            </a:pPr>
            <a:r>
              <a:rPr lang="en-US" sz="1400" b="1" dirty="0">
                <a:solidFill>
                  <a:schemeClr val="accent1"/>
                </a:solidFill>
              </a:rPr>
              <a:t>Option sécurité · comment ça fonctionne</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p>
            <a:pPr algn="l" indent="0" marL="0">
              <a:buNone/>
            </a:pPr>
            <a:r>
              <a:rPr lang="en-US" sz="3200" b="1" dirty="0">
                <a:solidFill>
                  <a:schemeClr val="tx1"/>
                </a:solidFill>
              </a:rPr>
              <a:t>Une console, </a:t>
            </a:r>
            <a:pPr algn="l" indent="0" marL="0">
              <a:buNone/>
            </a:pPr>
            <a:r>
              <a:rPr lang="en-US" sz="3200" b="1" dirty="0">
                <a:solidFill>
                  <a:schemeClr val="accent1"/>
                </a:solidFill>
              </a:rPr>
              <a:t>tous les appareils protégés</a:t>
            </a:r>
            <a:endParaRPr lang="en-US" sz="3200" dirty="0"/>
          </a:p>
        </p:txBody>
      </p:sp>
      <p:sp>
        <p:nvSpPr>
          <p:cNvPr id="4" name="a1_241"/>
          <p:cNvSpPr/>
          <p:nvPr/>
        </p:nvSpPr>
        <p:spPr>
          <a:xfrm>
            <a:off x="640080" y="3017520"/>
            <a:ext cx="1097280" cy="1097280"/>
          </a:xfrm>
          <a:prstGeom prst="ellipse">
            <a:avLst/>
          </a:prstGeom>
          <a:solidFill>
            <a:schemeClr val="accent2"/>
          </a:solidFill>
          <a:ln w="12700">
            <a:solidFill>
              <a:schemeClr val="accent2"/>
            </a:solidFill>
            <a:prstDash val="solid"/>
          </a:ln>
        </p:spPr>
      </p:sp>
      <p:pic>
        <p:nvPicPr>
          <p:cNvPr id="5" name="a1_242" descr="preencoded.png">    </p:cNvPr>
          <p:cNvPicPr>
            <a:picLocks noChangeAspect="1"/>
          </p:cNvPicPr>
          <p:nvPr/>
        </p:nvPicPr>
        <p:blipFill>
          <a:blip r:embed="rId1"/>
          <a:stretch>
            <a:fillRect/>
          </a:stretch>
        </p:blipFill>
        <p:spPr>
          <a:xfrm>
            <a:off x="925373" y="3302813"/>
            <a:ext cx="526694" cy="526694"/>
          </a:xfrm>
          <a:prstGeom prst="rect">
            <a:avLst/>
          </a:prstGeom>
        </p:spPr>
      </p:pic>
      <p:sp>
        <p:nvSpPr>
          <p:cNvPr id="6" name="a1_243"/>
          <p:cNvSpPr txBox="1"/>
          <p:nvPr/>
        </p:nvSpPr>
        <p:spPr>
          <a:xfrm>
            <a:off x="274320" y="4206240"/>
            <a:ext cx="1828800" cy="365760"/>
          </a:xfrm>
          <a:prstGeom prst="rect">
            <a:avLst/>
          </a:prstGeom>
          <a:noFill/>
          <a:ln/>
        </p:spPr>
        <p:txBody>
          <a:bodyPr wrap="square" lIns="0" tIns="0" rIns="0" bIns="0" rtlCol="0" anchor="ctr"/>
          <a:lstStyle/>
          <a:p>
            <a:pPr algn="ctr" indent="0" marL="0">
              <a:buNone/>
            </a:pPr>
            <a:r>
              <a:rPr lang="en-US" sz="1500" b="1" dirty="0">
                <a:solidFill>
                  <a:schemeClr val="tx2"/>
                </a:solidFill>
              </a:rPr>
              <a:t>Administrateur</a:t>
            </a:r>
            <a:endParaRPr lang="en-US" sz="1500" dirty="0"/>
          </a:p>
        </p:txBody>
      </p:sp>
      <p:sp>
        <p:nvSpPr>
          <p:cNvPr id="7" name="a2_244"/>
          <p:cNvSpPr/>
          <p:nvPr/>
        </p:nvSpPr>
        <p:spPr>
          <a:xfrm>
            <a:off x="1828800" y="3566160"/>
            <a:ext cx="731520" cy="0"/>
          </a:xfrm>
          <a:prstGeom prst="line">
            <a:avLst/>
          </a:prstGeom>
          <a:noFill/>
          <a:ln w="38100">
            <a:solidFill>
              <a:schemeClr val="accent2"/>
            </a:solidFill>
            <a:prstDash val="dash"/>
          </a:ln>
        </p:spPr>
      </p:sp>
      <p:sp>
        <p:nvSpPr>
          <p:cNvPr id="8" name="a2_245"/>
          <p:cNvSpPr/>
          <p:nvPr/>
        </p:nvSpPr>
        <p:spPr>
          <a:xfrm>
            <a:off x="2651760" y="2834640"/>
            <a:ext cx="2103120" cy="1463040"/>
          </a:xfrm>
          <a:prstGeom prst="roundRect">
            <a:avLst>
              <a:gd name="adj" fmla="val 8750"/>
            </a:avLst>
          </a:prstGeom>
          <a:solidFill>
            <a:schemeClr val="tx2"/>
          </a:solidFill>
          <a:ln w="12700">
            <a:solidFill>
              <a:schemeClr val="tx2"/>
            </a:solidFill>
            <a:prstDash val="solid"/>
          </a:ln>
          <a:effectLst>
            <a:outerShdw sx="100000" sy="100000" kx="0" ky="0" algn="bl" rotWithShape="0" blurRad="127000" dist="38100" dir="5400000">
              <a:srgbClr val="0B2A6F">
                <a:alpha val="12000"/>
              </a:srgbClr>
            </a:outerShdw>
          </a:effectLst>
        </p:spPr>
      </p:sp>
      <p:sp>
        <p:nvSpPr>
          <p:cNvPr id="9" name="a2_246"/>
          <p:cNvSpPr txBox="1"/>
          <p:nvPr/>
        </p:nvSpPr>
        <p:spPr>
          <a:xfrm>
            <a:off x="2788920" y="2834640"/>
            <a:ext cx="1828800" cy="1463040"/>
          </a:xfrm>
          <a:prstGeom prst="rect">
            <a:avLst/>
          </a:prstGeom>
          <a:noFill/>
          <a:ln/>
        </p:spPr>
        <p:txBody>
          <a:bodyPr wrap="square" lIns="0" tIns="0" rIns="0" bIns="0" rtlCol="0" anchor="ctr"/>
          <a:lstStyle/>
          <a:p>
            <a:pPr algn="ctr" indent="0" marL="0">
              <a:buNone/>
            </a:pPr>
            <a:r>
              <a:rPr lang="en-US" sz="1600" b="1" dirty="0">
                <a:solidFill>
                  <a:schemeClr val="bg1"/>
                </a:solidFill>
              </a:rPr>
              <a:t>Console de gestion</a:t>
            </a:r>
            <a:endParaRPr lang="en-US" sz="1600" dirty="0"/>
          </a:p>
          <a:p>
            <a:pPr algn="ctr" indent="0" marL="0">
              <a:buNone/>
            </a:pPr>
            <a:r>
              <a:rPr lang="en-US" sz="1300" dirty="0">
                <a:solidFill>
                  <a:schemeClr val="bg1"/>
                </a:solidFill>
              </a:rPr>
              <a:t>dans le cloud (ou sur site)</a:t>
            </a:r>
            <a:endParaRPr lang="en-US" sz="1600" dirty="0"/>
          </a:p>
        </p:txBody>
      </p:sp>
      <p:sp>
        <p:nvSpPr>
          <p:cNvPr id="10" name="a3_247"/>
          <p:cNvSpPr/>
          <p:nvPr/>
        </p:nvSpPr>
        <p:spPr>
          <a:xfrm>
            <a:off x="4846320" y="3566160"/>
            <a:ext cx="822960" cy="0"/>
          </a:xfrm>
          <a:prstGeom prst="line">
            <a:avLst/>
          </a:prstGeom>
          <a:noFill/>
          <a:ln w="38100">
            <a:solidFill>
              <a:schemeClr val="accent1"/>
            </a:solidFill>
            <a:prstDash val="solid"/>
            <a:headEnd type="triangle"/>
            <a:tailEnd type="triangle"/>
          </a:ln>
        </p:spPr>
      </p:sp>
      <p:sp>
        <p:nvSpPr>
          <p:cNvPr id="11" name="a3_248"/>
          <p:cNvSpPr/>
          <p:nvPr/>
        </p:nvSpPr>
        <p:spPr>
          <a:xfrm>
            <a:off x="5852160" y="1600200"/>
            <a:ext cx="3931920" cy="3931920"/>
          </a:xfrm>
          <a:prstGeom prst="ellipse">
            <a:avLst/>
          </a:prstGeom>
          <a:solidFill>
            <a:schemeClr val="bg2"/>
          </a:solidFill>
          <a:ln w="19050">
            <a:solidFill>
              <a:schemeClr val="accent4"/>
            </a:solidFill>
            <a:prstDash val="dash"/>
          </a:ln>
        </p:spPr>
      </p:sp>
      <p:sp>
        <p:nvSpPr>
          <p:cNvPr id="12" name="a3_249"/>
          <p:cNvSpPr/>
          <p:nvPr/>
        </p:nvSpPr>
        <p:spPr>
          <a:xfrm>
            <a:off x="7406640" y="3154680"/>
            <a:ext cx="822960" cy="822960"/>
          </a:xfrm>
          <a:prstGeom prst="ellipse">
            <a:avLst/>
          </a:prstGeom>
          <a:solidFill>
            <a:schemeClr val="accent1"/>
          </a:solidFill>
          <a:ln w="12700">
            <a:solidFill>
              <a:schemeClr val="accent1"/>
            </a:solidFill>
            <a:prstDash val="solid"/>
          </a:ln>
        </p:spPr>
      </p:sp>
      <p:pic>
        <p:nvPicPr>
          <p:cNvPr id="13" name="a3_250" descr="preencoded.png">    </p:cNvPr>
          <p:cNvPicPr>
            <a:picLocks noChangeAspect="1"/>
          </p:cNvPicPr>
          <p:nvPr/>
        </p:nvPicPr>
        <p:blipFill>
          <a:blip r:embed="rId2"/>
          <a:stretch>
            <a:fillRect/>
          </a:stretch>
        </p:blipFill>
        <p:spPr>
          <a:xfrm>
            <a:off x="7620610" y="3368650"/>
            <a:ext cx="395021" cy="395021"/>
          </a:xfrm>
          <a:prstGeom prst="rect">
            <a:avLst/>
          </a:prstGeom>
        </p:spPr>
      </p:pic>
      <p:sp>
        <p:nvSpPr>
          <p:cNvPr id="14" name="a4_251"/>
          <p:cNvSpPr/>
          <p:nvPr/>
        </p:nvSpPr>
        <p:spPr>
          <a:xfrm>
            <a:off x="7498080" y="1737360"/>
            <a:ext cx="640080" cy="640080"/>
          </a:xfrm>
          <a:prstGeom prst="ellipse">
            <a:avLst/>
          </a:prstGeom>
          <a:solidFill>
            <a:schemeClr val="bg1"/>
          </a:solidFill>
          <a:ln w="12700">
            <a:solidFill>
              <a:schemeClr val="bg1"/>
            </a:solidFill>
            <a:prstDash val="solid"/>
          </a:ln>
        </p:spPr>
      </p:sp>
      <p:pic>
        <p:nvPicPr>
          <p:cNvPr id="15" name="a4_252" descr="preencoded.png">    </p:cNvPr>
          <p:cNvPicPr>
            <a:picLocks noChangeAspect="1"/>
          </p:cNvPicPr>
          <p:nvPr/>
        </p:nvPicPr>
        <p:blipFill>
          <a:blip r:embed="rId3"/>
          <a:stretch>
            <a:fillRect/>
          </a:stretch>
        </p:blipFill>
        <p:spPr>
          <a:xfrm>
            <a:off x="7664501" y="1903781"/>
            <a:ext cx="307238" cy="307238"/>
          </a:xfrm>
          <a:prstGeom prst="rect">
            <a:avLst/>
          </a:prstGeom>
        </p:spPr>
      </p:pic>
      <p:sp>
        <p:nvSpPr>
          <p:cNvPr id="16" name="a4_253"/>
          <p:cNvSpPr/>
          <p:nvPr/>
        </p:nvSpPr>
        <p:spPr>
          <a:xfrm>
            <a:off x="8804704" y="2491740"/>
            <a:ext cx="640080" cy="640080"/>
          </a:xfrm>
          <a:prstGeom prst="ellipse">
            <a:avLst/>
          </a:prstGeom>
          <a:solidFill>
            <a:schemeClr val="bg1"/>
          </a:solidFill>
          <a:ln w="12700">
            <a:solidFill>
              <a:schemeClr val="bg1"/>
            </a:solidFill>
            <a:prstDash val="solid"/>
          </a:ln>
        </p:spPr>
      </p:sp>
      <p:pic>
        <p:nvPicPr>
          <p:cNvPr id="17" name="a4_254" descr="preencoded.png">    </p:cNvPr>
          <p:cNvPicPr>
            <a:picLocks noChangeAspect="1"/>
          </p:cNvPicPr>
          <p:nvPr/>
        </p:nvPicPr>
        <p:blipFill>
          <a:blip r:embed="rId4"/>
          <a:stretch>
            <a:fillRect/>
          </a:stretch>
        </p:blipFill>
        <p:spPr>
          <a:xfrm>
            <a:off x="8971125" y="2658161"/>
            <a:ext cx="307238" cy="307238"/>
          </a:xfrm>
          <a:prstGeom prst="rect">
            <a:avLst/>
          </a:prstGeom>
        </p:spPr>
      </p:pic>
      <p:sp>
        <p:nvSpPr>
          <p:cNvPr id="18" name="a4_255"/>
          <p:cNvSpPr/>
          <p:nvPr/>
        </p:nvSpPr>
        <p:spPr>
          <a:xfrm>
            <a:off x="8804704" y="4000500"/>
            <a:ext cx="640080" cy="640080"/>
          </a:xfrm>
          <a:prstGeom prst="ellipse">
            <a:avLst/>
          </a:prstGeom>
          <a:solidFill>
            <a:schemeClr val="bg1"/>
          </a:solidFill>
          <a:ln w="12700">
            <a:solidFill>
              <a:schemeClr val="bg1"/>
            </a:solidFill>
            <a:prstDash val="solid"/>
          </a:ln>
        </p:spPr>
      </p:sp>
      <p:pic>
        <p:nvPicPr>
          <p:cNvPr id="19" name="a4_256" descr="preencoded.png">    </p:cNvPr>
          <p:cNvPicPr>
            <a:picLocks noChangeAspect="1"/>
          </p:cNvPicPr>
          <p:nvPr/>
        </p:nvPicPr>
        <p:blipFill>
          <a:blip r:embed="rId5"/>
          <a:stretch>
            <a:fillRect/>
          </a:stretch>
        </p:blipFill>
        <p:spPr>
          <a:xfrm>
            <a:off x="8971125" y="4166921"/>
            <a:ext cx="307238" cy="307238"/>
          </a:xfrm>
          <a:prstGeom prst="rect">
            <a:avLst/>
          </a:prstGeom>
        </p:spPr>
      </p:pic>
      <p:sp>
        <p:nvSpPr>
          <p:cNvPr id="20" name="a4_257"/>
          <p:cNvSpPr/>
          <p:nvPr/>
        </p:nvSpPr>
        <p:spPr>
          <a:xfrm>
            <a:off x="7498080" y="4754880"/>
            <a:ext cx="640080" cy="640080"/>
          </a:xfrm>
          <a:prstGeom prst="ellipse">
            <a:avLst/>
          </a:prstGeom>
          <a:solidFill>
            <a:schemeClr val="bg1"/>
          </a:solidFill>
          <a:ln w="12700">
            <a:solidFill>
              <a:schemeClr val="bg1"/>
            </a:solidFill>
            <a:prstDash val="solid"/>
          </a:ln>
        </p:spPr>
      </p:sp>
      <p:pic>
        <p:nvPicPr>
          <p:cNvPr id="21" name="a4_258" descr="preencoded.png">    </p:cNvPr>
          <p:cNvPicPr>
            <a:picLocks noChangeAspect="1"/>
          </p:cNvPicPr>
          <p:nvPr/>
        </p:nvPicPr>
        <p:blipFill>
          <a:blip r:embed="rId6"/>
          <a:stretch>
            <a:fillRect/>
          </a:stretch>
        </p:blipFill>
        <p:spPr>
          <a:xfrm>
            <a:off x="7664501" y="4921301"/>
            <a:ext cx="307238" cy="307238"/>
          </a:xfrm>
          <a:prstGeom prst="rect">
            <a:avLst/>
          </a:prstGeom>
        </p:spPr>
      </p:pic>
      <p:sp>
        <p:nvSpPr>
          <p:cNvPr id="22" name="a4_259"/>
          <p:cNvSpPr/>
          <p:nvPr/>
        </p:nvSpPr>
        <p:spPr>
          <a:xfrm>
            <a:off x="6191456" y="4000500"/>
            <a:ext cx="640080" cy="640080"/>
          </a:xfrm>
          <a:prstGeom prst="ellipse">
            <a:avLst/>
          </a:prstGeom>
          <a:solidFill>
            <a:schemeClr val="bg1"/>
          </a:solidFill>
          <a:ln w="12700">
            <a:solidFill>
              <a:schemeClr val="bg1"/>
            </a:solidFill>
            <a:prstDash val="solid"/>
          </a:ln>
        </p:spPr>
      </p:sp>
      <p:pic>
        <p:nvPicPr>
          <p:cNvPr id="23" name="a4_260" descr="preencoded.png">    </p:cNvPr>
          <p:cNvPicPr>
            <a:picLocks noChangeAspect="1"/>
          </p:cNvPicPr>
          <p:nvPr/>
        </p:nvPicPr>
        <p:blipFill>
          <a:blip r:embed="rId7"/>
          <a:stretch>
            <a:fillRect/>
          </a:stretch>
        </p:blipFill>
        <p:spPr>
          <a:xfrm>
            <a:off x="6357876" y="4166921"/>
            <a:ext cx="307238" cy="307238"/>
          </a:xfrm>
          <a:prstGeom prst="rect">
            <a:avLst/>
          </a:prstGeom>
        </p:spPr>
      </p:pic>
      <p:sp>
        <p:nvSpPr>
          <p:cNvPr id="24" name="a4_261"/>
          <p:cNvSpPr/>
          <p:nvPr/>
        </p:nvSpPr>
        <p:spPr>
          <a:xfrm>
            <a:off x="6191456" y="2491740"/>
            <a:ext cx="640080" cy="640080"/>
          </a:xfrm>
          <a:prstGeom prst="ellipse">
            <a:avLst/>
          </a:prstGeom>
          <a:solidFill>
            <a:schemeClr val="bg1"/>
          </a:solidFill>
          <a:ln w="12700">
            <a:solidFill>
              <a:schemeClr val="bg1"/>
            </a:solidFill>
            <a:prstDash val="solid"/>
          </a:ln>
        </p:spPr>
      </p:sp>
      <p:pic>
        <p:nvPicPr>
          <p:cNvPr id="25" name="a4_262" descr="preencoded.png">    </p:cNvPr>
          <p:cNvPicPr>
            <a:picLocks noChangeAspect="1"/>
          </p:cNvPicPr>
          <p:nvPr/>
        </p:nvPicPr>
        <p:blipFill>
          <a:blip r:embed="rId8"/>
          <a:stretch>
            <a:fillRect/>
          </a:stretch>
        </p:blipFill>
        <p:spPr>
          <a:xfrm>
            <a:off x="6357876" y="2658161"/>
            <a:ext cx="307238" cy="307238"/>
          </a:xfrm>
          <a:prstGeom prst="rect">
            <a:avLst/>
          </a:prstGeom>
        </p:spPr>
      </p:pic>
      <p:sp>
        <p:nvSpPr>
          <p:cNvPr id="26" name="a4_263"/>
          <p:cNvSpPr txBox="1"/>
          <p:nvPr/>
        </p:nvSpPr>
        <p:spPr>
          <a:xfrm>
            <a:off x="5486400" y="5623560"/>
            <a:ext cx="4663440" cy="365760"/>
          </a:xfrm>
          <a:prstGeom prst="rect">
            <a:avLst/>
          </a:prstGeom>
          <a:noFill/>
          <a:ln/>
        </p:spPr>
        <p:txBody>
          <a:bodyPr wrap="square" lIns="0" tIns="0" rIns="0" bIns="0" rtlCol="0" anchor="ctr"/>
          <a:lstStyle/>
          <a:p>
            <a:pPr algn="ctr" indent="0" marL="0">
              <a:buNone/>
            </a:pPr>
            <a:r>
              <a:rPr lang="en-US" sz="1400" b="1" dirty="0">
                <a:solidFill>
                  <a:schemeClr val="tx2"/>
                </a:solidFill>
              </a:rPr>
              <a:t>Windows · macOS · Linux · serveurs · Android · iOS</a:t>
            </a:r>
            <a:endParaRPr lang="en-US" sz="1400" dirty="0"/>
          </a:p>
        </p:txBody>
      </p:sp>
      <p:sp>
        <p:nvSpPr>
          <p:cNvPr id="27" name="a5_264"/>
          <p:cNvSpPr/>
          <p:nvPr/>
        </p:nvSpPr>
        <p:spPr>
          <a:xfrm>
            <a:off x="10058400" y="1737360"/>
            <a:ext cx="1600200" cy="777240"/>
          </a:xfrm>
          <a:prstGeom prst="roundRect">
            <a:avLst>
              <a:gd name="adj" fmla="val 16471"/>
            </a:avLst>
          </a:prstGeom>
          <a:solidFill>
            <a:schemeClr val="accent1"/>
          </a:solidFill>
          <a:ln w="12700">
            <a:solidFill>
              <a:schemeClr val="accent1"/>
            </a:solidFill>
            <a:prstDash val="solid"/>
          </a:ln>
        </p:spPr>
      </p:sp>
      <p:sp>
        <p:nvSpPr>
          <p:cNvPr id="28" name="a5_265"/>
          <p:cNvSpPr txBox="1"/>
          <p:nvPr/>
        </p:nvSpPr>
        <p:spPr>
          <a:xfrm>
            <a:off x="10104120" y="1737360"/>
            <a:ext cx="1508760" cy="777240"/>
          </a:xfrm>
          <a:prstGeom prst="rect">
            <a:avLst/>
          </a:prstGeom>
          <a:noFill/>
          <a:ln/>
        </p:spPr>
        <p:txBody>
          <a:bodyPr wrap="square" lIns="0" tIns="0" rIns="0" bIns="0" rtlCol="0" anchor="ctr"/>
          <a:lstStyle/>
          <a:p>
            <a:pPr algn="ctr" indent="0" marL="0">
              <a:buNone/>
            </a:pPr>
            <a:r>
              <a:rPr lang="en-US" sz="1200" b="1" dirty="0">
                <a:solidFill>
                  <a:schemeClr val="bg1"/>
                </a:solidFill>
              </a:rPr>
              <a:t>Protection des terminaux</a:t>
            </a:r>
            <a:endParaRPr lang="en-US" sz="1200" dirty="0"/>
          </a:p>
        </p:txBody>
      </p:sp>
      <p:sp>
        <p:nvSpPr>
          <p:cNvPr id="29" name="a6_266"/>
          <p:cNvSpPr/>
          <p:nvPr/>
        </p:nvSpPr>
        <p:spPr>
          <a:xfrm>
            <a:off x="10058400" y="2697480"/>
            <a:ext cx="1600200" cy="777240"/>
          </a:xfrm>
          <a:prstGeom prst="roundRect">
            <a:avLst>
              <a:gd name="adj" fmla="val 16471"/>
            </a:avLst>
          </a:prstGeom>
          <a:solidFill>
            <a:schemeClr val="accent1"/>
          </a:solidFill>
          <a:ln w="12700">
            <a:solidFill>
              <a:schemeClr val="accent1"/>
            </a:solidFill>
            <a:prstDash val="solid"/>
          </a:ln>
        </p:spPr>
      </p:sp>
      <p:sp>
        <p:nvSpPr>
          <p:cNvPr id="30" name="a6_267"/>
          <p:cNvSpPr txBox="1"/>
          <p:nvPr/>
        </p:nvSpPr>
        <p:spPr>
          <a:xfrm>
            <a:off x="10104120" y="2697480"/>
            <a:ext cx="1508760" cy="777240"/>
          </a:xfrm>
          <a:prstGeom prst="rect">
            <a:avLst/>
          </a:prstGeom>
          <a:noFill/>
          <a:ln/>
        </p:spPr>
        <p:txBody>
          <a:bodyPr wrap="square" lIns="0" tIns="0" rIns="0" bIns="0" rtlCol="0" anchor="ctr"/>
          <a:lstStyle/>
          <a:p>
            <a:pPr algn="ctr" indent="0" marL="0">
              <a:buNone/>
            </a:pPr>
            <a:r>
              <a:rPr lang="en-US" sz="1200" b="1" dirty="0">
                <a:solidFill>
                  <a:schemeClr val="bg1"/>
                </a:solidFill>
              </a:rPr>
              <a:t>Contrôles Web, appareils, applications</a:t>
            </a:r>
            <a:endParaRPr lang="en-US" sz="1200" dirty="0"/>
          </a:p>
        </p:txBody>
      </p:sp>
      <p:sp>
        <p:nvSpPr>
          <p:cNvPr id="31" name="a7_268"/>
          <p:cNvSpPr/>
          <p:nvPr/>
        </p:nvSpPr>
        <p:spPr>
          <a:xfrm>
            <a:off x="10058400" y="3657600"/>
            <a:ext cx="1600200" cy="777240"/>
          </a:xfrm>
          <a:prstGeom prst="roundRect">
            <a:avLst>
              <a:gd name="adj" fmla="val 16471"/>
            </a:avLst>
          </a:prstGeom>
          <a:solidFill>
            <a:schemeClr val="accent1"/>
          </a:solidFill>
          <a:ln w="12700">
            <a:solidFill>
              <a:schemeClr val="accent1"/>
            </a:solidFill>
            <a:prstDash val="solid"/>
          </a:ln>
        </p:spPr>
      </p:sp>
      <p:sp>
        <p:nvSpPr>
          <p:cNvPr id="32" name="a7_269"/>
          <p:cNvSpPr txBox="1"/>
          <p:nvPr/>
        </p:nvSpPr>
        <p:spPr>
          <a:xfrm>
            <a:off x="10104120" y="3657600"/>
            <a:ext cx="1508760" cy="777240"/>
          </a:xfrm>
          <a:prstGeom prst="rect">
            <a:avLst/>
          </a:prstGeom>
          <a:noFill/>
          <a:ln/>
        </p:spPr>
        <p:txBody>
          <a:bodyPr wrap="square" lIns="0" tIns="0" rIns="0" bIns="0" rtlCol="0" anchor="ctr"/>
          <a:lstStyle/>
          <a:p>
            <a:pPr algn="ctr" indent="0" marL="0">
              <a:buNone/>
            </a:pPr>
            <a:r>
              <a:rPr lang="en-US" sz="1200" b="1" dirty="0">
                <a:solidFill>
                  <a:schemeClr val="bg1"/>
                </a:solidFill>
              </a:rPr>
              <a:t>Analyse des causes</a:t>
            </a:r>
            <a:endParaRPr lang="en-US" sz="1200" dirty="0"/>
          </a:p>
        </p:txBody>
      </p:sp>
      <p:sp>
        <p:nvSpPr>
          <p:cNvPr id="33" name="a8_270"/>
          <p:cNvSpPr/>
          <p:nvPr/>
        </p:nvSpPr>
        <p:spPr>
          <a:xfrm>
            <a:off x="10058400" y="4617720"/>
            <a:ext cx="1600200" cy="777240"/>
          </a:xfrm>
          <a:prstGeom prst="roundRect">
            <a:avLst>
              <a:gd name="adj" fmla="val 16471"/>
            </a:avLst>
          </a:prstGeom>
          <a:solidFill>
            <a:schemeClr val="accent1"/>
          </a:solidFill>
          <a:ln w="12700">
            <a:solidFill>
              <a:schemeClr val="accent1"/>
            </a:solidFill>
            <a:prstDash val="solid"/>
          </a:ln>
        </p:spPr>
      </p:sp>
      <p:sp>
        <p:nvSpPr>
          <p:cNvPr id="34" name="a8_271"/>
          <p:cNvSpPr txBox="1"/>
          <p:nvPr/>
        </p:nvSpPr>
        <p:spPr>
          <a:xfrm>
            <a:off x="10104120" y="4617720"/>
            <a:ext cx="1508760" cy="777240"/>
          </a:xfrm>
          <a:prstGeom prst="rect">
            <a:avLst/>
          </a:prstGeom>
          <a:noFill/>
          <a:ln/>
        </p:spPr>
        <p:txBody>
          <a:bodyPr wrap="square" lIns="0" tIns="0" rIns="0" bIns="0" rtlCol="0" anchor="ctr"/>
          <a:lstStyle/>
          <a:p>
            <a:pPr algn="ctr" indent="0" marL="0">
              <a:buNone/>
            </a:pPr>
            <a:r>
              <a:rPr lang="en-US" sz="1200" b="1" dirty="0">
                <a:solidFill>
                  <a:schemeClr val="bg1"/>
                </a:solidFill>
              </a:rPr>
              <a:t>Campagnes de phishing simulées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12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4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p:cTn id="19" dur="600" decel="100000" fill="hold"/>
                                  <p:tgtEl>
                                    <p:spTgt spid="7"/>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51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57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9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anim calcmode="lin" valueType="num">
                                <p:cBhvr>
                                  <p:cTn id="31" dur="600" decel="100000" fill="hold"/>
                                  <p:tgtEl>
                                    <p:spTgt spid="10"/>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9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anim calcmode="lin" valueType="num">
                                <p:cBhvr>
                                  <p:cTn id="35" dur="600" decel="100000" fill="hold"/>
                                  <p:tgtEl>
                                    <p:spTgt spid="11"/>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102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108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p:cTn id="43" dur="600" decel="100000" fill="hold"/>
                                  <p:tgtEl>
                                    <p:spTgt spid="13"/>
                                  </p:tgtEl>
                                  <p:attrNameLst>
                                    <p:attrName>ppt_y</p:attrName>
                                  </p:attrNameLst>
                                </p:cBhvr>
                                <p:tavLst>
                                  <p:tav tm="0">
                                    <p:val>
                                      <p:strVal val="#ppt_y+0.03"/>
                                    </p:val>
                                  </p:tav>
                                  <p:tav tm="100000">
                                    <p:val>
                                      <p:strVal val="#ppt_y"/>
                                    </p:val>
                                  </p:tav>
                                </p:tavLst>
                              </p:anim>
                            </p:childTnLst>
                          </p:cTn>
                        </p:par>
                        <p:par>
                          <p:cTn id="44" presetID="10" presetClass="entr" presetSubtype="0" fill="hold" nodeType="withEffect">
                            <p:stCondLst>
                              <p:cond delay="135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00"/>
                                  <p:tgtEl>
                                    <p:spTgt spid="14"/>
                                  </p:tgtEl>
                                </p:cBhvr>
                              </p:animEffect>
                              <p:anim calcmode="lin" valueType="num">
                                <p:cBhvr>
                                  <p:cTn id="47" dur="600" decel="100000" fill="hold"/>
                                  <p:tgtEl>
                                    <p:spTgt spid="14"/>
                                  </p:tgtEl>
                                  <p:attrNameLst>
                                    <p:attrName>ppt_y</p:attrName>
                                  </p:attrNameLst>
                                </p:cBhvr>
                                <p:tavLst>
                                  <p:tav tm="0">
                                    <p:val>
                                      <p:strVal val="#ppt_y+0.03"/>
                                    </p:val>
                                  </p:tav>
                                  <p:tav tm="100000">
                                    <p:val>
                                      <p:strVal val="#ppt_y"/>
                                    </p:val>
                                  </p:tav>
                                </p:tavLst>
                              </p:anim>
                            </p:childTnLst>
                          </p:cTn>
                        </p:par>
                        <p:par>
                          <p:cTn id="48" presetID="10" presetClass="entr" presetSubtype="0" fill="hold" nodeType="withEffect">
                            <p:stCondLst>
                              <p:cond delay="14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600"/>
                                  <p:tgtEl>
                                    <p:spTgt spid="15"/>
                                  </p:tgtEl>
                                </p:cBhvr>
                              </p:animEffect>
                              <p:anim calcmode="lin" valueType="num">
                                <p:cBhvr>
                                  <p:cTn id="51" dur="600" decel="100000" fill="hold"/>
                                  <p:tgtEl>
                                    <p:spTgt spid="15"/>
                                  </p:tgtEl>
                                  <p:attrNameLst>
                                    <p:attrName>ppt_y</p:attrName>
                                  </p:attrNameLst>
                                </p:cBhvr>
                                <p:tavLst>
                                  <p:tav tm="0">
                                    <p:val>
                                      <p:strVal val="#ppt_y+0.03"/>
                                    </p:val>
                                  </p:tav>
                                  <p:tav tm="100000">
                                    <p:val>
                                      <p:strVal val="#ppt_y"/>
                                    </p:val>
                                  </p:tav>
                                </p:tavLst>
                              </p:anim>
                            </p:childTnLst>
                          </p:cTn>
                        </p:par>
                        <p:par>
                          <p:cTn id="52" presetID="10" presetClass="entr" presetSubtype="0" fill="hold" nodeType="withEffect">
                            <p:stCondLst>
                              <p:cond delay="147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00"/>
                                  <p:tgtEl>
                                    <p:spTgt spid="16"/>
                                  </p:tgtEl>
                                </p:cBhvr>
                              </p:animEffect>
                              <p:anim calcmode="lin" valueType="num">
                                <p:cBhvr>
                                  <p:cTn id="55" dur="600" decel="100000" fill="hold"/>
                                  <p:tgtEl>
                                    <p:spTgt spid="16"/>
                                  </p:tgtEl>
                                  <p:attrNameLst>
                                    <p:attrName>ppt_y</p:attrName>
                                  </p:attrNameLst>
                                </p:cBhvr>
                                <p:tavLst>
                                  <p:tav tm="0">
                                    <p:val>
                                      <p:strVal val="#ppt_y+0.03"/>
                                    </p:val>
                                  </p:tav>
                                  <p:tav tm="100000">
                                    <p:val>
                                      <p:strVal val="#ppt_y"/>
                                    </p:val>
                                  </p:tav>
                                </p:tavLst>
                              </p:anim>
                            </p:childTnLst>
                          </p:cTn>
                        </p:par>
                        <p:par>
                          <p:cTn id="56" presetID="10" presetClass="entr" presetSubtype="0" fill="hold" nodeType="withEffect">
                            <p:stCondLst>
                              <p:cond delay="153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600"/>
                                  <p:tgtEl>
                                    <p:spTgt spid="17"/>
                                  </p:tgtEl>
                                </p:cBhvr>
                              </p:animEffect>
                              <p:anim calcmode="lin" valueType="num">
                                <p:cBhvr>
                                  <p:cTn id="59" dur="600" decel="100000" fill="hold"/>
                                  <p:tgtEl>
                                    <p:spTgt spid="17"/>
                                  </p:tgtEl>
                                  <p:attrNameLst>
                                    <p:attrName>ppt_y</p:attrName>
                                  </p:attrNameLst>
                                </p:cBhvr>
                                <p:tavLst>
                                  <p:tav tm="0">
                                    <p:val>
                                      <p:strVal val="#ppt_y+0.03"/>
                                    </p:val>
                                  </p:tav>
                                  <p:tav tm="100000">
                                    <p:val>
                                      <p:strVal val="#ppt_y"/>
                                    </p:val>
                                  </p:tav>
                                </p:tavLst>
                              </p:anim>
                            </p:childTnLst>
                          </p:cTn>
                        </p:par>
                        <p:par>
                          <p:cTn id="60" presetID="10" presetClass="entr" presetSubtype="0" fill="hold" nodeType="withEffect">
                            <p:stCondLst>
                              <p:cond delay="159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600"/>
                                  <p:tgtEl>
                                    <p:spTgt spid="18"/>
                                  </p:tgtEl>
                                </p:cBhvr>
                              </p:animEffect>
                              <p:anim calcmode="lin" valueType="num">
                                <p:cBhvr>
                                  <p:cTn id="63" dur="600" decel="100000" fill="hold"/>
                                  <p:tgtEl>
                                    <p:spTgt spid="18"/>
                                  </p:tgtEl>
                                  <p:attrNameLst>
                                    <p:attrName>ppt_y</p:attrName>
                                  </p:attrNameLst>
                                </p:cBhvr>
                                <p:tavLst>
                                  <p:tav tm="0">
                                    <p:val>
                                      <p:strVal val="#ppt_y+0.03"/>
                                    </p:val>
                                  </p:tav>
                                  <p:tav tm="100000">
                                    <p:val>
                                      <p:strVal val="#ppt_y"/>
                                    </p:val>
                                  </p:tav>
                                </p:tavLst>
                              </p:anim>
                            </p:childTnLst>
                          </p:cTn>
                        </p:par>
                        <p:par>
                          <p:cTn id="64" presetID="10" presetClass="entr" presetSubtype="0" fill="hold" nodeType="withEffect">
                            <p:stCondLst>
                              <p:cond delay="165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600"/>
                                  <p:tgtEl>
                                    <p:spTgt spid="19"/>
                                  </p:tgtEl>
                                </p:cBhvr>
                              </p:animEffect>
                              <p:anim calcmode="lin" valueType="num">
                                <p:cBhvr>
                                  <p:cTn id="67" dur="600" decel="100000" fill="hold"/>
                                  <p:tgtEl>
                                    <p:spTgt spid="19"/>
                                  </p:tgtEl>
                                  <p:attrNameLst>
                                    <p:attrName>ppt_y</p:attrName>
                                  </p:attrNameLst>
                                </p:cBhvr>
                                <p:tavLst>
                                  <p:tav tm="0">
                                    <p:val>
                                      <p:strVal val="#ppt_y+0.03"/>
                                    </p:val>
                                  </p:tav>
                                  <p:tav tm="100000">
                                    <p:val>
                                      <p:strVal val="#ppt_y"/>
                                    </p:val>
                                  </p:tav>
                                </p:tavLst>
                              </p:anim>
                            </p:childTnLst>
                          </p:cTn>
                        </p:par>
                        <p:par>
                          <p:cTn id="68" presetID="10" presetClass="entr" presetSubtype="0" fill="hold" nodeType="withEffect">
                            <p:stCondLst>
                              <p:cond delay="171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600"/>
                                  <p:tgtEl>
                                    <p:spTgt spid="20"/>
                                  </p:tgtEl>
                                </p:cBhvr>
                              </p:animEffect>
                              <p:anim calcmode="lin" valueType="num">
                                <p:cBhvr>
                                  <p:cTn id="71" dur="600" decel="100000" fill="hold"/>
                                  <p:tgtEl>
                                    <p:spTgt spid="20"/>
                                  </p:tgtEl>
                                  <p:attrNameLst>
                                    <p:attrName>ppt_y</p:attrName>
                                  </p:attrNameLst>
                                </p:cBhvr>
                                <p:tavLst>
                                  <p:tav tm="0">
                                    <p:val>
                                      <p:strVal val="#ppt_y+0.03"/>
                                    </p:val>
                                  </p:tav>
                                  <p:tav tm="100000">
                                    <p:val>
                                      <p:strVal val="#ppt_y"/>
                                    </p:val>
                                  </p:tav>
                                </p:tavLst>
                              </p:anim>
                            </p:childTnLst>
                          </p:cTn>
                        </p:par>
                        <p:par>
                          <p:cTn id="72" presetID="10" presetClass="entr" presetSubtype="0" fill="hold" nodeType="withEffect">
                            <p:stCondLst>
                              <p:cond delay="177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600"/>
                                  <p:tgtEl>
                                    <p:spTgt spid="21"/>
                                  </p:tgtEl>
                                </p:cBhvr>
                              </p:animEffect>
                              <p:anim calcmode="lin" valueType="num">
                                <p:cBhvr>
                                  <p:cTn id="75" dur="600" decel="100000" fill="hold"/>
                                  <p:tgtEl>
                                    <p:spTgt spid="21"/>
                                  </p:tgtEl>
                                  <p:attrNameLst>
                                    <p:attrName>ppt_y</p:attrName>
                                  </p:attrNameLst>
                                </p:cBhvr>
                                <p:tavLst>
                                  <p:tav tm="0">
                                    <p:val>
                                      <p:strVal val="#ppt_y+0.03"/>
                                    </p:val>
                                  </p:tav>
                                  <p:tav tm="100000">
                                    <p:val>
                                      <p:strVal val="#ppt_y"/>
                                    </p:val>
                                  </p:tav>
                                </p:tavLst>
                              </p:anim>
                            </p:childTnLst>
                          </p:cTn>
                        </p:par>
                        <p:par>
                          <p:cTn id="76" presetID="10" presetClass="entr" presetSubtype="0" fill="hold" nodeType="withEffect">
                            <p:stCondLst>
                              <p:cond delay="183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600"/>
                                  <p:tgtEl>
                                    <p:spTgt spid="22"/>
                                  </p:tgtEl>
                                </p:cBhvr>
                              </p:animEffect>
                              <p:anim calcmode="lin" valueType="num">
                                <p:cBhvr>
                                  <p:cTn id="79" dur="600" decel="100000" fill="hold"/>
                                  <p:tgtEl>
                                    <p:spTgt spid="22"/>
                                  </p:tgtEl>
                                  <p:attrNameLst>
                                    <p:attrName>ppt_y</p:attrName>
                                  </p:attrNameLst>
                                </p:cBhvr>
                                <p:tavLst>
                                  <p:tav tm="0">
                                    <p:val>
                                      <p:strVal val="#ppt_y+0.03"/>
                                    </p:val>
                                  </p:tav>
                                  <p:tav tm="100000">
                                    <p:val>
                                      <p:strVal val="#ppt_y"/>
                                    </p:val>
                                  </p:tav>
                                </p:tavLst>
                              </p:anim>
                            </p:childTnLst>
                          </p:cTn>
                        </p:par>
                        <p:par>
                          <p:cTn id="80" presetID="10" presetClass="entr" presetSubtype="0" fill="hold" nodeType="withEffect">
                            <p:stCondLst>
                              <p:cond delay="189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p:cTn id="83" dur="600" decel="100000" fill="hold"/>
                                  <p:tgtEl>
                                    <p:spTgt spid="23"/>
                                  </p:tgtEl>
                                  <p:attrNameLst>
                                    <p:attrName>ppt_y</p:attrName>
                                  </p:attrNameLst>
                                </p:cBhvr>
                                <p:tavLst>
                                  <p:tav tm="0">
                                    <p:val>
                                      <p:strVal val="#ppt_y+0.03"/>
                                    </p:val>
                                  </p:tav>
                                  <p:tav tm="100000">
                                    <p:val>
                                      <p:strVal val="#ppt_y"/>
                                    </p:val>
                                  </p:tav>
                                </p:tavLst>
                              </p:anim>
                            </p:childTnLst>
                          </p:cTn>
                        </p:par>
                        <p:par>
                          <p:cTn id="84" presetID="10" presetClass="entr" presetSubtype="0" fill="hold" nodeType="withEffect">
                            <p:stCondLst>
                              <p:cond delay="195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600"/>
                                  <p:tgtEl>
                                    <p:spTgt spid="24"/>
                                  </p:tgtEl>
                                </p:cBhvr>
                              </p:animEffect>
                              <p:anim calcmode="lin" valueType="num">
                                <p:cBhvr>
                                  <p:cTn id="87" dur="600" decel="100000" fill="hold"/>
                                  <p:tgtEl>
                                    <p:spTgt spid="24"/>
                                  </p:tgtEl>
                                  <p:attrNameLst>
                                    <p:attrName>ppt_y</p:attrName>
                                  </p:attrNameLst>
                                </p:cBhvr>
                                <p:tavLst>
                                  <p:tav tm="0">
                                    <p:val>
                                      <p:strVal val="#ppt_y+0.03"/>
                                    </p:val>
                                  </p:tav>
                                  <p:tav tm="100000">
                                    <p:val>
                                      <p:strVal val="#ppt_y"/>
                                    </p:val>
                                  </p:tav>
                                </p:tavLst>
                              </p:anim>
                            </p:childTnLst>
                          </p:cTn>
                        </p:par>
                        <p:par>
                          <p:cTn id="88" presetID="10" presetClass="entr" presetSubtype="0" fill="hold" nodeType="withEffect">
                            <p:stCondLst>
                              <p:cond delay="201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600"/>
                                  <p:tgtEl>
                                    <p:spTgt spid="25"/>
                                  </p:tgtEl>
                                </p:cBhvr>
                              </p:animEffect>
                              <p:anim calcmode="lin" valueType="num">
                                <p:cBhvr>
                                  <p:cTn id="91" dur="600" decel="100000" fill="hold"/>
                                  <p:tgtEl>
                                    <p:spTgt spid="25"/>
                                  </p:tgtEl>
                                  <p:attrNameLst>
                                    <p:attrName>ppt_y</p:attrName>
                                  </p:attrNameLst>
                                </p:cBhvr>
                                <p:tavLst>
                                  <p:tav tm="0">
                                    <p:val>
                                      <p:strVal val="#ppt_y+0.03"/>
                                    </p:val>
                                  </p:tav>
                                  <p:tav tm="100000">
                                    <p:val>
                                      <p:strVal val="#ppt_y"/>
                                    </p:val>
                                  </p:tav>
                                </p:tavLst>
                              </p:anim>
                            </p:childTnLst>
                          </p:cTn>
                        </p:par>
                        <p:par>
                          <p:cTn id="92" presetID="10" presetClass="entr" presetSubtype="0" fill="hold" nodeType="withEffect">
                            <p:stCondLst>
                              <p:cond delay="207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600"/>
                                  <p:tgtEl>
                                    <p:spTgt spid="26"/>
                                  </p:tgtEl>
                                </p:cBhvr>
                              </p:animEffect>
                              <p:anim calcmode="lin" valueType="num">
                                <p:cBhvr>
                                  <p:cTn id="95" dur="600" decel="100000" fill="hold"/>
                                  <p:tgtEl>
                                    <p:spTgt spid="26"/>
                                  </p:tgtEl>
                                  <p:attrNameLst>
                                    <p:attrName>ppt_y</p:attrName>
                                  </p:attrNameLst>
                                </p:cBhvr>
                                <p:tavLst>
                                  <p:tav tm="0">
                                    <p:val>
                                      <p:strVal val="#ppt_y+0.03"/>
                                    </p:val>
                                  </p:tav>
                                  <p:tav tm="100000">
                                    <p:val>
                                      <p:strVal val="#ppt_y"/>
                                    </p:val>
                                  </p:tav>
                                </p:tavLst>
                              </p:anim>
                            </p:childTnLst>
                          </p:cTn>
                        </p:par>
                        <p:par>
                          <p:cTn id="96" presetID="10" presetClass="entr" presetSubtype="0" fill="hold" nodeType="withEffect">
                            <p:stCondLst>
                              <p:cond delay="180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anim calcmode="lin" valueType="num">
                                <p:cBhvr>
                                  <p:cTn id="99" dur="600" decel="100000" fill="hold"/>
                                  <p:tgtEl>
                                    <p:spTgt spid="27"/>
                                  </p:tgtEl>
                                  <p:attrNameLst>
                                    <p:attrName>ppt_y</p:attrName>
                                  </p:attrNameLst>
                                </p:cBhvr>
                                <p:tavLst>
                                  <p:tav tm="0">
                                    <p:val>
                                      <p:strVal val="#ppt_y+0.03"/>
                                    </p:val>
                                  </p:tav>
                                  <p:tav tm="100000">
                                    <p:val>
                                      <p:strVal val="#ppt_y"/>
                                    </p:val>
                                  </p:tav>
                                </p:tavLst>
                              </p:anim>
                            </p:childTnLst>
                          </p:cTn>
                        </p:par>
                        <p:par>
                          <p:cTn id="100" presetID="10" presetClass="entr" presetSubtype="0" fill="hold" nodeType="withEffect">
                            <p:stCondLst>
                              <p:cond delay="186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600"/>
                                  <p:tgtEl>
                                    <p:spTgt spid="28"/>
                                  </p:tgtEl>
                                </p:cBhvr>
                              </p:animEffect>
                              <p:anim calcmode="lin" valueType="num">
                                <p:cBhvr>
                                  <p:cTn id="103" dur="600" decel="100000" fill="hold"/>
                                  <p:tgtEl>
                                    <p:spTgt spid="28"/>
                                  </p:tgtEl>
                                  <p:attrNameLst>
                                    <p:attrName>ppt_y</p:attrName>
                                  </p:attrNameLst>
                                </p:cBhvr>
                                <p:tavLst>
                                  <p:tav tm="0">
                                    <p:val>
                                      <p:strVal val="#ppt_y+0.03"/>
                                    </p:val>
                                  </p:tav>
                                  <p:tav tm="100000">
                                    <p:val>
                                      <p:strVal val="#ppt_y"/>
                                    </p:val>
                                  </p:tav>
                                </p:tavLst>
                              </p:anim>
                            </p:childTnLst>
                          </p:cTn>
                        </p:par>
                        <p:par>
                          <p:cTn id="104" presetID="10" presetClass="entr" presetSubtype="0" fill="hold" nodeType="withEffect">
                            <p:stCondLst>
                              <p:cond delay="225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600"/>
                                  <p:tgtEl>
                                    <p:spTgt spid="29"/>
                                  </p:tgtEl>
                                </p:cBhvr>
                              </p:animEffect>
                              <p:anim calcmode="lin" valueType="num">
                                <p:cBhvr>
                                  <p:cTn id="107" dur="600" decel="100000" fill="hold"/>
                                  <p:tgtEl>
                                    <p:spTgt spid="29"/>
                                  </p:tgtEl>
                                  <p:attrNameLst>
                                    <p:attrName>ppt_y</p:attrName>
                                  </p:attrNameLst>
                                </p:cBhvr>
                                <p:tavLst>
                                  <p:tav tm="0">
                                    <p:val>
                                      <p:strVal val="#ppt_y+0.03"/>
                                    </p:val>
                                  </p:tav>
                                  <p:tav tm="100000">
                                    <p:val>
                                      <p:strVal val="#ppt_y"/>
                                    </p:val>
                                  </p:tav>
                                </p:tavLst>
                              </p:anim>
                            </p:childTnLst>
                          </p:cTn>
                        </p:par>
                        <p:par>
                          <p:cTn id="108" presetID="10" presetClass="entr" presetSubtype="0" fill="hold" nodeType="withEffect">
                            <p:stCondLst>
                              <p:cond delay="231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600"/>
                                  <p:tgtEl>
                                    <p:spTgt spid="30"/>
                                  </p:tgtEl>
                                </p:cBhvr>
                              </p:animEffect>
                              <p:anim calcmode="lin" valueType="num">
                                <p:cBhvr>
                                  <p:cTn id="111" dur="600" decel="100000" fill="hold"/>
                                  <p:tgtEl>
                                    <p:spTgt spid="30"/>
                                  </p:tgtEl>
                                  <p:attrNameLst>
                                    <p:attrName>ppt_y</p:attrName>
                                  </p:attrNameLst>
                                </p:cBhvr>
                                <p:tavLst>
                                  <p:tav tm="0">
                                    <p:val>
                                      <p:strVal val="#ppt_y+0.03"/>
                                    </p:val>
                                  </p:tav>
                                  <p:tav tm="100000">
                                    <p:val>
                                      <p:strVal val="#ppt_y"/>
                                    </p:val>
                                  </p:tav>
                                </p:tavLst>
                              </p:anim>
                            </p:childTnLst>
                          </p:cTn>
                        </p:par>
                        <p:par>
                          <p:cTn id="112" presetID="10" presetClass="entr" presetSubtype="0" fill="hold" nodeType="withEffect">
                            <p:stCondLst>
                              <p:cond delay="2700"/>
                            </p:stCondLst>
                            <p:childTnLst>
                              <p:set>
                                <p:cBhvr>
                                  <p:cTn id="113" dur="1" fill="hold">
                                    <p:stCondLst>
                                      <p:cond delay="0"/>
                                    </p:stCondLst>
                                  </p:cTn>
                                  <p:tgtEl>
                                    <p:spTgt spid="31"/>
                                  </p:tgtEl>
                                  <p:attrNameLst>
                                    <p:attrName>style.visibility</p:attrName>
                                  </p:attrNameLst>
                                </p:cBhvr>
                                <p:to>
                                  <p:strVal val="visible"/>
                                </p:to>
                              </p:set>
                              <p:animEffect transition="in" filter="fade">
                                <p:cBhvr>
                                  <p:cTn id="114" dur="600"/>
                                  <p:tgtEl>
                                    <p:spTgt spid="31"/>
                                  </p:tgtEl>
                                </p:cBhvr>
                              </p:animEffect>
                              <p:anim calcmode="lin" valueType="num">
                                <p:cBhvr>
                                  <p:cTn id="115" dur="600" decel="100000" fill="hold"/>
                                  <p:tgtEl>
                                    <p:spTgt spid="31"/>
                                  </p:tgtEl>
                                  <p:attrNameLst>
                                    <p:attrName>ppt_y</p:attrName>
                                  </p:attrNameLst>
                                </p:cBhvr>
                                <p:tavLst>
                                  <p:tav tm="0">
                                    <p:val>
                                      <p:strVal val="#ppt_y+0.03"/>
                                    </p:val>
                                  </p:tav>
                                  <p:tav tm="100000">
                                    <p:val>
                                      <p:strVal val="#ppt_y"/>
                                    </p:val>
                                  </p:tav>
                                </p:tavLst>
                              </p:anim>
                            </p:childTnLst>
                          </p:cTn>
                        </p:par>
                        <p:par>
                          <p:cTn id="116" presetID="10" presetClass="entr" presetSubtype="0" fill="hold" nodeType="withEffect">
                            <p:stCondLst>
                              <p:cond delay="2760"/>
                            </p:stCondLst>
                            <p:childTnLst>
                              <p:set>
                                <p:cBhvr>
                                  <p:cTn id="117" dur="1" fill="hold">
                                    <p:stCondLst>
                                      <p:cond delay="0"/>
                                    </p:stCondLst>
                                  </p:cTn>
                                  <p:tgtEl>
                                    <p:spTgt spid="32"/>
                                  </p:tgtEl>
                                  <p:attrNameLst>
                                    <p:attrName>style.visibility</p:attrName>
                                  </p:attrNameLst>
                                </p:cBhvr>
                                <p:to>
                                  <p:strVal val="visible"/>
                                </p:to>
                              </p:set>
                              <p:animEffect transition="in" filter="fade">
                                <p:cBhvr>
                                  <p:cTn id="118" dur="600"/>
                                  <p:tgtEl>
                                    <p:spTgt spid="32"/>
                                  </p:tgtEl>
                                </p:cBhvr>
                              </p:animEffect>
                              <p:anim calcmode="lin" valueType="num">
                                <p:cBhvr>
                                  <p:cTn id="119" dur="600" decel="100000" fill="hold"/>
                                  <p:tgtEl>
                                    <p:spTgt spid="32"/>
                                  </p:tgtEl>
                                  <p:attrNameLst>
                                    <p:attrName>ppt_y</p:attrName>
                                  </p:attrNameLst>
                                </p:cBhvr>
                                <p:tavLst>
                                  <p:tav tm="0">
                                    <p:val>
                                      <p:strVal val="#ppt_y+0.03"/>
                                    </p:val>
                                  </p:tav>
                                  <p:tav tm="100000">
                                    <p:val>
                                      <p:strVal val="#ppt_y"/>
                                    </p:val>
                                  </p:tav>
                                </p:tavLst>
                              </p:anim>
                            </p:childTnLst>
                          </p:cTn>
                        </p:par>
                        <p:par>
                          <p:cTn id="120" presetID="10" presetClass="entr" presetSubtype="0" fill="hold" nodeType="withEffect">
                            <p:stCondLst>
                              <p:cond delay="315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600"/>
                                  <p:tgtEl>
                                    <p:spTgt spid="33"/>
                                  </p:tgtEl>
                                </p:cBhvr>
                              </p:animEffect>
                              <p:anim calcmode="lin" valueType="num">
                                <p:cBhvr>
                                  <p:cTn id="123" dur="600" decel="100000" fill="hold"/>
                                  <p:tgtEl>
                                    <p:spTgt spid="33"/>
                                  </p:tgtEl>
                                  <p:attrNameLst>
                                    <p:attrName>ppt_y</p:attrName>
                                  </p:attrNameLst>
                                </p:cBhvr>
                                <p:tavLst>
                                  <p:tav tm="0">
                                    <p:val>
                                      <p:strVal val="#ppt_y+0.03"/>
                                    </p:val>
                                  </p:tav>
                                  <p:tav tm="100000">
                                    <p:val>
                                      <p:strVal val="#ppt_y"/>
                                    </p:val>
                                  </p:tav>
                                </p:tavLst>
                              </p:anim>
                            </p:childTnLst>
                          </p:cTn>
                        </p:par>
                        <p:par>
                          <p:cTn id="124" presetID="10" presetClass="entr" presetSubtype="0" fill="hold" nodeType="withEffect">
                            <p:stCondLst>
                              <p:cond delay="321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600"/>
                                  <p:tgtEl>
                                    <p:spTgt spid="34"/>
                                  </p:tgtEl>
                                </p:cBhvr>
                              </p:animEffect>
                              <p:anim calcmode="lin" valueType="num">
                                <p:cBhvr>
                                  <p:cTn id="127" dur="600" decel="100000" fill="hold"/>
                                  <p:tgtEl>
                                    <p:spTgt spid="34"/>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p>
            <a:pPr indent="0" marL="0">
              <a:buNone/>
            </a:pPr>
            <a:r>
              <a:rPr lang="en-US" sz="1400" b="1" dirty="0">
                <a:solidFill>
                  <a:schemeClr val="accent1"/>
                </a:solidFill>
              </a:rPr>
              <a:t>Option sécurité</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p>
            <a:pPr algn="l" indent="0" marL="0">
              <a:buNone/>
            </a:pPr>
            <a:r>
              <a:rPr lang="en-US" sz="3200" b="1" dirty="0">
                <a:solidFill>
                  <a:schemeClr val="tx1"/>
                </a:solidFill>
              </a:rPr>
              <a:t>Kaspersky Next </a:t>
            </a:r>
            <a:pPr algn="l" indent="0" marL="0">
              <a:buNone/>
            </a:pPr>
            <a:r>
              <a:rPr lang="en-US" sz="3200" b="1" dirty="0">
                <a:solidFill>
                  <a:schemeClr val="accent1"/>
                </a:solidFill>
              </a:rPr>
              <a:t>EDR Foundations</a:t>
            </a:r>
            <a:endParaRPr lang="en-US" sz="3200" dirty="0"/>
          </a:p>
        </p:txBody>
      </p:sp>
      <p:sp>
        <p:nvSpPr>
          <p:cNvPr id="4" name="a1_272"/>
          <p:cNvSpPr/>
          <p:nvPr/>
        </p:nvSpPr>
        <p:spPr>
          <a:xfrm>
            <a:off x="548640" y="1600200"/>
            <a:ext cx="3337560" cy="1280160"/>
          </a:xfrm>
          <a:prstGeom prst="roundRect">
            <a:avLst>
              <a:gd name="adj" fmla="val 100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5" name="a1_273"/>
          <p:cNvSpPr/>
          <p:nvPr/>
        </p:nvSpPr>
        <p:spPr>
          <a:xfrm>
            <a:off x="777240" y="1920240"/>
            <a:ext cx="640080" cy="640080"/>
          </a:xfrm>
          <a:prstGeom prst="ellipse">
            <a:avLst/>
          </a:prstGeom>
          <a:solidFill>
            <a:schemeClr val="accent1"/>
          </a:solidFill>
          <a:ln w="12700">
            <a:solidFill>
              <a:schemeClr val="accent1"/>
            </a:solidFill>
            <a:prstDash val="solid"/>
          </a:ln>
        </p:spPr>
      </p:sp>
      <p:pic>
        <p:nvPicPr>
          <p:cNvPr id="6" name="a1_274" descr="preencoded.png">    </p:cNvPr>
          <p:cNvPicPr>
            <a:picLocks noChangeAspect="1"/>
          </p:cNvPicPr>
          <p:nvPr/>
        </p:nvPicPr>
        <p:blipFill>
          <a:blip r:embed="rId1"/>
          <a:stretch>
            <a:fillRect/>
          </a:stretch>
        </p:blipFill>
        <p:spPr>
          <a:xfrm>
            <a:off x="943661" y="2086661"/>
            <a:ext cx="307238" cy="307238"/>
          </a:xfrm>
          <a:prstGeom prst="rect">
            <a:avLst/>
          </a:prstGeom>
        </p:spPr>
      </p:pic>
      <p:sp>
        <p:nvSpPr>
          <p:cNvPr id="7" name="a1_275"/>
          <p:cNvSpPr txBox="1"/>
          <p:nvPr/>
        </p:nvSpPr>
        <p:spPr>
          <a:xfrm>
            <a:off x="1600200" y="1783080"/>
            <a:ext cx="2148840" cy="365760"/>
          </a:xfrm>
          <a:prstGeom prst="rect">
            <a:avLst/>
          </a:prstGeom>
          <a:noFill/>
          <a:ln/>
        </p:spPr>
        <p:txBody>
          <a:bodyPr wrap="square" lIns="0" tIns="0" rIns="0" bIns="0" rtlCol="0" anchor="ctr"/>
          <a:lstStyle/>
          <a:p>
            <a:pPr indent="0" marL="0">
              <a:buNone/>
            </a:pPr>
            <a:r>
              <a:rPr lang="en-US" sz="1500" b="1" dirty="0">
                <a:solidFill>
                  <a:schemeClr val="tx2"/>
                </a:solidFill>
              </a:rPr>
              <a:t>Protège vos données</a:t>
            </a:r>
            <a:endParaRPr lang="en-US" sz="1500" dirty="0"/>
          </a:p>
        </p:txBody>
      </p:sp>
      <p:sp>
        <p:nvSpPr>
          <p:cNvPr id="8" name="a1_276"/>
          <p:cNvSpPr txBox="1"/>
          <p:nvPr/>
        </p:nvSpPr>
        <p:spPr>
          <a:xfrm>
            <a:off x="1600200" y="2148840"/>
            <a:ext cx="2148840" cy="640080"/>
          </a:xfrm>
          <a:prstGeom prst="rect">
            <a:avLst/>
          </a:prstGeom>
          <a:noFill/>
          <a:ln/>
        </p:spPr>
        <p:txBody>
          <a:bodyPr wrap="square" lIns="0" tIns="0" rIns="0" bIns="0" rtlCol="0" anchor="t"/>
          <a:lstStyle/>
          <a:p>
            <a:pPr indent="0" marL="0">
              <a:buNone/>
            </a:pPr>
            <a:r>
              <a:rPr lang="en-US" sz="1300" dirty="0">
                <a:solidFill>
                  <a:schemeClr val="accent6"/>
                </a:solidFill>
              </a:rPr>
              <a:t>Anti-ransomware et anti-malware éprouvés</a:t>
            </a:r>
            <a:endParaRPr lang="en-US" sz="1300" dirty="0"/>
          </a:p>
        </p:txBody>
      </p:sp>
      <p:sp>
        <p:nvSpPr>
          <p:cNvPr id="9" name="a1_277"/>
          <p:cNvSpPr/>
          <p:nvPr/>
        </p:nvSpPr>
        <p:spPr>
          <a:xfrm>
            <a:off x="4069080" y="1600200"/>
            <a:ext cx="3337560" cy="1280160"/>
          </a:xfrm>
          <a:prstGeom prst="roundRect">
            <a:avLst>
              <a:gd name="adj" fmla="val 100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10" name="a1_278"/>
          <p:cNvSpPr/>
          <p:nvPr/>
        </p:nvSpPr>
        <p:spPr>
          <a:xfrm>
            <a:off x="4297680" y="1920240"/>
            <a:ext cx="640080" cy="640080"/>
          </a:xfrm>
          <a:prstGeom prst="ellipse">
            <a:avLst/>
          </a:prstGeom>
          <a:solidFill>
            <a:schemeClr val="accent1"/>
          </a:solidFill>
          <a:ln w="12700">
            <a:solidFill>
              <a:schemeClr val="accent1"/>
            </a:solidFill>
            <a:prstDash val="solid"/>
          </a:ln>
        </p:spPr>
      </p:sp>
      <p:pic>
        <p:nvPicPr>
          <p:cNvPr id="11" name="a1_279" descr="preencoded.png">    </p:cNvPr>
          <p:cNvPicPr>
            <a:picLocks noChangeAspect="1"/>
          </p:cNvPicPr>
          <p:nvPr/>
        </p:nvPicPr>
        <p:blipFill>
          <a:blip r:embed="rId2"/>
          <a:stretch>
            <a:fillRect/>
          </a:stretch>
        </p:blipFill>
        <p:spPr>
          <a:xfrm>
            <a:off x="4464101" y="2086661"/>
            <a:ext cx="307238" cy="307238"/>
          </a:xfrm>
          <a:prstGeom prst="rect">
            <a:avLst/>
          </a:prstGeom>
        </p:spPr>
      </p:pic>
      <p:sp>
        <p:nvSpPr>
          <p:cNvPr id="12" name="a1_280"/>
          <p:cNvSpPr txBox="1"/>
          <p:nvPr/>
        </p:nvSpPr>
        <p:spPr>
          <a:xfrm>
            <a:off x="5120640" y="1783080"/>
            <a:ext cx="2148840" cy="365760"/>
          </a:xfrm>
          <a:prstGeom prst="rect">
            <a:avLst/>
          </a:prstGeom>
          <a:noFill/>
          <a:ln/>
        </p:spPr>
        <p:txBody>
          <a:bodyPr wrap="square" lIns="0" tIns="0" rIns="0" bIns="0" rtlCol="0" anchor="ctr"/>
          <a:lstStyle/>
          <a:p>
            <a:pPr indent="0" marL="0">
              <a:buNone/>
            </a:pPr>
            <a:r>
              <a:rPr lang="en-US" sz="1500" b="1" dirty="0">
                <a:solidFill>
                  <a:schemeClr val="tx2"/>
                </a:solidFill>
              </a:rPr>
              <a:t>Bloque les malwares</a:t>
            </a:r>
            <a:endParaRPr lang="en-US" sz="1500" dirty="0"/>
          </a:p>
        </p:txBody>
      </p:sp>
      <p:sp>
        <p:nvSpPr>
          <p:cNvPr id="13" name="a1_281"/>
          <p:cNvSpPr txBox="1"/>
          <p:nvPr/>
        </p:nvSpPr>
        <p:spPr>
          <a:xfrm>
            <a:off x="5120640" y="2148840"/>
            <a:ext cx="2148840" cy="640080"/>
          </a:xfrm>
          <a:prstGeom prst="rect">
            <a:avLst/>
          </a:prstGeom>
          <a:noFill/>
          <a:ln/>
        </p:spPr>
        <p:txBody>
          <a:bodyPr wrap="square" lIns="0" tIns="0" rIns="0" bIns="0" rtlCol="0" anchor="t"/>
          <a:lstStyle/>
          <a:p>
            <a:pPr indent="0" marL="0">
              <a:buNone/>
            </a:pPr>
            <a:r>
              <a:rPr lang="en-US" sz="1300" dirty="0">
                <a:solidFill>
                  <a:schemeClr val="accent6"/>
                </a:solidFill>
              </a:rPr>
              <a:t>Connus et inconnus : fichiers, Web et e-mails</a:t>
            </a:r>
            <a:endParaRPr lang="en-US" sz="1300" dirty="0"/>
          </a:p>
        </p:txBody>
      </p:sp>
      <p:sp>
        <p:nvSpPr>
          <p:cNvPr id="14" name="a2_282"/>
          <p:cNvSpPr/>
          <p:nvPr/>
        </p:nvSpPr>
        <p:spPr>
          <a:xfrm>
            <a:off x="548640" y="3063240"/>
            <a:ext cx="3337560" cy="1280160"/>
          </a:xfrm>
          <a:prstGeom prst="roundRect">
            <a:avLst>
              <a:gd name="adj" fmla="val 100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15" name="a2_283"/>
          <p:cNvSpPr/>
          <p:nvPr/>
        </p:nvSpPr>
        <p:spPr>
          <a:xfrm>
            <a:off x="777240" y="3383280"/>
            <a:ext cx="640080" cy="640080"/>
          </a:xfrm>
          <a:prstGeom prst="ellipse">
            <a:avLst/>
          </a:prstGeom>
          <a:solidFill>
            <a:schemeClr val="accent1"/>
          </a:solidFill>
          <a:ln w="12700">
            <a:solidFill>
              <a:schemeClr val="accent1"/>
            </a:solidFill>
            <a:prstDash val="solid"/>
          </a:ln>
        </p:spPr>
      </p:sp>
      <p:pic>
        <p:nvPicPr>
          <p:cNvPr id="16" name="a2_284" descr="preencoded.png">    </p:cNvPr>
          <p:cNvPicPr>
            <a:picLocks noChangeAspect="1"/>
          </p:cNvPicPr>
          <p:nvPr/>
        </p:nvPicPr>
        <p:blipFill>
          <a:blip r:embed="rId3"/>
          <a:stretch>
            <a:fillRect/>
          </a:stretch>
        </p:blipFill>
        <p:spPr>
          <a:xfrm>
            <a:off x="943661" y="3549701"/>
            <a:ext cx="307238" cy="307238"/>
          </a:xfrm>
          <a:prstGeom prst="rect">
            <a:avLst/>
          </a:prstGeom>
        </p:spPr>
      </p:pic>
      <p:sp>
        <p:nvSpPr>
          <p:cNvPr id="17" name="a2_285"/>
          <p:cNvSpPr txBox="1"/>
          <p:nvPr/>
        </p:nvSpPr>
        <p:spPr>
          <a:xfrm>
            <a:off x="1600200" y="3246120"/>
            <a:ext cx="2148840" cy="365760"/>
          </a:xfrm>
          <a:prstGeom prst="rect">
            <a:avLst/>
          </a:prstGeom>
          <a:noFill/>
          <a:ln/>
        </p:spPr>
        <p:txBody>
          <a:bodyPr wrap="square" lIns="0" tIns="0" rIns="0" bIns="0" rtlCol="0" anchor="ctr"/>
          <a:lstStyle/>
          <a:p>
            <a:pPr indent="0" marL="0">
              <a:buNone/>
            </a:pPr>
            <a:r>
              <a:rPr lang="en-US" sz="1500" b="1" dirty="0">
                <a:solidFill>
                  <a:schemeClr val="tx2"/>
                </a:solidFill>
              </a:rPr>
              <a:t>Applications à jour</a:t>
            </a:r>
            <a:endParaRPr lang="en-US" sz="1500" dirty="0"/>
          </a:p>
        </p:txBody>
      </p:sp>
      <p:sp>
        <p:nvSpPr>
          <p:cNvPr id="18" name="a2_286"/>
          <p:cNvSpPr txBox="1"/>
          <p:nvPr/>
        </p:nvSpPr>
        <p:spPr>
          <a:xfrm>
            <a:off x="1600200" y="3611880"/>
            <a:ext cx="2148840" cy="640080"/>
          </a:xfrm>
          <a:prstGeom prst="rect">
            <a:avLst/>
          </a:prstGeom>
          <a:noFill/>
          <a:ln/>
        </p:spPr>
        <p:txBody>
          <a:bodyPr wrap="square" lIns="0" tIns="0" rIns="0" bIns="0" rtlCol="0" anchor="t"/>
          <a:lstStyle/>
          <a:p>
            <a:pPr indent="0" marL="0">
              <a:buNone/>
            </a:pPr>
            <a:r>
              <a:rPr lang="en-US" sz="1300" dirty="0">
                <a:solidFill>
                  <a:schemeClr val="accent6"/>
                </a:solidFill>
              </a:rPr>
              <a:t>Détection automatique des logiciels obsolètes</a:t>
            </a:r>
            <a:endParaRPr lang="en-US" sz="1300" dirty="0"/>
          </a:p>
        </p:txBody>
      </p:sp>
      <p:sp>
        <p:nvSpPr>
          <p:cNvPr id="19" name="a2_287"/>
          <p:cNvSpPr/>
          <p:nvPr/>
        </p:nvSpPr>
        <p:spPr>
          <a:xfrm>
            <a:off x="4069080" y="3063240"/>
            <a:ext cx="3337560" cy="1280160"/>
          </a:xfrm>
          <a:prstGeom prst="roundRect">
            <a:avLst>
              <a:gd name="adj" fmla="val 100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20" name="a2_288"/>
          <p:cNvSpPr/>
          <p:nvPr/>
        </p:nvSpPr>
        <p:spPr>
          <a:xfrm>
            <a:off x="4297680" y="3383280"/>
            <a:ext cx="640080" cy="640080"/>
          </a:xfrm>
          <a:prstGeom prst="ellipse">
            <a:avLst/>
          </a:prstGeom>
          <a:solidFill>
            <a:schemeClr val="accent1"/>
          </a:solidFill>
          <a:ln w="12700">
            <a:solidFill>
              <a:schemeClr val="accent1"/>
            </a:solidFill>
            <a:prstDash val="solid"/>
          </a:ln>
        </p:spPr>
      </p:sp>
      <p:pic>
        <p:nvPicPr>
          <p:cNvPr id="21" name="a2_289" descr="preencoded.png">    </p:cNvPr>
          <p:cNvPicPr>
            <a:picLocks noChangeAspect="1"/>
          </p:cNvPicPr>
          <p:nvPr/>
        </p:nvPicPr>
        <p:blipFill>
          <a:blip r:embed="rId4"/>
          <a:stretch>
            <a:fillRect/>
          </a:stretch>
        </p:blipFill>
        <p:spPr>
          <a:xfrm>
            <a:off x="4464101" y="3549701"/>
            <a:ext cx="307238" cy="307238"/>
          </a:xfrm>
          <a:prstGeom prst="rect">
            <a:avLst/>
          </a:prstGeom>
        </p:spPr>
      </p:pic>
      <p:sp>
        <p:nvSpPr>
          <p:cNvPr id="22" name="a2_290"/>
          <p:cNvSpPr txBox="1"/>
          <p:nvPr/>
        </p:nvSpPr>
        <p:spPr>
          <a:xfrm>
            <a:off x="5120640" y="3246120"/>
            <a:ext cx="2148840" cy="365760"/>
          </a:xfrm>
          <a:prstGeom prst="rect">
            <a:avLst/>
          </a:prstGeom>
          <a:noFill/>
          <a:ln/>
        </p:spPr>
        <p:txBody>
          <a:bodyPr wrap="square" lIns="0" tIns="0" rIns="0" bIns="0" rtlCol="0" anchor="ctr"/>
          <a:lstStyle/>
          <a:p>
            <a:pPr indent="0" marL="0">
              <a:buNone/>
            </a:pPr>
            <a:r>
              <a:rPr lang="en-US" sz="1500" b="1" dirty="0">
                <a:solidFill>
                  <a:schemeClr val="tx2"/>
                </a:solidFill>
              </a:rPr>
              <a:t>Contrôle des usages</a:t>
            </a:r>
            <a:endParaRPr lang="en-US" sz="1500" dirty="0"/>
          </a:p>
        </p:txBody>
      </p:sp>
      <p:sp>
        <p:nvSpPr>
          <p:cNvPr id="23" name="a2_291"/>
          <p:cNvSpPr txBox="1"/>
          <p:nvPr/>
        </p:nvSpPr>
        <p:spPr>
          <a:xfrm>
            <a:off x="5120640" y="3611880"/>
            <a:ext cx="2148840" cy="640080"/>
          </a:xfrm>
          <a:prstGeom prst="rect">
            <a:avLst/>
          </a:prstGeom>
          <a:noFill/>
          <a:ln/>
        </p:spPr>
        <p:txBody>
          <a:bodyPr wrap="square" lIns="0" tIns="0" rIns="0" bIns="0" rtlCol="0" anchor="t"/>
          <a:lstStyle/>
          <a:p>
            <a:pPr indent="0" marL="0">
              <a:buNone/>
            </a:pPr>
            <a:r>
              <a:rPr lang="en-US" sz="1300" dirty="0">
                <a:solidFill>
                  <a:schemeClr val="accent6"/>
                </a:solidFill>
              </a:rPr>
              <a:t>Applications, Web et périphériques encadrés</a:t>
            </a:r>
            <a:endParaRPr lang="en-US" sz="1300" dirty="0"/>
          </a:p>
        </p:txBody>
      </p:sp>
      <p:sp>
        <p:nvSpPr>
          <p:cNvPr id="24" name="a3_292"/>
          <p:cNvSpPr/>
          <p:nvPr/>
        </p:nvSpPr>
        <p:spPr>
          <a:xfrm>
            <a:off x="548640" y="4526280"/>
            <a:ext cx="3337560" cy="1280160"/>
          </a:xfrm>
          <a:prstGeom prst="roundRect">
            <a:avLst>
              <a:gd name="adj" fmla="val 100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25" name="a3_293"/>
          <p:cNvSpPr/>
          <p:nvPr/>
        </p:nvSpPr>
        <p:spPr>
          <a:xfrm>
            <a:off x="777240" y="4846320"/>
            <a:ext cx="640080" cy="640080"/>
          </a:xfrm>
          <a:prstGeom prst="ellipse">
            <a:avLst/>
          </a:prstGeom>
          <a:solidFill>
            <a:schemeClr val="accent1"/>
          </a:solidFill>
          <a:ln w="12700">
            <a:solidFill>
              <a:schemeClr val="accent1"/>
            </a:solidFill>
            <a:prstDash val="solid"/>
          </a:ln>
        </p:spPr>
      </p:sp>
      <p:pic>
        <p:nvPicPr>
          <p:cNvPr id="26" name="a3_294" descr="preencoded.png">    </p:cNvPr>
          <p:cNvPicPr>
            <a:picLocks noChangeAspect="1"/>
          </p:cNvPicPr>
          <p:nvPr/>
        </p:nvPicPr>
        <p:blipFill>
          <a:blip r:embed="rId5"/>
          <a:stretch>
            <a:fillRect/>
          </a:stretch>
        </p:blipFill>
        <p:spPr>
          <a:xfrm>
            <a:off x="943661" y="5012741"/>
            <a:ext cx="307238" cy="307238"/>
          </a:xfrm>
          <a:prstGeom prst="rect">
            <a:avLst/>
          </a:prstGeom>
        </p:spPr>
      </p:pic>
      <p:sp>
        <p:nvSpPr>
          <p:cNvPr id="27" name="a3_295"/>
          <p:cNvSpPr txBox="1"/>
          <p:nvPr/>
        </p:nvSpPr>
        <p:spPr>
          <a:xfrm>
            <a:off x="1600200" y="4709160"/>
            <a:ext cx="2148840" cy="365760"/>
          </a:xfrm>
          <a:prstGeom prst="rect">
            <a:avLst/>
          </a:prstGeom>
          <a:noFill/>
          <a:ln/>
        </p:spPr>
        <p:txBody>
          <a:bodyPr wrap="square" lIns="0" tIns="0" rIns="0" bIns="0" rtlCol="0" anchor="ctr"/>
          <a:lstStyle/>
          <a:p>
            <a:pPr indent="0" marL="0">
              <a:buNone/>
            </a:pPr>
            <a:r>
              <a:rPr lang="en-US" sz="1500" b="1" dirty="0">
                <a:solidFill>
                  <a:schemeClr val="tx2"/>
                </a:solidFill>
              </a:rPr>
              <a:t>Attaques avancées</a:t>
            </a:r>
            <a:endParaRPr lang="en-US" sz="1500" dirty="0"/>
          </a:p>
        </p:txBody>
      </p:sp>
      <p:sp>
        <p:nvSpPr>
          <p:cNvPr id="28" name="a3_296"/>
          <p:cNvSpPr txBox="1"/>
          <p:nvPr/>
        </p:nvSpPr>
        <p:spPr>
          <a:xfrm>
            <a:off x="1600200" y="5074920"/>
            <a:ext cx="2148840" cy="640080"/>
          </a:xfrm>
          <a:prstGeom prst="rect">
            <a:avLst/>
          </a:prstGeom>
          <a:noFill/>
          <a:ln/>
        </p:spPr>
        <p:txBody>
          <a:bodyPr wrap="square" lIns="0" tIns="0" rIns="0" bIns="0" rtlCol="0" anchor="t"/>
          <a:lstStyle/>
          <a:p>
            <a:pPr indent="0" marL="0">
              <a:buNone/>
            </a:pPr>
            <a:r>
              <a:rPr lang="en-US" sz="1300" dirty="0">
                <a:solidFill>
                  <a:schemeClr val="accent6"/>
                </a:solidFill>
              </a:rPr>
              <a:t>Détectées, éliminées, avec analyse des causes</a:t>
            </a:r>
            <a:endParaRPr lang="en-US" sz="1300" dirty="0"/>
          </a:p>
        </p:txBody>
      </p:sp>
      <p:sp>
        <p:nvSpPr>
          <p:cNvPr id="29" name="a3_297"/>
          <p:cNvSpPr/>
          <p:nvPr/>
        </p:nvSpPr>
        <p:spPr>
          <a:xfrm>
            <a:off x="4069080" y="4526280"/>
            <a:ext cx="3337560" cy="1280160"/>
          </a:xfrm>
          <a:prstGeom prst="roundRect">
            <a:avLst>
              <a:gd name="adj" fmla="val 10000"/>
            </a:avLst>
          </a:prstGeom>
          <a:solidFill>
            <a:schemeClr val="bg1"/>
          </a:solidFill>
          <a:ln w="12700">
            <a:solidFill>
              <a:srgbClr val="DCE5F7"/>
            </a:solidFill>
            <a:prstDash val="solid"/>
          </a:ln>
          <a:effectLst>
            <a:outerShdw sx="100000" sy="100000" kx="0" ky="0" algn="bl" rotWithShape="0" blurRad="127000" dist="38100" dir="5400000">
              <a:srgbClr val="0B2A6F">
                <a:alpha val="12000"/>
              </a:srgbClr>
            </a:outerShdw>
          </a:effectLst>
        </p:spPr>
      </p:sp>
      <p:sp>
        <p:nvSpPr>
          <p:cNvPr id="30" name="a3_298"/>
          <p:cNvSpPr/>
          <p:nvPr/>
        </p:nvSpPr>
        <p:spPr>
          <a:xfrm>
            <a:off x="4297680" y="4846320"/>
            <a:ext cx="640080" cy="640080"/>
          </a:xfrm>
          <a:prstGeom prst="ellipse">
            <a:avLst/>
          </a:prstGeom>
          <a:solidFill>
            <a:schemeClr val="accent1"/>
          </a:solidFill>
          <a:ln w="12700">
            <a:solidFill>
              <a:schemeClr val="accent1"/>
            </a:solidFill>
            <a:prstDash val="solid"/>
          </a:ln>
        </p:spPr>
      </p:sp>
      <p:pic>
        <p:nvPicPr>
          <p:cNvPr id="31" name="a3_299" descr="preencoded.png">    </p:cNvPr>
          <p:cNvPicPr>
            <a:picLocks noChangeAspect="1"/>
          </p:cNvPicPr>
          <p:nvPr/>
        </p:nvPicPr>
        <p:blipFill>
          <a:blip r:embed="rId6"/>
          <a:stretch>
            <a:fillRect/>
          </a:stretch>
        </p:blipFill>
        <p:spPr>
          <a:xfrm>
            <a:off x="4464101" y="5012741"/>
            <a:ext cx="307238" cy="307238"/>
          </a:xfrm>
          <a:prstGeom prst="rect">
            <a:avLst/>
          </a:prstGeom>
        </p:spPr>
      </p:pic>
      <p:sp>
        <p:nvSpPr>
          <p:cNvPr id="32" name="a3_300"/>
          <p:cNvSpPr txBox="1"/>
          <p:nvPr/>
        </p:nvSpPr>
        <p:spPr>
          <a:xfrm>
            <a:off x="5120640" y="4709160"/>
            <a:ext cx="2148840" cy="365760"/>
          </a:xfrm>
          <a:prstGeom prst="rect">
            <a:avLst/>
          </a:prstGeom>
          <a:noFill/>
          <a:ln/>
        </p:spPr>
        <p:txBody>
          <a:bodyPr wrap="square" lIns="0" tIns="0" rIns="0" bIns="0" rtlCol="0" anchor="ctr"/>
          <a:lstStyle/>
          <a:p>
            <a:pPr indent="0" marL="0">
              <a:buNone/>
            </a:pPr>
            <a:r>
              <a:rPr lang="en-US" sz="1500" b="1" dirty="0">
                <a:solidFill>
                  <a:schemeClr val="tx2"/>
                </a:solidFill>
              </a:rPr>
              <a:t>Alertes</a:t>
            </a:r>
            <a:endParaRPr lang="en-US" sz="1500" dirty="0"/>
          </a:p>
        </p:txBody>
      </p:sp>
      <p:sp>
        <p:nvSpPr>
          <p:cNvPr id="33" name="a3_301"/>
          <p:cNvSpPr txBox="1"/>
          <p:nvPr/>
        </p:nvSpPr>
        <p:spPr>
          <a:xfrm>
            <a:off x="5120640" y="5074920"/>
            <a:ext cx="2148840" cy="640080"/>
          </a:xfrm>
          <a:prstGeom prst="rect">
            <a:avLst/>
          </a:prstGeom>
          <a:noFill/>
          <a:ln/>
        </p:spPr>
        <p:txBody>
          <a:bodyPr wrap="square" lIns="0" tIns="0" rIns="0" bIns="0" rtlCol="0" anchor="t"/>
          <a:lstStyle/>
          <a:p>
            <a:pPr indent="0" marL="0">
              <a:buNone/>
            </a:pPr>
            <a:r>
              <a:rPr lang="en-US" sz="1300" dirty="0">
                <a:solidFill>
                  <a:schemeClr val="accent6"/>
                </a:solidFill>
              </a:rPr>
              <a:t>Activités suspectes et failles signalées</a:t>
            </a:r>
            <a:endParaRPr lang="en-US" sz="1300" dirty="0"/>
          </a:p>
        </p:txBody>
      </p:sp>
      <p:sp>
        <p:nvSpPr>
          <p:cNvPr id="34" name="a5_302"/>
          <p:cNvSpPr/>
          <p:nvPr/>
        </p:nvSpPr>
        <p:spPr>
          <a:xfrm>
            <a:off x="7772400" y="1645920"/>
            <a:ext cx="3840480" cy="4251960"/>
          </a:xfrm>
          <a:prstGeom prst="roundRect">
            <a:avLst>
              <a:gd name="adj" fmla="val 3333"/>
            </a:avLst>
          </a:prstGeom>
          <a:solidFill>
            <a:schemeClr val="tx2"/>
          </a:solidFill>
          <a:ln w="12700">
            <a:solidFill>
              <a:schemeClr val="tx2"/>
            </a:solidFill>
            <a:prstDash val="solid"/>
          </a:ln>
          <a:effectLst>
            <a:outerShdw sx="100000" sy="100000" kx="0" ky="0" algn="bl" rotWithShape="0" blurRad="127000" dist="38100" dir="5400000">
              <a:srgbClr val="0B2A6F">
                <a:alpha val="12000"/>
              </a:srgbClr>
            </a:outerShdw>
          </a:effectLst>
        </p:spPr>
      </p:sp>
      <p:sp>
        <p:nvSpPr>
          <p:cNvPr id="35" name="a5_303"/>
          <p:cNvSpPr txBox="1"/>
          <p:nvPr/>
        </p:nvSpPr>
        <p:spPr>
          <a:xfrm>
            <a:off x="8046720" y="1874520"/>
            <a:ext cx="3291840" cy="365760"/>
          </a:xfrm>
          <a:prstGeom prst="rect">
            <a:avLst/>
          </a:prstGeom>
          <a:noFill/>
          <a:ln/>
        </p:spPr>
        <p:txBody>
          <a:bodyPr wrap="square" lIns="0" tIns="0" rIns="0" bIns="0" rtlCol="0" anchor="ctr"/>
          <a:lstStyle/>
          <a:p>
            <a:pPr indent="0" marL="0">
              <a:buNone/>
            </a:pPr>
            <a:r>
              <a:rPr lang="en-US" sz="1500" dirty="0">
                <a:solidFill>
                  <a:schemeClr val="accent4"/>
                </a:solidFill>
              </a:rPr>
              <a:t>15 utilisateurs · 1 an</a:t>
            </a:r>
            <a:endParaRPr lang="en-US" sz="1500" dirty="0"/>
          </a:p>
        </p:txBody>
      </p:sp>
      <p:sp>
        <p:nvSpPr>
          <p:cNvPr id="36" name="a5_304"/>
          <p:cNvSpPr txBox="1"/>
          <p:nvPr/>
        </p:nvSpPr>
        <p:spPr>
          <a:xfrm>
            <a:off x="8046720" y="2240280"/>
            <a:ext cx="3291840" cy="365760"/>
          </a:xfrm>
          <a:prstGeom prst="rect">
            <a:avLst/>
          </a:prstGeom>
          <a:noFill/>
          <a:ln/>
        </p:spPr>
        <p:txBody>
          <a:bodyPr wrap="square" lIns="0" tIns="0" rIns="0" bIns="0" rtlCol="0" anchor="ctr"/>
          <a:lstStyle/>
          <a:p>
            <a:pPr indent="0" marL="0">
              <a:buNone/>
            </a:pPr>
            <a:r>
              <a:rPr lang="en-US" sz="1300" dirty="0">
                <a:solidFill>
                  <a:schemeClr val="accent4"/>
                </a:solidFill>
              </a:rPr>
              <a:t>15 postes/serveurs et jusqu'à 30 mobiles</a:t>
            </a:r>
            <a:endParaRPr lang="en-US" sz="1300" dirty="0"/>
          </a:p>
        </p:txBody>
      </p:sp>
      <p:sp>
        <p:nvSpPr>
          <p:cNvPr id="37" name="a6_305"/>
          <p:cNvSpPr txBox="1"/>
          <p:nvPr/>
        </p:nvSpPr>
        <p:spPr>
          <a:xfrm>
            <a:off x="8046720" y="2788920"/>
            <a:ext cx="3291840" cy="365760"/>
          </a:xfrm>
          <a:prstGeom prst="rect">
            <a:avLst/>
          </a:prstGeom>
          <a:noFill/>
          <a:ln/>
        </p:spPr>
        <p:txBody>
          <a:bodyPr wrap="square" lIns="0" tIns="0" rIns="0" bIns="0" rtlCol="0" anchor="ctr"/>
          <a:lstStyle/>
          <a:p>
            <a:pPr indent="0" marL="0">
              <a:buNone/>
            </a:pPr>
            <a:r>
              <a:rPr lang="en-US" sz="1500" strike="sngStrike" dirty="0">
                <a:solidFill>
                  <a:schemeClr val="accent3"/>
                </a:solidFill>
              </a:rPr>
              <a:t>≈ 566 000 FCFA</a:t>
            </a:r>
            <a:endParaRPr lang="en-US" sz="1500" dirty="0"/>
          </a:p>
        </p:txBody>
      </p:sp>
      <p:sp>
        <p:nvSpPr>
          <p:cNvPr id="38" name="a6_306"/>
          <p:cNvSpPr txBox="1"/>
          <p:nvPr/>
        </p:nvSpPr>
        <p:spPr>
          <a:xfrm>
            <a:off x="8046720" y="3108960"/>
            <a:ext cx="3291840" cy="731520"/>
          </a:xfrm>
          <a:prstGeom prst="rect">
            <a:avLst/>
          </a:prstGeom>
          <a:noFill/>
          <a:ln/>
        </p:spPr>
        <p:txBody>
          <a:bodyPr wrap="square" lIns="0" tIns="0" rIns="0" bIns="0" rtlCol="0" anchor="ctr"/>
          <a:lstStyle/>
          <a:p>
            <a:pPr indent="0" marL="0">
              <a:buNone/>
            </a:pPr>
            <a:r>
              <a:rPr lang="en-US" sz="4000" b="1" dirty="0">
                <a:solidFill>
                  <a:schemeClr val="bg1"/>
                </a:solidFill>
              </a:rPr>
              <a:t>≈ 477 000</a:t>
            </a:r>
            <a:endParaRPr lang="en-US" sz="4000" dirty="0"/>
          </a:p>
        </p:txBody>
      </p:sp>
      <p:sp>
        <p:nvSpPr>
          <p:cNvPr id="39" name="a6_307"/>
          <p:cNvSpPr txBox="1"/>
          <p:nvPr/>
        </p:nvSpPr>
        <p:spPr>
          <a:xfrm>
            <a:off x="8046720" y="3840480"/>
            <a:ext cx="3291840" cy="548640"/>
          </a:xfrm>
          <a:prstGeom prst="rect">
            <a:avLst/>
          </a:prstGeom>
          <a:noFill/>
          <a:ln/>
        </p:spPr>
        <p:txBody>
          <a:bodyPr wrap="square" lIns="0" tIns="0" rIns="0" bIns="0" rtlCol="0" anchor="t"/>
          <a:lstStyle/>
          <a:p>
            <a:pPr indent="0" marL="0">
              <a:buNone/>
            </a:pPr>
            <a:r>
              <a:rPr lang="en-US" sz="1300" dirty="0">
                <a:solidFill>
                  <a:schemeClr val="accent4"/>
                </a:solidFill>
              </a:rPr>
              <a:t>FCFA HT / an · tarif promotionnel nouveaux clients</a:t>
            </a:r>
            <a:endParaRPr lang="en-US" sz="1300" dirty="0"/>
          </a:p>
        </p:txBody>
      </p:sp>
      <p:sp>
        <p:nvSpPr>
          <p:cNvPr id="40" name="a7_308"/>
          <p:cNvSpPr txBox="1"/>
          <p:nvPr/>
        </p:nvSpPr>
        <p:spPr>
          <a:xfrm>
            <a:off x="8046720" y="4617720"/>
            <a:ext cx="3291840" cy="822960"/>
          </a:xfrm>
          <a:prstGeom prst="rect">
            <a:avLst/>
          </a:prstGeom>
          <a:noFill/>
          <a:ln/>
        </p:spPr>
        <p:txBody>
          <a:bodyPr wrap="square" lIns="0" tIns="0" rIns="0" bIns="0" rtlCol="0" anchor="t"/>
          <a:lstStyle/>
          <a:p>
            <a:pPr indent="0" marL="0">
              <a:buNone/>
            </a:pPr>
            <a:r>
              <a:rPr lang="en-US" sz="1500" b="1" dirty="0">
                <a:solidFill>
                  <a:schemeClr val="bg1"/>
                </a:solidFill>
              </a:rPr>
              <a:t>≈ 40 000 FCFA par mois pour protéger toute l'entreprise</a:t>
            </a:r>
            <a:endParaRPr lang="en-US" sz="1500" dirty="0"/>
          </a:p>
        </p:txBody>
      </p:sp>
      <p:sp>
        <p:nvSpPr>
          <p:cNvPr id="41" name="a7_309"/>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100" i="1" dirty="0">
                <a:solidFill>
                  <a:schemeClr val="accent6"/>
                </a:solidFill>
              </a:rPr>
              <a:t>Option indépendante de l'infrastructure · prix éditeur converti (1 € = 655,957 FCFA)</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12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18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p:cTn id="19" dur="600" decel="100000" fill="hold"/>
                                  <p:tgtEl>
                                    <p:spTgt spid="7"/>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24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3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3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anim calcmode="lin" valueType="num">
                                <p:cBhvr>
                                  <p:cTn id="31" dur="600" decel="100000" fill="hold"/>
                                  <p:tgtEl>
                                    <p:spTgt spid="10"/>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42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anim calcmode="lin" valueType="num">
                                <p:cBhvr>
                                  <p:cTn id="35" dur="600" decel="100000" fill="hold"/>
                                  <p:tgtEl>
                                    <p:spTgt spid="11"/>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4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54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p:cTn id="43" dur="600" decel="100000" fill="hold"/>
                                  <p:tgtEl>
                                    <p:spTgt spid="13"/>
                                  </p:tgtEl>
                                  <p:attrNameLst>
                                    <p:attrName>ppt_y</p:attrName>
                                  </p:attrNameLst>
                                </p:cBhvr>
                                <p:tavLst>
                                  <p:tav tm="0">
                                    <p:val>
                                      <p:strVal val="#ppt_y+0.03"/>
                                    </p:val>
                                  </p:tav>
                                  <p:tav tm="100000">
                                    <p:val>
                                      <p:strVal val="#ppt_y"/>
                                    </p:val>
                                  </p:tav>
                                </p:tavLst>
                              </p:anim>
                            </p:childTnLst>
                          </p:cTn>
                        </p:par>
                        <p:par>
                          <p:cTn id="44" presetID="10" presetClass="entr" presetSubtype="0" fill="hold" nodeType="withEffect">
                            <p:stCondLst>
                              <p:cond delay="45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00"/>
                                  <p:tgtEl>
                                    <p:spTgt spid="14"/>
                                  </p:tgtEl>
                                </p:cBhvr>
                              </p:animEffect>
                              <p:anim calcmode="lin" valueType="num">
                                <p:cBhvr>
                                  <p:cTn id="47" dur="600" decel="100000" fill="hold"/>
                                  <p:tgtEl>
                                    <p:spTgt spid="14"/>
                                  </p:tgtEl>
                                  <p:attrNameLst>
                                    <p:attrName>ppt_y</p:attrName>
                                  </p:attrNameLst>
                                </p:cBhvr>
                                <p:tavLst>
                                  <p:tav tm="0">
                                    <p:val>
                                      <p:strVal val="#ppt_y+0.03"/>
                                    </p:val>
                                  </p:tav>
                                  <p:tav tm="100000">
                                    <p:val>
                                      <p:strVal val="#ppt_y"/>
                                    </p:val>
                                  </p:tav>
                                </p:tavLst>
                              </p:anim>
                            </p:childTnLst>
                          </p:cTn>
                        </p:par>
                        <p:par>
                          <p:cTn id="48" presetID="10" presetClass="entr" presetSubtype="0" fill="hold" nodeType="withEffect">
                            <p:stCondLst>
                              <p:cond delay="5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600"/>
                                  <p:tgtEl>
                                    <p:spTgt spid="15"/>
                                  </p:tgtEl>
                                </p:cBhvr>
                              </p:animEffect>
                              <p:anim calcmode="lin" valueType="num">
                                <p:cBhvr>
                                  <p:cTn id="51" dur="600" decel="100000" fill="hold"/>
                                  <p:tgtEl>
                                    <p:spTgt spid="15"/>
                                  </p:tgtEl>
                                  <p:attrNameLst>
                                    <p:attrName>ppt_y</p:attrName>
                                  </p:attrNameLst>
                                </p:cBhvr>
                                <p:tavLst>
                                  <p:tav tm="0">
                                    <p:val>
                                      <p:strVal val="#ppt_y+0.03"/>
                                    </p:val>
                                  </p:tav>
                                  <p:tav tm="100000">
                                    <p:val>
                                      <p:strVal val="#ppt_y"/>
                                    </p:val>
                                  </p:tav>
                                </p:tavLst>
                              </p:anim>
                            </p:childTnLst>
                          </p:cTn>
                        </p:par>
                        <p:par>
                          <p:cTn id="52" presetID="10" presetClass="entr" presetSubtype="0" fill="hold" nodeType="withEffect">
                            <p:stCondLst>
                              <p:cond delay="57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00"/>
                                  <p:tgtEl>
                                    <p:spTgt spid="16"/>
                                  </p:tgtEl>
                                </p:cBhvr>
                              </p:animEffect>
                              <p:anim calcmode="lin" valueType="num">
                                <p:cBhvr>
                                  <p:cTn id="55" dur="600" decel="100000" fill="hold"/>
                                  <p:tgtEl>
                                    <p:spTgt spid="16"/>
                                  </p:tgtEl>
                                  <p:attrNameLst>
                                    <p:attrName>ppt_y</p:attrName>
                                  </p:attrNameLst>
                                </p:cBhvr>
                                <p:tavLst>
                                  <p:tav tm="0">
                                    <p:val>
                                      <p:strVal val="#ppt_y+0.03"/>
                                    </p:val>
                                  </p:tav>
                                  <p:tav tm="100000">
                                    <p:val>
                                      <p:strVal val="#ppt_y"/>
                                    </p:val>
                                  </p:tav>
                                </p:tavLst>
                              </p:anim>
                            </p:childTnLst>
                          </p:cTn>
                        </p:par>
                        <p:par>
                          <p:cTn id="56" presetID="10" presetClass="entr" presetSubtype="0" fill="hold" nodeType="withEffect">
                            <p:stCondLst>
                              <p:cond delay="63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600"/>
                                  <p:tgtEl>
                                    <p:spTgt spid="17"/>
                                  </p:tgtEl>
                                </p:cBhvr>
                              </p:animEffect>
                              <p:anim calcmode="lin" valueType="num">
                                <p:cBhvr>
                                  <p:cTn id="59" dur="600" decel="100000" fill="hold"/>
                                  <p:tgtEl>
                                    <p:spTgt spid="17"/>
                                  </p:tgtEl>
                                  <p:attrNameLst>
                                    <p:attrName>ppt_y</p:attrName>
                                  </p:attrNameLst>
                                </p:cBhvr>
                                <p:tavLst>
                                  <p:tav tm="0">
                                    <p:val>
                                      <p:strVal val="#ppt_y+0.03"/>
                                    </p:val>
                                  </p:tav>
                                  <p:tav tm="100000">
                                    <p:val>
                                      <p:strVal val="#ppt_y"/>
                                    </p:val>
                                  </p:tav>
                                </p:tavLst>
                              </p:anim>
                            </p:childTnLst>
                          </p:cTn>
                        </p:par>
                        <p:par>
                          <p:cTn id="60" presetID="10" presetClass="entr" presetSubtype="0" fill="hold" nodeType="withEffect">
                            <p:stCondLst>
                              <p:cond delay="69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600"/>
                                  <p:tgtEl>
                                    <p:spTgt spid="18"/>
                                  </p:tgtEl>
                                </p:cBhvr>
                              </p:animEffect>
                              <p:anim calcmode="lin" valueType="num">
                                <p:cBhvr>
                                  <p:cTn id="63" dur="600" decel="100000" fill="hold"/>
                                  <p:tgtEl>
                                    <p:spTgt spid="18"/>
                                  </p:tgtEl>
                                  <p:attrNameLst>
                                    <p:attrName>ppt_y</p:attrName>
                                  </p:attrNameLst>
                                </p:cBhvr>
                                <p:tavLst>
                                  <p:tav tm="0">
                                    <p:val>
                                      <p:strVal val="#ppt_y+0.03"/>
                                    </p:val>
                                  </p:tav>
                                  <p:tav tm="100000">
                                    <p:val>
                                      <p:strVal val="#ppt_y"/>
                                    </p:val>
                                  </p:tav>
                                </p:tavLst>
                              </p:anim>
                            </p:childTnLst>
                          </p:cTn>
                        </p:par>
                        <p:par>
                          <p:cTn id="64" presetID="10" presetClass="entr" presetSubtype="0" fill="hold" nodeType="withEffect">
                            <p:stCondLst>
                              <p:cond delay="75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600"/>
                                  <p:tgtEl>
                                    <p:spTgt spid="19"/>
                                  </p:tgtEl>
                                </p:cBhvr>
                              </p:animEffect>
                              <p:anim calcmode="lin" valueType="num">
                                <p:cBhvr>
                                  <p:cTn id="67" dur="600" decel="100000" fill="hold"/>
                                  <p:tgtEl>
                                    <p:spTgt spid="19"/>
                                  </p:tgtEl>
                                  <p:attrNameLst>
                                    <p:attrName>ppt_y</p:attrName>
                                  </p:attrNameLst>
                                </p:cBhvr>
                                <p:tavLst>
                                  <p:tav tm="0">
                                    <p:val>
                                      <p:strVal val="#ppt_y+0.03"/>
                                    </p:val>
                                  </p:tav>
                                  <p:tav tm="100000">
                                    <p:val>
                                      <p:strVal val="#ppt_y"/>
                                    </p:val>
                                  </p:tav>
                                </p:tavLst>
                              </p:anim>
                            </p:childTnLst>
                          </p:cTn>
                        </p:par>
                        <p:par>
                          <p:cTn id="68" presetID="10" presetClass="entr" presetSubtype="0" fill="hold" nodeType="withEffect">
                            <p:stCondLst>
                              <p:cond delay="81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600"/>
                                  <p:tgtEl>
                                    <p:spTgt spid="20"/>
                                  </p:tgtEl>
                                </p:cBhvr>
                              </p:animEffect>
                              <p:anim calcmode="lin" valueType="num">
                                <p:cBhvr>
                                  <p:cTn id="71" dur="600" decel="100000" fill="hold"/>
                                  <p:tgtEl>
                                    <p:spTgt spid="20"/>
                                  </p:tgtEl>
                                  <p:attrNameLst>
                                    <p:attrName>ppt_y</p:attrName>
                                  </p:attrNameLst>
                                </p:cBhvr>
                                <p:tavLst>
                                  <p:tav tm="0">
                                    <p:val>
                                      <p:strVal val="#ppt_y+0.03"/>
                                    </p:val>
                                  </p:tav>
                                  <p:tav tm="100000">
                                    <p:val>
                                      <p:strVal val="#ppt_y"/>
                                    </p:val>
                                  </p:tav>
                                </p:tavLst>
                              </p:anim>
                            </p:childTnLst>
                          </p:cTn>
                        </p:par>
                        <p:par>
                          <p:cTn id="72" presetID="10" presetClass="entr" presetSubtype="0" fill="hold" nodeType="withEffect">
                            <p:stCondLst>
                              <p:cond delay="87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600"/>
                                  <p:tgtEl>
                                    <p:spTgt spid="21"/>
                                  </p:tgtEl>
                                </p:cBhvr>
                              </p:animEffect>
                              <p:anim calcmode="lin" valueType="num">
                                <p:cBhvr>
                                  <p:cTn id="75" dur="600" decel="100000" fill="hold"/>
                                  <p:tgtEl>
                                    <p:spTgt spid="21"/>
                                  </p:tgtEl>
                                  <p:attrNameLst>
                                    <p:attrName>ppt_y</p:attrName>
                                  </p:attrNameLst>
                                </p:cBhvr>
                                <p:tavLst>
                                  <p:tav tm="0">
                                    <p:val>
                                      <p:strVal val="#ppt_y+0.03"/>
                                    </p:val>
                                  </p:tav>
                                  <p:tav tm="100000">
                                    <p:val>
                                      <p:strVal val="#ppt_y"/>
                                    </p:val>
                                  </p:tav>
                                </p:tavLst>
                              </p:anim>
                            </p:childTnLst>
                          </p:cTn>
                        </p:par>
                        <p:par>
                          <p:cTn id="76" presetID="10" presetClass="entr" presetSubtype="0" fill="hold" nodeType="withEffect">
                            <p:stCondLst>
                              <p:cond delay="93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600"/>
                                  <p:tgtEl>
                                    <p:spTgt spid="22"/>
                                  </p:tgtEl>
                                </p:cBhvr>
                              </p:animEffect>
                              <p:anim calcmode="lin" valueType="num">
                                <p:cBhvr>
                                  <p:cTn id="79" dur="600" decel="100000" fill="hold"/>
                                  <p:tgtEl>
                                    <p:spTgt spid="22"/>
                                  </p:tgtEl>
                                  <p:attrNameLst>
                                    <p:attrName>ppt_y</p:attrName>
                                  </p:attrNameLst>
                                </p:cBhvr>
                                <p:tavLst>
                                  <p:tav tm="0">
                                    <p:val>
                                      <p:strVal val="#ppt_y+0.03"/>
                                    </p:val>
                                  </p:tav>
                                  <p:tav tm="100000">
                                    <p:val>
                                      <p:strVal val="#ppt_y"/>
                                    </p:val>
                                  </p:tav>
                                </p:tavLst>
                              </p:anim>
                            </p:childTnLst>
                          </p:cTn>
                        </p:par>
                        <p:par>
                          <p:cTn id="80" presetID="10" presetClass="entr" presetSubtype="0" fill="hold" nodeType="withEffect">
                            <p:stCondLst>
                              <p:cond delay="99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p:cTn id="83" dur="600" decel="100000" fill="hold"/>
                                  <p:tgtEl>
                                    <p:spTgt spid="23"/>
                                  </p:tgtEl>
                                  <p:attrNameLst>
                                    <p:attrName>ppt_y</p:attrName>
                                  </p:attrNameLst>
                                </p:cBhvr>
                                <p:tavLst>
                                  <p:tav tm="0">
                                    <p:val>
                                      <p:strVal val="#ppt_y+0.03"/>
                                    </p:val>
                                  </p:tav>
                                  <p:tav tm="100000">
                                    <p:val>
                                      <p:strVal val="#ppt_y"/>
                                    </p:val>
                                  </p:tav>
                                </p:tavLst>
                              </p:anim>
                            </p:childTnLst>
                          </p:cTn>
                        </p:par>
                        <p:par>
                          <p:cTn id="84" presetID="10" presetClass="entr" presetSubtype="0" fill="hold" nodeType="withEffect">
                            <p:stCondLst>
                              <p:cond delay="90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600"/>
                                  <p:tgtEl>
                                    <p:spTgt spid="24"/>
                                  </p:tgtEl>
                                </p:cBhvr>
                              </p:animEffect>
                              <p:anim calcmode="lin" valueType="num">
                                <p:cBhvr>
                                  <p:cTn id="87" dur="600" decel="100000" fill="hold"/>
                                  <p:tgtEl>
                                    <p:spTgt spid="24"/>
                                  </p:tgtEl>
                                  <p:attrNameLst>
                                    <p:attrName>ppt_y</p:attrName>
                                  </p:attrNameLst>
                                </p:cBhvr>
                                <p:tavLst>
                                  <p:tav tm="0">
                                    <p:val>
                                      <p:strVal val="#ppt_y+0.03"/>
                                    </p:val>
                                  </p:tav>
                                  <p:tav tm="100000">
                                    <p:val>
                                      <p:strVal val="#ppt_y"/>
                                    </p:val>
                                  </p:tav>
                                </p:tavLst>
                              </p:anim>
                            </p:childTnLst>
                          </p:cTn>
                        </p:par>
                        <p:par>
                          <p:cTn id="88" presetID="10" presetClass="entr" presetSubtype="0" fill="hold" nodeType="withEffect">
                            <p:stCondLst>
                              <p:cond delay="96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600"/>
                                  <p:tgtEl>
                                    <p:spTgt spid="25"/>
                                  </p:tgtEl>
                                </p:cBhvr>
                              </p:animEffect>
                              <p:anim calcmode="lin" valueType="num">
                                <p:cBhvr>
                                  <p:cTn id="91" dur="600" decel="100000" fill="hold"/>
                                  <p:tgtEl>
                                    <p:spTgt spid="25"/>
                                  </p:tgtEl>
                                  <p:attrNameLst>
                                    <p:attrName>ppt_y</p:attrName>
                                  </p:attrNameLst>
                                </p:cBhvr>
                                <p:tavLst>
                                  <p:tav tm="0">
                                    <p:val>
                                      <p:strVal val="#ppt_y+0.03"/>
                                    </p:val>
                                  </p:tav>
                                  <p:tav tm="100000">
                                    <p:val>
                                      <p:strVal val="#ppt_y"/>
                                    </p:val>
                                  </p:tav>
                                </p:tavLst>
                              </p:anim>
                            </p:childTnLst>
                          </p:cTn>
                        </p:par>
                        <p:par>
                          <p:cTn id="92" presetID="10" presetClass="entr" presetSubtype="0" fill="hold" nodeType="withEffect">
                            <p:stCondLst>
                              <p:cond delay="102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600"/>
                                  <p:tgtEl>
                                    <p:spTgt spid="26"/>
                                  </p:tgtEl>
                                </p:cBhvr>
                              </p:animEffect>
                              <p:anim calcmode="lin" valueType="num">
                                <p:cBhvr>
                                  <p:cTn id="95" dur="600" decel="100000" fill="hold"/>
                                  <p:tgtEl>
                                    <p:spTgt spid="26"/>
                                  </p:tgtEl>
                                  <p:attrNameLst>
                                    <p:attrName>ppt_y</p:attrName>
                                  </p:attrNameLst>
                                </p:cBhvr>
                                <p:tavLst>
                                  <p:tav tm="0">
                                    <p:val>
                                      <p:strVal val="#ppt_y+0.03"/>
                                    </p:val>
                                  </p:tav>
                                  <p:tav tm="100000">
                                    <p:val>
                                      <p:strVal val="#ppt_y"/>
                                    </p:val>
                                  </p:tav>
                                </p:tavLst>
                              </p:anim>
                            </p:childTnLst>
                          </p:cTn>
                        </p:par>
                        <p:par>
                          <p:cTn id="96" presetID="10" presetClass="entr" presetSubtype="0" fill="hold" nodeType="withEffect">
                            <p:stCondLst>
                              <p:cond delay="108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anim calcmode="lin" valueType="num">
                                <p:cBhvr>
                                  <p:cTn id="99" dur="600" decel="100000" fill="hold"/>
                                  <p:tgtEl>
                                    <p:spTgt spid="27"/>
                                  </p:tgtEl>
                                  <p:attrNameLst>
                                    <p:attrName>ppt_y</p:attrName>
                                  </p:attrNameLst>
                                </p:cBhvr>
                                <p:tavLst>
                                  <p:tav tm="0">
                                    <p:val>
                                      <p:strVal val="#ppt_y+0.03"/>
                                    </p:val>
                                  </p:tav>
                                  <p:tav tm="100000">
                                    <p:val>
                                      <p:strVal val="#ppt_y"/>
                                    </p:val>
                                  </p:tav>
                                </p:tavLst>
                              </p:anim>
                            </p:childTnLst>
                          </p:cTn>
                        </p:par>
                        <p:par>
                          <p:cTn id="100" presetID="10" presetClass="entr" presetSubtype="0" fill="hold" nodeType="withEffect">
                            <p:stCondLst>
                              <p:cond delay="114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600"/>
                                  <p:tgtEl>
                                    <p:spTgt spid="28"/>
                                  </p:tgtEl>
                                </p:cBhvr>
                              </p:animEffect>
                              <p:anim calcmode="lin" valueType="num">
                                <p:cBhvr>
                                  <p:cTn id="103" dur="600" decel="100000" fill="hold"/>
                                  <p:tgtEl>
                                    <p:spTgt spid="28"/>
                                  </p:tgtEl>
                                  <p:attrNameLst>
                                    <p:attrName>ppt_y</p:attrName>
                                  </p:attrNameLst>
                                </p:cBhvr>
                                <p:tavLst>
                                  <p:tav tm="0">
                                    <p:val>
                                      <p:strVal val="#ppt_y+0.03"/>
                                    </p:val>
                                  </p:tav>
                                  <p:tav tm="100000">
                                    <p:val>
                                      <p:strVal val="#ppt_y"/>
                                    </p:val>
                                  </p:tav>
                                </p:tavLst>
                              </p:anim>
                            </p:childTnLst>
                          </p:cTn>
                        </p:par>
                        <p:par>
                          <p:cTn id="104" presetID="10" presetClass="entr" presetSubtype="0" fill="hold" nodeType="withEffect">
                            <p:stCondLst>
                              <p:cond delay="120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600"/>
                                  <p:tgtEl>
                                    <p:spTgt spid="29"/>
                                  </p:tgtEl>
                                </p:cBhvr>
                              </p:animEffect>
                              <p:anim calcmode="lin" valueType="num">
                                <p:cBhvr>
                                  <p:cTn id="107" dur="600" decel="100000" fill="hold"/>
                                  <p:tgtEl>
                                    <p:spTgt spid="29"/>
                                  </p:tgtEl>
                                  <p:attrNameLst>
                                    <p:attrName>ppt_y</p:attrName>
                                  </p:attrNameLst>
                                </p:cBhvr>
                                <p:tavLst>
                                  <p:tav tm="0">
                                    <p:val>
                                      <p:strVal val="#ppt_y+0.03"/>
                                    </p:val>
                                  </p:tav>
                                  <p:tav tm="100000">
                                    <p:val>
                                      <p:strVal val="#ppt_y"/>
                                    </p:val>
                                  </p:tav>
                                </p:tavLst>
                              </p:anim>
                            </p:childTnLst>
                          </p:cTn>
                        </p:par>
                        <p:par>
                          <p:cTn id="108" presetID="10" presetClass="entr" presetSubtype="0" fill="hold" nodeType="withEffect">
                            <p:stCondLst>
                              <p:cond delay="126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600"/>
                                  <p:tgtEl>
                                    <p:spTgt spid="30"/>
                                  </p:tgtEl>
                                </p:cBhvr>
                              </p:animEffect>
                              <p:anim calcmode="lin" valueType="num">
                                <p:cBhvr>
                                  <p:cTn id="111" dur="600" decel="100000" fill="hold"/>
                                  <p:tgtEl>
                                    <p:spTgt spid="30"/>
                                  </p:tgtEl>
                                  <p:attrNameLst>
                                    <p:attrName>ppt_y</p:attrName>
                                  </p:attrNameLst>
                                </p:cBhvr>
                                <p:tavLst>
                                  <p:tav tm="0">
                                    <p:val>
                                      <p:strVal val="#ppt_y+0.03"/>
                                    </p:val>
                                  </p:tav>
                                  <p:tav tm="100000">
                                    <p:val>
                                      <p:strVal val="#ppt_y"/>
                                    </p:val>
                                  </p:tav>
                                </p:tavLst>
                              </p:anim>
                            </p:childTnLst>
                          </p:cTn>
                        </p:par>
                        <p:par>
                          <p:cTn id="112" presetID="10" presetClass="entr" presetSubtype="0" fill="hold" nodeType="withEffect">
                            <p:stCondLst>
                              <p:cond delay="1320"/>
                            </p:stCondLst>
                            <p:childTnLst>
                              <p:set>
                                <p:cBhvr>
                                  <p:cTn id="113" dur="1" fill="hold">
                                    <p:stCondLst>
                                      <p:cond delay="0"/>
                                    </p:stCondLst>
                                  </p:cTn>
                                  <p:tgtEl>
                                    <p:spTgt spid="31"/>
                                  </p:tgtEl>
                                  <p:attrNameLst>
                                    <p:attrName>style.visibility</p:attrName>
                                  </p:attrNameLst>
                                </p:cBhvr>
                                <p:to>
                                  <p:strVal val="visible"/>
                                </p:to>
                              </p:set>
                              <p:animEffect transition="in" filter="fade">
                                <p:cBhvr>
                                  <p:cTn id="114" dur="600"/>
                                  <p:tgtEl>
                                    <p:spTgt spid="31"/>
                                  </p:tgtEl>
                                </p:cBhvr>
                              </p:animEffect>
                              <p:anim calcmode="lin" valueType="num">
                                <p:cBhvr>
                                  <p:cTn id="115" dur="600" decel="100000" fill="hold"/>
                                  <p:tgtEl>
                                    <p:spTgt spid="31"/>
                                  </p:tgtEl>
                                  <p:attrNameLst>
                                    <p:attrName>ppt_y</p:attrName>
                                  </p:attrNameLst>
                                </p:cBhvr>
                                <p:tavLst>
                                  <p:tav tm="0">
                                    <p:val>
                                      <p:strVal val="#ppt_y+0.03"/>
                                    </p:val>
                                  </p:tav>
                                  <p:tav tm="100000">
                                    <p:val>
                                      <p:strVal val="#ppt_y"/>
                                    </p:val>
                                  </p:tav>
                                </p:tavLst>
                              </p:anim>
                            </p:childTnLst>
                          </p:cTn>
                        </p:par>
                        <p:par>
                          <p:cTn id="116" presetID="10" presetClass="entr" presetSubtype="0" fill="hold" nodeType="withEffect">
                            <p:stCondLst>
                              <p:cond delay="1380"/>
                            </p:stCondLst>
                            <p:childTnLst>
                              <p:set>
                                <p:cBhvr>
                                  <p:cTn id="117" dur="1" fill="hold">
                                    <p:stCondLst>
                                      <p:cond delay="0"/>
                                    </p:stCondLst>
                                  </p:cTn>
                                  <p:tgtEl>
                                    <p:spTgt spid="32"/>
                                  </p:tgtEl>
                                  <p:attrNameLst>
                                    <p:attrName>style.visibility</p:attrName>
                                  </p:attrNameLst>
                                </p:cBhvr>
                                <p:to>
                                  <p:strVal val="visible"/>
                                </p:to>
                              </p:set>
                              <p:animEffect transition="in" filter="fade">
                                <p:cBhvr>
                                  <p:cTn id="118" dur="600"/>
                                  <p:tgtEl>
                                    <p:spTgt spid="32"/>
                                  </p:tgtEl>
                                </p:cBhvr>
                              </p:animEffect>
                              <p:anim calcmode="lin" valueType="num">
                                <p:cBhvr>
                                  <p:cTn id="119" dur="600" decel="100000" fill="hold"/>
                                  <p:tgtEl>
                                    <p:spTgt spid="32"/>
                                  </p:tgtEl>
                                  <p:attrNameLst>
                                    <p:attrName>ppt_y</p:attrName>
                                  </p:attrNameLst>
                                </p:cBhvr>
                                <p:tavLst>
                                  <p:tav tm="0">
                                    <p:val>
                                      <p:strVal val="#ppt_y+0.03"/>
                                    </p:val>
                                  </p:tav>
                                  <p:tav tm="100000">
                                    <p:val>
                                      <p:strVal val="#ppt_y"/>
                                    </p:val>
                                  </p:tav>
                                </p:tavLst>
                              </p:anim>
                            </p:childTnLst>
                          </p:cTn>
                        </p:par>
                        <p:par>
                          <p:cTn id="120" presetID="10" presetClass="entr" presetSubtype="0" fill="hold" nodeType="withEffect">
                            <p:stCondLst>
                              <p:cond delay="144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600"/>
                                  <p:tgtEl>
                                    <p:spTgt spid="33"/>
                                  </p:tgtEl>
                                </p:cBhvr>
                              </p:animEffect>
                              <p:anim calcmode="lin" valueType="num">
                                <p:cBhvr>
                                  <p:cTn id="123" dur="600" decel="100000" fill="hold"/>
                                  <p:tgtEl>
                                    <p:spTgt spid="33"/>
                                  </p:tgtEl>
                                  <p:attrNameLst>
                                    <p:attrName>ppt_y</p:attrName>
                                  </p:attrNameLst>
                                </p:cBhvr>
                                <p:tavLst>
                                  <p:tav tm="0">
                                    <p:val>
                                      <p:strVal val="#ppt_y+0.03"/>
                                    </p:val>
                                  </p:tav>
                                  <p:tav tm="100000">
                                    <p:val>
                                      <p:strVal val="#ppt_y"/>
                                    </p:val>
                                  </p:tav>
                                </p:tavLst>
                              </p:anim>
                            </p:childTnLst>
                          </p:cTn>
                        </p:par>
                        <p:par>
                          <p:cTn id="124" presetID="10" presetClass="entr" presetSubtype="0" fill="hold" nodeType="withEffect">
                            <p:stCondLst>
                              <p:cond delay="180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600"/>
                                  <p:tgtEl>
                                    <p:spTgt spid="34"/>
                                  </p:tgtEl>
                                </p:cBhvr>
                              </p:animEffect>
                              <p:anim calcmode="lin" valueType="num">
                                <p:cBhvr>
                                  <p:cTn id="127" dur="600" decel="100000" fill="hold"/>
                                  <p:tgtEl>
                                    <p:spTgt spid="34"/>
                                  </p:tgtEl>
                                  <p:attrNameLst>
                                    <p:attrName>ppt_y</p:attrName>
                                  </p:attrNameLst>
                                </p:cBhvr>
                                <p:tavLst>
                                  <p:tav tm="0">
                                    <p:val>
                                      <p:strVal val="#ppt_y+0.03"/>
                                    </p:val>
                                  </p:tav>
                                  <p:tav tm="100000">
                                    <p:val>
                                      <p:strVal val="#ppt_y"/>
                                    </p:val>
                                  </p:tav>
                                </p:tavLst>
                              </p:anim>
                            </p:childTnLst>
                          </p:cTn>
                        </p:par>
                        <p:par>
                          <p:cTn id="128" presetID="10" presetClass="entr" presetSubtype="0" fill="hold" nodeType="withEffect">
                            <p:stCondLst>
                              <p:cond delay="186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600"/>
                                  <p:tgtEl>
                                    <p:spTgt spid="35"/>
                                  </p:tgtEl>
                                </p:cBhvr>
                              </p:animEffect>
                              <p:anim calcmode="lin" valueType="num">
                                <p:cBhvr>
                                  <p:cTn id="131" dur="600" decel="100000" fill="hold"/>
                                  <p:tgtEl>
                                    <p:spTgt spid="35"/>
                                  </p:tgtEl>
                                  <p:attrNameLst>
                                    <p:attrName>ppt_y</p:attrName>
                                  </p:attrNameLst>
                                </p:cBhvr>
                                <p:tavLst>
                                  <p:tav tm="0">
                                    <p:val>
                                      <p:strVal val="#ppt_y+0.03"/>
                                    </p:val>
                                  </p:tav>
                                  <p:tav tm="100000">
                                    <p:val>
                                      <p:strVal val="#ppt_y"/>
                                    </p:val>
                                  </p:tav>
                                </p:tavLst>
                              </p:anim>
                            </p:childTnLst>
                          </p:cTn>
                        </p:par>
                        <p:par>
                          <p:cTn id="132" presetID="10" presetClass="entr" presetSubtype="0" fill="hold" nodeType="withEffect">
                            <p:stCondLst>
                              <p:cond delay="1920"/>
                            </p:stCondLst>
                            <p:childTnLst>
                              <p:set>
                                <p:cBhvr>
                                  <p:cTn id="133" dur="1" fill="hold">
                                    <p:stCondLst>
                                      <p:cond delay="0"/>
                                    </p:stCondLst>
                                  </p:cTn>
                                  <p:tgtEl>
                                    <p:spTgt spid="36"/>
                                  </p:tgtEl>
                                  <p:attrNameLst>
                                    <p:attrName>style.visibility</p:attrName>
                                  </p:attrNameLst>
                                </p:cBhvr>
                                <p:to>
                                  <p:strVal val="visible"/>
                                </p:to>
                              </p:set>
                              <p:animEffect transition="in" filter="fade">
                                <p:cBhvr>
                                  <p:cTn id="134" dur="600"/>
                                  <p:tgtEl>
                                    <p:spTgt spid="36"/>
                                  </p:tgtEl>
                                </p:cBhvr>
                              </p:animEffect>
                              <p:anim calcmode="lin" valueType="num">
                                <p:cBhvr>
                                  <p:cTn id="135" dur="600" decel="100000" fill="hold"/>
                                  <p:tgtEl>
                                    <p:spTgt spid="36"/>
                                  </p:tgtEl>
                                  <p:attrNameLst>
                                    <p:attrName>ppt_y</p:attrName>
                                  </p:attrNameLst>
                                </p:cBhvr>
                                <p:tavLst>
                                  <p:tav tm="0">
                                    <p:val>
                                      <p:strVal val="#ppt_y+0.03"/>
                                    </p:val>
                                  </p:tav>
                                  <p:tav tm="100000">
                                    <p:val>
                                      <p:strVal val="#ppt_y"/>
                                    </p:val>
                                  </p:tav>
                                </p:tavLst>
                              </p:anim>
                            </p:childTnLst>
                          </p:cTn>
                        </p:par>
                        <p:par>
                          <p:cTn id="136" presetID="10" presetClass="entr" presetSubtype="0" fill="hold" nodeType="withEffect">
                            <p:stCondLst>
                              <p:cond delay="2250"/>
                            </p:stCondLst>
                            <p:childTnLst>
                              <p:set>
                                <p:cBhvr>
                                  <p:cTn id="137" dur="1" fill="hold">
                                    <p:stCondLst>
                                      <p:cond delay="0"/>
                                    </p:stCondLst>
                                  </p:cTn>
                                  <p:tgtEl>
                                    <p:spTgt spid="37"/>
                                  </p:tgtEl>
                                  <p:attrNameLst>
                                    <p:attrName>style.visibility</p:attrName>
                                  </p:attrNameLst>
                                </p:cBhvr>
                                <p:to>
                                  <p:strVal val="visible"/>
                                </p:to>
                              </p:set>
                              <p:animEffect transition="in" filter="fade">
                                <p:cBhvr>
                                  <p:cTn id="138" dur="600"/>
                                  <p:tgtEl>
                                    <p:spTgt spid="37"/>
                                  </p:tgtEl>
                                </p:cBhvr>
                              </p:animEffect>
                              <p:anim calcmode="lin" valueType="num">
                                <p:cBhvr>
                                  <p:cTn id="139" dur="600" decel="100000" fill="hold"/>
                                  <p:tgtEl>
                                    <p:spTgt spid="37"/>
                                  </p:tgtEl>
                                  <p:attrNameLst>
                                    <p:attrName>ppt_y</p:attrName>
                                  </p:attrNameLst>
                                </p:cBhvr>
                                <p:tavLst>
                                  <p:tav tm="0">
                                    <p:val>
                                      <p:strVal val="#ppt_y+0.03"/>
                                    </p:val>
                                  </p:tav>
                                  <p:tav tm="100000">
                                    <p:val>
                                      <p:strVal val="#ppt_y"/>
                                    </p:val>
                                  </p:tav>
                                </p:tavLst>
                              </p:anim>
                            </p:childTnLst>
                          </p:cTn>
                        </p:par>
                        <p:par>
                          <p:cTn id="140" presetID="10" presetClass="entr" presetSubtype="0" fill="hold" nodeType="withEffect">
                            <p:stCondLst>
                              <p:cond delay="2310"/>
                            </p:stCondLst>
                            <p:childTnLst>
                              <p:set>
                                <p:cBhvr>
                                  <p:cTn id="141" dur="1" fill="hold">
                                    <p:stCondLst>
                                      <p:cond delay="0"/>
                                    </p:stCondLst>
                                  </p:cTn>
                                  <p:tgtEl>
                                    <p:spTgt spid="38"/>
                                  </p:tgtEl>
                                  <p:attrNameLst>
                                    <p:attrName>style.visibility</p:attrName>
                                  </p:attrNameLst>
                                </p:cBhvr>
                                <p:to>
                                  <p:strVal val="visible"/>
                                </p:to>
                              </p:set>
                              <p:animEffect transition="in" filter="fade">
                                <p:cBhvr>
                                  <p:cTn id="142" dur="600"/>
                                  <p:tgtEl>
                                    <p:spTgt spid="38"/>
                                  </p:tgtEl>
                                </p:cBhvr>
                              </p:animEffect>
                              <p:anim calcmode="lin" valueType="num">
                                <p:cBhvr>
                                  <p:cTn id="143" dur="600" decel="100000" fill="hold"/>
                                  <p:tgtEl>
                                    <p:spTgt spid="38"/>
                                  </p:tgtEl>
                                  <p:attrNameLst>
                                    <p:attrName>ppt_y</p:attrName>
                                  </p:attrNameLst>
                                </p:cBhvr>
                                <p:tavLst>
                                  <p:tav tm="0">
                                    <p:val>
                                      <p:strVal val="#ppt_y+0.03"/>
                                    </p:val>
                                  </p:tav>
                                  <p:tav tm="100000">
                                    <p:val>
                                      <p:strVal val="#ppt_y"/>
                                    </p:val>
                                  </p:tav>
                                </p:tavLst>
                              </p:anim>
                            </p:childTnLst>
                          </p:cTn>
                        </p:par>
                        <p:par>
                          <p:cTn id="144" presetID="10" presetClass="entr" presetSubtype="0" fill="hold" nodeType="withEffect">
                            <p:stCondLst>
                              <p:cond delay="2370"/>
                            </p:stCondLst>
                            <p:childTnLst>
                              <p:set>
                                <p:cBhvr>
                                  <p:cTn id="145" dur="1" fill="hold">
                                    <p:stCondLst>
                                      <p:cond delay="0"/>
                                    </p:stCondLst>
                                  </p:cTn>
                                  <p:tgtEl>
                                    <p:spTgt spid="39"/>
                                  </p:tgtEl>
                                  <p:attrNameLst>
                                    <p:attrName>style.visibility</p:attrName>
                                  </p:attrNameLst>
                                </p:cBhvr>
                                <p:to>
                                  <p:strVal val="visible"/>
                                </p:to>
                              </p:set>
                              <p:animEffect transition="in" filter="fade">
                                <p:cBhvr>
                                  <p:cTn id="146" dur="600"/>
                                  <p:tgtEl>
                                    <p:spTgt spid="39"/>
                                  </p:tgtEl>
                                </p:cBhvr>
                              </p:animEffect>
                              <p:anim calcmode="lin" valueType="num">
                                <p:cBhvr>
                                  <p:cTn id="147" dur="600" decel="100000" fill="hold"/>
                                  <p:tgtEl>
                                    <p:spTgt spid="39"/>
                                  </p:tgtEl>
                                  <p:attrNameLst>
                                    <p:attrName>ppt_y</p:attrName>
                                  </p:attrNameLst>
                                </p:cBhvr>
                                <p:tavLst>
                                  <p:tav tm="0">
                                    <p:val>
                                      <p:strVal val="#ppt_y+0.03"/>
                                    </p:val>
                                  </p:tav>
                                  <p:tav tm="100000">
                                    <p:val>
                                      <p:strVal val="#ppt_y"/>
                                    </p:val>
                                  </p:tav>
                                </p:tavLst>
                              </p:anim>
                            </p:childTnLst>
                          </p:cTn>
                        </p:par>
                        <p:par>
                          <p:cTn id="148" presetID="10" presetClass="entr" presetSubtype="0" fill="hold" nodeType="withEffect">
                            <p:stCondLst>
                              <p:cond delay="2700"/>
                            </p:stCondLst>
                            <p:childTnLst>
                              <p:set>
                                <p:cBhvr>
                                  <p:cTn id="149" dur="1" fill="hold">
                                    <p:stCondLst>
                                      <p:cond delay="0"/>
                                    </p:stCondLst>
                                  </p:cTn>
                                  <p:tgtEl>
                                    <p:spTgt spid="40"/>
                                  </p:tgtEl>
                                  <p:attrNameLst>
                                    <p:attrName>style.visibility</p:attrName>
                                  </p:attrNameLst>
                                </p:cBhvr>
                                <p:to>
                                  <p:strVal val="visible"/>
                                </p:to>
                              </p:set>
                              <p:animEffect transition="in" filter="fade">
                                <p:cBhvr>
                                  <p:cTn id="150" dur="600"/>
                                  <p:tgtEl>
                                    <p:spTgt spid="40"/>
                                  </p:tgtEl>
                                </p:cBhvr>
                              </p:animEffect>
                              <p:anim calcmode="lin" valueType="num">
                                <p:cBhvr>
                                  <p:cTn id="151" dur="600" decel="100000" fill="hold"/>
                                  <p:tgtEl>
                                    <p:spTgt spid="40"/>
                                  </p:tgtEl>
                                  <p:attrNameLst>
                                    <p:attrName>ppt_y</p:attrName>
                                  </p:attrNameLst>
                                </p:cBhvr>
                                <p:tavLst>
                                  <p:tav tm="0">
                                    <p:val>
                                      <p:strVal val="#ppt_y+0.03"/>
                                    </p:val>
                                  </p:tav>
                                  <p:tav tm="100000">
                                    <p:val>
                                      <p:strVal val="#ppt_y"/>
                                    </p:val>
                                  </p:tav>
                                </p:tavLst>
                              </p:anim>
                            </p:childTnLst>
                          </p:cTn>
                        </p:par>
                        <p:par>
                          <p:cTn id="152" presetID="10" presetClass="entr" presetSubtype="0" fill="hold" nodeType="withEffect">
                            <p:stCondLst>
                              <p:cond delay="2760"/>
                            </p:stCondLst>
                            <p:childTnLst>
                              <p:set>
                                <p:cBhvr>
                                  <p:cTn id="153" dur="1" fill="hold">
                                    <p:stCondLst>
                                      <p:cond delay="0"/>
                                    </p:stCondLst>
                                  </p:cTn>
                                  <p:tgtEl>
                                    <p:spTgt spid="41"/>
                                  </p:tgtEl>
                                  <p:attrNameLst>
                                    <p:attrName>style.visibility</p:attrName>
                                  </p:attrNameLst>
                                </p:cBhvr>
                                <p:to>
                                  <p:strVal val="visible"/>
                                </p:to>
                              </p:set>
                              <p:animEffect transition="in" filter="fade">
                                <p:cBhvr>
                                  <p:cTn id="154" dur="600"/>
                                  <p:tgtEl>
                                    <p:spTgt spid="41"/>
                                  </p:tgtEl>
                                </p:cBhvr>
                              </p:animEffect>
                              <p:anim calcmode="lin" valueType="num">
                                <p:cBhvr>
                                  <p:cTn id="155" dur="600" decel="100000" fill="hold"/>
                                  <p:tgtEl>
                                    <p:spTgt spid="41"/>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6400800" cy="411480"/>
          </a:xfrm>
          <a:prstGeom prst="rect">
            <a:avLst/>
          </a:prstGeom>
          <a:noFill/>
          <a:ln/>
        </p:spPr>
        <p:txBody>
          <a:bodyPr wrap="square" rtlCol="0"/>
          <a:lstStyle/>
          <a:p>
            <a:pPr indent="0" marL="0">
              <a:buNone/>
            </a:pPr>
            <a:r>
              <a:rPr lang="en-US" sz="1800" dirty="0">
                <a:solidFill>
                  <a:schemeClr val="accent4"/>
                </a:solidFill>
              </a:rPr>
              <a:t>Prochaine étape</a:t>
            </a:r>
            <a:endParaRPr lang="en-US" sz="1800" dirty="0"/>
          </a:p>
        </p:txBody>
      </p:sp>
      <p:sp>
        <p:nvSpPr>
          <p:cNvPr id="3" name="Text 0"/>
          <p:cNvSpPr/>
          <p:nvPr>
            <p:ph idx="101" type="title" hasCustomPrompt="1"/>
          </p:nvPr>
        </p:nvSpPr>
        <p:spPr>
          <a:xfrm>
            <a:off x="731520" y="2468880"/>
            <a:ext cx="6766560" cy="2011680"/>
          </a:xfrm>
          <a:prstGeom prst="rect">
            <a:avLst/>
          </a:prstGeom>
          <a:noFill/>
          <a:ln/>
        </p:spPr>
        <p:txBody>
          <a:bodyPr wrap="square" rtlCol="0" anchor="t"/>
          <a:lstStyle/>
          <a:p>
            <a:pPr algn="l" indent="0" marL="0">
              <a:buNone/>
            </a:pPr>
            <a:r>
              <a:rPr lang="en-US" sz="4000" b="1" dirty="0">
                <a:solidFill>
                  <a:schemeClr val="bg1"/>
                </a:solidFill>
              </a:rPr>
              <a:t>Prêt à reprendre le contrôle ?</a:t>
            </a:r>
            <a:endParaRPr lang="en-US" sz="4000" dirty="0"/>
          </a:p>
        </p:txBody>
      </p:sp>
      <p:sp>
        <p:nvSpPr>
          <p:cNvPr id="4" name="a1_310"/>
          <p:cNvSpPr txBox="1"/>
          <p:nvPr/>
        </p:nvSpPr>
        <p:spPr>
          <a:xfrm>
            <a:off x="731520" y="3749040"/>
            <a:ext cx="6400800" cy="548640"/>
          </a:xfrm>
          <a:prstGeom prst="rect">
            <a:avLst/>
          </a:prstGeom>
          <a:noFill/>
          <a:ln/>
        </p:spPr>
        <p:txBody>
          <a:bodyPr wrap="square" lIns="0" tIns="0" rIns="0" bIns="0" rtlCol="0" anchor="ctr"/>
          <a:lstStyle/>
          <a:p>
            <a:pPr indent="0" marL="0">
              <a:buNone/>
            </a:pPr>
            <a:r>
              <a:rPr lang="en-US" sz="2000" dirty="0">
                <a:solidFill>
                  <a:schemeClr val="accent4"/>
                </a:solidFill>
              </a:rPr>
              <a:t>Votre infrastructure opérationnelle en 1 à 2 semaines.</a:t>
            </a:r>
            <a:endParaRPr lang="en-US" sz="2000" dirty="0"/>
          </a:p>
        </p:txBody>
      </p:sp>
      <p:sp>
        <p:nvSpPr>
          <p:cNvPr id="5" name="a2_311"/>
          <p:cNvSpPr/>
          <p:nvPr/>
        </p:nvSpPr>
        <p:spPr>
          <a:xfrm>
            <a:off x="7863840" y="1463040"/>
            <a:ext cx="3749040" cy="1188720"/>
          </a:xfrm>
          <a:prstGeom prst="roundRect">
            <a:avLst>
              <a:gd name="adj" fmla="val 10769"/>
            </a:avLst>
          </a:prstGeom>
          <a:solidFill>
            <a:schemeClr val="bg1"/>
          </a:solidFill>
          <a:ln w="12700">
            <a:solidFill>
              <a:schemeClr val="bg1"/>
            </a:solidFill>
            <a:prstDash val="solid"/>
          </a:ln>
          <a:effectLst>
            <a:outerShdw sx="100000" sy="100000" kx="0" ky="0" algn="bl" rotWithShape="0" blurRad="127000" dist="38100" dir="5400000">
              <a:srgbClr val="0B2A6F">
                <a:alpha val="12000"/>
              </a:srgbClr>
            </a:outerShdw>
          </a:effectLst>
        </p:spPr>
      </p:sp>
      <p:sp>
        <p:nvSpPr>
          <p:cNvPr id="6" name="a2_312"/>
          <p:cNvSpPr/>
          <p:nvPr/>
        </p:nvSpPr>
        <p:spPr>
          <a:xfrm>
            <a:off x="8092440" y="1691640"/>
            <a:ext cx="731520" cy="731520"/>
          </a:xfrm>
          <a:prstGeom prst="ellipse">
            <a:avLst/>
          </a:prstGeom>
          <a:solidFill>
            <a:schemeClr val="accent1"/>
          </a:solidFill>
          <a:ln w="12700">
            <a:solidFill>
              <a:schemeClr val="accent1"/>
            </a:solidFill>
            <a:prstDash val="solid"/>
          </a:ln>
        </p:spPr>
      </p:sp>
      <p:pic>
        <p:nvPicPr>
          <p:cNvPr id="7" name="a2_313" descr="preencoded.png">    </p:cNvPr>
          <p:cNvPicPr>
            <a:picLocks noChangeAspect="1"/>
          </p:cNvPicPr>
          <p:nvPr/>
        </p:nvPicPr>
        <p:blipFill>
          <a:blip r:embed="rId1"/>
          <a:stretch>
            <a:fillRect/>
          </a:stretch>
        </p:blipFill>
        <p:spPr>
          <a:xfrm>
            <a:off x="8282635" y="1881835"/>
            <a:ext cx="351130" cy="351130"/>
          </a:xfrm>
          <a:prstGeom prst="rect">
            <a:avLst/>
          </a:prstGeom>
        </p:spPr>
      </p:pic>
      <p:sp>
        <p:nvSpPr>
          <p:cNvPr id="8" name="a2_314"/>
          <p:cNvSpPr txBox="1"/>
          <p:nvPr/>
        </p:nvSpPr>
        <p:spPr>
          <a:xfrm>
            <a:off x="9006840" y="1463040"/>
            <a:ext cx="2468880" cy="1188720"/>
          </a:xfrm>
          <a:prstGeom prst="rect">
            <a:avLst/>
          </a:prstGeom>
          <a:noFill/>
          <a:ln/>
        </p:spPr>
        <p:txBody>
          <a:bodyPr wrap="square" lIns="0" tIns="0" rIns="0" bIns="0" rtlCol="0" anchor="ctr"/>
          <a:lstStyle/>
          <a:p>
            <a:pPr indent="0" marL="0">
              <a:buNone/>
            </a:pPr>
            <a:r>
              <a:rPr lang="en-US" sz="1600" b="1" dirty="0">
                <a:solidFill>
                  <a:schemeClr val="tx2"/>
                </a:solidFill>
              </a:rPr>
              <a:t>Validation de la proposition</a:t>
            </a:r>
            <a:endParaRPr lang="en-US" sz="1600" dirty="0"/>
          </a:p>
        </p:txBody>
      </p:sp>
      <p:sp>
        <p:nvSpPr>
          <p:cNvPr id="9" name="a3_315"/>
          <p:cNvSpPr/>
          <p:nvPr/>
        </p:nvSpPr>
        <p:spPr>
          <a:xfrm>
            <a:off x="7863840" y="2880360"/>
            <a:ext cx="3749040" cy="1188720"/>
          </a:xfrm>
          <a:prstGeom prst="roundRect">
            <a:avLst>
              <a:gd name="adj" fmla="val 10769"/>
            </a:avLst>
          </a:prstGeom>
          <a:solidFill>
            <a:schemeClr val="bg1"/>
          </a:solidFill>
          <a:ln w="12700">
            <a:solidFill>
              <a:schemeClr val="bg1"/>
            </a:solidFill>
            <a:prstDash val="solid"/>
          </a:ln>
          <a:effectLst>
            <a:outerShdw sx="100000" sy="100000" kx="0" ky="0" algn="bl" rotWithShape="0" blurRad="127000" dist="38100" dir="5400000">
              <a:srgbClr val="0B2A6F">
                <a:alpha val="12000"/>
              </a:srgbClr>
            </a:outerShdw>
          </a:effectLst>
        </p:spPr>
      </p:sp>
      <p:sp>
        <p:nvSpPr>
          <p:cNvPr id="10" name="a3_316"/>
          <p:cNvSpPr/>
          <p:nvPr/>
        </p:nvSpPr>
        <p:spPr>
          <a:xfrm>
            <a:off x="8092440" y="3108960"/>
            <a:ext cx="731520" cy="731520"/>
          </a:xfrm>
          <a:prstGeom prst="ellipse">
            <a:avLst/>
          </a:prstGeom>
          <a:solidFill>
            <a:schemeClr val="accent1"/>
          </a:solidFill>
          <a:ln w="12700">
            <a:solidFill>
              <a:schemeClr val="accent1"/>
            </a:solidFill>
            <a:prstDash val="solid"/>
          </a:ln>
        </p:spPr>
      </p:sp>
      <p:pic>
        <p:nvPicPr>
          <p:cNvPr id="11" name="a3_317" descr="preencoded.png">    </p:cNvPr>
          <p:cNvPicPr>
            <a:picLocks noChangeAspect="1"/>
          </p:cNvPicPr>
          <p:nvPr/>
        </p:nvPicPr>
        <p:blipFill>
          <a:blip r:embed="rId2"/>
          <a:stretch>
            <a:fillRect/>
          </a:stretch>
        </p:blipFill>
        <p:spPr>
          <a:xfrm>
            <a:off x="8282635" y="3299155"/>
            <a:ext cx="351130" cy="351130"/>
          </a:xfrm>
          <a:prstGeom prst="rect">
            <a:avLst/>
          </a:prstGeom>
        </p:spPr>
      </p:pic>
      <p:sp>
        <p:nvSpPr>
          <p:cNvPr id="12" name="a3_318"/>
          <p:cNvSpPr txBox="1"/>
          <p:nvPr/>
        </p:nvSpPr>
        <p:spPr>
          <a:xfrm>
            <a:off x="9006840" y="2880360"/>
            <a:ext cx="2468880" cy="1188720"/>
          </a:xfrm>
          <a:prstGeom prst="rect">
            <a:avLst/>
          </a:prstGeom>
          <a:noFill/>
          <a:ln/>
        </p:spPr>
        <p:txBody>
          <a:bodyPr wrap="square" lIns="0" tIns="0" rIns="0" bIns="0" rtlCol="0" anchor="ctr"/>
          <a:lstStyle/>
          <a:p>
            <a:pPr indent="0" marL="0">
              <a:buNone/>
            </a:pPr>
            <a:r>
              <a:rPr lang="en-US" sz="1600" b="1" dirty="0">
                <a:solidFill>
                  <a:schemeClr val="tx2"/>
                </a:solidFill>
              </a:rPr>
              <a:t>Livraison et installation du serveur</a:t>
            </a:r>
            <a:endParaRPr lang="en-US" sz="1600" dirty="0"/>
          </a:p>
        </p:txBody>
      </p:sp>
      <p:sp>
        <p:nvSpPr>
          <p:cNvPr id="13" name="a4_319"/>
          <p:cNvSpPr/>
          <p:nvPr/>
        </p:nvSpPr>
        <p:spPr>
          <a:xfrm>
            <a:off x="7863840" y="4297680"/>
            <a:ext cx="3749040" cy="1188720"/>
          </a:xfrm>
          <a:prstGeom prst="roundRect">
            <a:avLst>
              <a:gd name="adj" fmla="val 10769"/>
            </a:avLst>
          </a:prstGeom>
          <a:solidFill>
            <a:schemeClr val="bg1"/>
          </a:solidFill>
          <a:ln w="12700">
            <a:solidFill>
              <a:schemeClr val="bg1"/>
            </a:solidFill>
            <a:prstDash val="solid"/>
          </a:ln>
          <a:effectLst>
            <a:outerShdw sx="100000" sy="100000" kx="0" ky="0" algn="bl" rotWithShape="0" blurRad="127000" dist="38100" dir="5400000">
              <a:srgbClr val="0B2A6F">
                <a:alpha val="12000"/>
              </a:srgbClr>
            </a:outerShdw>
          </a:effectLst>
        </p:spPr>
      </p:sp>
      <p:sp>
        <p:nvSpPr>
          <p:cNvPr id="14" name="a4_320"/>
          <p:cNvSpPr/>
          <p:nvPr/>
        </p:nvSpPr>
        <p:spPr>
          <a:xfrm>
            <a:off x="8092440" y="4526280"/>
            <a:ext cx="731520" cy="731520"/>
          </a:xfrm>
          <a:prstGeom prst="ellipse">
            <a:avLst/>
          </a:prstGeom>
          <a:solidFill>
            <a:schemeClr val="accent1"/>
          </a:solidFill>
          <a:ln w="12700">
            <a:solidFill>
              <a:schemeClr val="accent1"/>
            </a:solidFill>
            <a:prstDash val="solid"/>
          </a:ln>
        </p:spPr>
      </p:sp>
      <p:pic>
        <p:nvPicPr>
          <p:cNvPr id="15" name="a4_321" descr="preencoded.png">    </p:cNvPr>
          <p:cNvPicPr>
            <a:picLocks noChangeAspect="1"/>
          </p:cNvPicPr>
          <p:nvPr/>
        </p:nvPicPr>
        <p:blipFill>
          <a:blip r:embed="rId3"/>
          <a:stretch>
            <a:fillRect/>
          </a:stretch>
        </p:blipFill>
        <p:spPr>
          <a:xfrm>
            <a:off x="8282635" y="4716475"/>
            <a:ext cx="351130" cy="351130"/>
          </a:xfrm>
          <a:prstGeom prst="rect">
            <a:avLst/>
          </a:prstGeom>
        </p:spPr>
      </p:pic>
      <p:sp>
        <p:nvSpPr>
          <p:cNvPr id="16" name="a4_322"/>
          <p:cNvSpPr txBox="1"/>
          <p:nvPr/>
        </p:nvSpPr>
        <p:spPr>
          <a:xfrm>
            <a:off x="9006840" y="4297680"/>
            <a:ext cx="2468880" cy="1188720"/>
          </a:xfrm>
          <a:prstGeom prst="rect">
            <a:avLst/>
          </a:prstGeom>
          <a:noFill/>
          <a:ln/>
        </p:spPr>
        <p:txBody>
          <a:bodyPr wrap="square" lIns="0" tIns="0" rIns="0" bIns="0" rtlCol="0" anchor="ctr"/>
          <a:lstStyle/>
          <a:p>
            <a:pPr indent="0" marL="0">
              <a:buNone/>
            </a:pPr>
            <a:r>
              <a:rPr lang="en-US" sz="1600" b="1" dirty="0">
                <a:solidFill>
                  <a:schemeClr val="tx2"/>
                </a:solidFill>
              </a:rPr>
              <a:t>Mise en service et site en ligne</a:t>
            </a:r>
            <a:endParaRPr lang="en-US" sz="1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anim calcmode="lin" valueType="num">
                                <p:cBhvr>
                                  <p:cTn id="7" dur="600" decel="100000" fill="hold"/>
                                  <p:tgtEl>
                                    <p:spTgt spid="4"/>
                                  </p:tgtEl>
                                  <p:attrNameLst>
                                    <p:attrName>ppt_y</p:attrName>
                                  </p:attrNameLst>
                                </p:cBhvr>
                                <p:tavLst>
                                  <p:tav tm="0">
                                    <p:val>
                                      <p:strVal val="#ppt_y+0.03"/>
                                    </p:val>
                                  </p:tav>
                                  <p:tav tm="100000">
                                    <p:val>
                                      <p:strVal val="#ppt_y"/>
                                    </p:val>
                                  </p:tav>
                                </p:tavLst>
                              </p:anim>
                            </p:childTnLst>
                          </p:cTn>
                        </p:par>
                        <p:par>
                          <p:cTn id="8" presetID="10" presetClass="entr" presetSubtype="0" fill="hold" nodeType="withEffect">
                            <p:stCondLst>
                              <p:cond delay="4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decel="100000" fill="hold"/>
                                  <p:tgtEl>
                                    <p:spTgt spid="5"/>
                                  </p:tgtEl>
                                  <p:attrNameLst>
                                    <p:attrName>ppt_y</p:attrName>
                                  </p:attrNameLst>
                                </p:cBhvr>
                                <p:tavLst>
                                  <p:tav tm="0">
                                    <p:val>
                                      <p:strVal val="#ppt_y+0.03"/>
                                    </p:val>
                                  </p:tav>
                                  <p:tav tm="100000">
                                    <p:val>
                                      <p:strVal val="#ppt_y"/>
                                    </p:val>
                                  </p:tav>
                                </p:tavLst>
                              </p:anim>
                            </p:childTnLst>
                          </p:cTn>
                        </p:par>
                        <p:par>
                          <p:cTn id="12" presetID="10" presetClass="entr" presetSubtype="0" fill="hold" nodeType="withEffect">
                            <p:stCondLst>
                              <p:cond delay="51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decel="100000" fill="hold"/>
                                  <p:tgtEl>
                                    <p:spTgt spid="6"/>
                                  </p:tgtEl>
                                  <p:attrNameLst>
                                    <p:attrName>ppt_y</p:attrName>
                                  </p:attrNameLst>
                                </p:cBhvr>
                                <p:tavLst>
                                  <p:tav tm="0">
                                    <p:val>
                                      <p:strVal val="#ppt_y+0.03"/>
                                    </p:val>
                                  </p:tav>
                                  <p:tav tm="100000">
                                    <p:val>
                                      <p:strVal val="#ppt_y"/>
                                    </p:val>
                                  </p:tav>
                                </p:tavLst>
                              </p:anim>
                            </p:childTnLst>
                          </p:cTn>
                        </p:par>
                        <p:par>
                          <p:cTn id="16" presetID="10" presetClass="entr" presetSubtype="0" fill="hold" nodeType="withEffect">
                            <p:stCondLst>
                              <p:cond delay="57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p:cTn id="19" dur="600" decel="100000" fill="hold"/>
                                  <p:tgtEl>
                                    <p:spTgt spid="7"/>
                                  </p:tgtEl>
                                  <p:attrNameLst>
                                    <p:attrName>ppt_y</p:attrName>
                                  </p:attrNameLst>
                                </p:cBhvr>
                                <p:tavLst>
                                  <p:tav tm="0">
                                    <p:val>
                                      <p:strVal val="#ppt_y+0.03"/>
                                    </p:val>
                                  </p:tav>
                                  <p:tav tm="100000">
                                    <p:val>
                                      <p:strVal val="#ppt_y"/>
                                    </p:val>
                                  </p:tav>
                                </p:tavLst>
                              </p:anim>
                            </p:childTnLst>
                          </p:cTn>
                        </p:par>
                        <p:par>
                          <p:cTn id="20" presetID="10" presetClass="entr" presetSubtype="0" fill="hold" nodeType="withEffect">
                            <p:stCondLst>
                              <p:cond delay="63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decel="100000" fill="hold"/>
                                  <p:tgtEl>
                                    <p:spTgt spid="8"/>
                                  </p:tgtEl>
                                  <p:attrNameLst>
                                    <p:attrName>ppt_y</p:attrName>
                                  </p:attrNameLst>
                                </p:cBhvr>
                                <p:tavLst>
                                  <p:tav tm="0">
                                    <p:val>
                                      <p:strVal val="#ppt_y+0.03"/>
                                    </p:val>
                                  </p:tav>
                                  <p:tav tm="100000">
                                    <p:val>
                                      <p:strVal val="#ppt_y"/>
                                    </p:val>
                                  </p:tav>
                                </p:tavLst>
                              </p:anim>
                            </p:childTnLst>
                          </p:cTn>
                        </p:par>
                        <p:par>
                          <p:cTn id="24" presetID="10" presetClass="entr" presetSubtype="0" fill="hold" nodeType="withEffect">
                            <p:stCondLst>
                              <p:cond delay="9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ppt_y</p:attrName>
                                  </p:attrNameLst>
                                </p:cBhvr>
                                <p:tavLst>
                                  <p:tav tm="0">
                                    <p:val>
                                      <p:strVal val="#ppt_y+0.03"/>
                                    </p:val>
                                  </p:tav>
                                  <p:tav tm="100000">
                                    <p:val>
                                      <p:strVal val="#ppt_y"/>
                                    </p:val>
                                  </p:tav>
                                </p:tavLst>
                              </p:anim>
                            </p:childTnLst>
                          </p:cTn>
                        </p:par>
                        <p:par>
                          <p:cTn id="28" presetID="10" presetClass="entr" presetSubtype="0" fill="hold" nodeType="withEffect">
                            <p:stCondLst>
                              <p:cond delay="9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anim calcmode="lin" valueType="num">
                                <p:cBhvr>
                                  <p:cTn id="31" dur="600" decel="100000" fill="hold"/>
                                  <p:tgtEl>
                                    <p:spTgt spid="10"/>
                                  </p:tgtEl>
                                  <p:attrNameLst>
                                    <p:attrName>ppt_y</p:attrName>
                                  </p:attrNameLst>
                                </p:cBhvr>
                                <p:tavLst>
                                  <p:tav tm="0">
                                    <p:val>
                                      <p:strVal val="#ppt_y+0.03"/>
                                    </p:val>
                                  </p:tav>
                                  <p:tav tm="100000">
                                    <p:val>
                                      <p:strVal val="#ppt_y"/>
                                    </p:val>
                                  </p:tav>
                                </p:tavLst>
                              </p:anim>
                            </p:childTnLst>
                          </p:cTn>
                        </p:par>
                        <p:par>
                          <p:cTn id="32" presetID="10" presetClass="entr" presetSubtype="0" fill="hold" nodeType="withEffect">
                            <p:stCondLst>
                              <p:cond delay="102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anim calcmode="lin" valueType="num">
                                <p:cBhvr>
                                  <p:cTn id="35" dur="600" decel="100000" fill="hold"/>
                                  <p:tgtEl>
                                    <p:spTgt spid="11"/>
                                  </p:tgtEl>
                                  <p:attrNameLst>
                                    <p:attrName>ppt_y</p:attrName>
                                  </p:attrNameLst>
                                </p:cBhvr>
                                <p:tavLst>
                                  <p:tav tm="0">
                                    <p:val>
                                      <p:strVal val="#ppt_y+0.03"/>
                                    </p:val>
                                  </p:tav>
                                  <p:tav tm="100000">
                                    <p:val>
                                      <p:strVal val="#ppt_y"/>
                                    </p:val>
                                  </p:tav>
                                </p:tavLst>
                              </p:anim>
                            </p:childTnLst>
                          </p:cTn>
                        </p:par>
                        <p:par>
                          <p:cTn id="36" presetID="10" presetClass="entr" presetSubtype="0" fill="hold" nodeType="withEffect">
                            <p:stCondLst>
                              <p:cond delay="10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ppt_y</p:attrName>
                                  </p:attrNameLst>
                                </p:cBhvr>
                                <p:tavLst>
                                  <p:tav tm="0">
                                    <p:val>
                                      <p:strVal val="#ppt_y+0.03"/>
                                    </p:val>
                                  </p:tav>
                                  <p:tav tm="100000">
                                    <p:val>
                                      <p:strVal val="#ppt_y"/>
                                    </p:val>
                                  </p:tav>
                                </p:tavLst>
                              </p:anim>
                            </p:childTnLst>
                          </p:cTn>
                        </p:par>
                        <p:par>
                          <p:cTn id="40" presetID="10" presetClass="entr" presetSubtype="0" fill="hold" nodeType="withEffect">
                            <p:stCondLst>
                              <p:cond delay="135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p:cTn id="43" dur="600" decel="100000" fill="hold"/>
                                  <p:tgtEl>
                                    <p:spTgt spid="13"/>
                                  </p:tgtEl>
                                  <p:attrNameLst>
                                    <p:attrName>ppt_y</p:attrName>
                                  </p:attrNameLst>
                                </p:cBhvr>
                                <p:tavLst>
                                  <p:tav tm="0">
                                    <p:val>
                                      <p:strVal val="#ppt_y+0.03"/>
                                    </p:val>
                                  </p:tav>
                                  <p:tav tm="100000">
                                    <p:val>
                                      <p:strVal val="#ppt_y"/>
                                    </p:val>
                                  </p:tav>
                                </p:tavLst>
                              </p:anim>
                            </p:childTnLst>
                          </p:cTn>
                        </p:par>
                        <p:par>
                          <p:cTn id="44" presetID="10" presetClass="entr" presetSubtype="0" fill="hold" nodeType="withEffect">
                            <p:stCondLst>
                              <p:cond delay="141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00"/>
                                  <p:tgtEl>
                                    <p:spTgt spid="14"/>
                                  </p:tgtEl>
                                </p:cBhvr>
                              </p:animEffect>
                              <p:anim calcmode="lin" valueType="num">
                                <p:cBhvr>
                                  <p:cTn id="47" dur="600" decel="100000" fill="hold"/>
                                  <p:tgtEl>
                                    <p:spTgt spid="14"/>
                                  </p:tgtEl>
                                  <p:attrNameLst>
                                    <p:attrName>ppt_y</p:attrName>
                                  </p:attrNameLst>
                                </p:cBhvr>
                                <p:tavLst>
                                  <p:tav tm="0">
                                    <p:val>
                                      <p:strVal val="#ppt_y+0.03"/>
                                    </p:val>
                                  </p:tav>
                                  <p:tav tm="100000">
                                    <p:val>
                                      <p:strVal val="#ppt_y"/>
                                    </p:val>
                                  </p:tav>
                                </p:tavLst>
                              </p:anim>
                            </p:childTnLst>
                          </p:cTn>
                        </p:par>
                        <p:par>
                          <p:cTn id="48" presetID="10" presetClass="entr" presetSubtype="0" fill="hold" nodeType="withEffect">
                            <p:stCondLst>
                              <p:cond delay="147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600"/>
                                  <p:tgtEl>
                                    <p:spTgt spid="15"/>
                                  </p:tgtEl>
                                </p:cBhvr>
                              </p:animEffect>
                              <p:anim calcmode="lin" valueType="num">
                                <p:cBhvr>
                                  <p:cTn id="51" dur="600" decel="100000" fill="hold"/>
                                  <p:tgtEl>
                                    <p:spTgt spid="15"/>
                                  </p:tgtEl>
                                  <p:attrNameLst>
                                    <p:attrName>ppt_y</p:attrName>
                                  </p:attrNameLst>
                                </p:cBhvr>
                                <p:tavLst>
                                  <p:tav tm="0">
                                    <p:val>
                                      <p:strVal val="#ppt_y+0.03"/>
                                    </p:val>
                                  </p:tav>
                                  <p:tav tm="100000">
                                    <p:val>
                                      <p:strVal val="#ppt_y"/>
                                    </p:val>
                                  </p:tav>
                                </p:tavLst>
                              </p:anim>
                            </p:childTnLst>
                          </p:cTn>
                        </p:par>
                        <p:par>
                          <p:cTn id="52" presetID="10" presetClass="entr" presetSubtype="0" fill="hold" nodeType="withEffect">
                            <p:stCondLst>
                              <p:cond delay="153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00"/>
                                  <p:tgtEl>
                                    <p:spTgt spid="16"/>
                                  </p:tgtEl>
                                </p:cBhvr>
                              </p:animEffect>
                              <p:anim calcmode="lin" valueType="num">
                                <p:cBhvr>
                                  <p:cTn id="55" dur="600" decel="100000" fill="hold"/>
                                  <p:tgtEl>
                                    <p:spTgt spid="16"/>
                                  </p:tgtEl>
                                  <p:attrNameLst>
                                    <p:attrName>ppt_y</p:attrName>
                                  </p:attrNameLst>
                                </p:cBhvr>
                                <p:tavLst>
                                  <p:tav tm="0">
                                    <p:val>
                                      <p:strVal val="#ppt_y+0.03"/>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Infra Bleu">
  <a:themeElements>
    <a:clrScheme name="Infra Bleu">
      <a:dk1>
        <a:srgbClr val="0B1B3F"/>
      </a:dk1>
      <a:lt1>
        <a:srgbClr val="FFFFFF"/>
      </a:lt1>
      <a:dk2>
        <a:srgbClr val="0B2A6F"/>
      </a:dk2>
      <a:lt2>
        <a:srgbClr val="EEF3FD"/>
      </a:lt2>
      <a:accent1>
        <a:srgbClr val="2F6BFF"/>
      </a:accent1>
      <a:accent2>
        <a:srgbClr val="00B8D4"/>
      </a:accent2>
      <a:accent3>
        <a:srgbClr val="7FA4FF"/>
      </a:accent3>
      <a:accent4>
        <a:srgbClr val="C9D8FF"/>
      </a:accent4>
      <a:accent5>
        <a:srgbClr val="16B37A"/>
      </a:accent5>
      <a:accent6>
        <a:srgbClr val="64748B"/>
      </a:accent6>
      <a:hlink>
        <a:srgbClr val="2F6BFF"/>
      </a:hlink>
      <a:folHlink>
        <a:srgbClr val="0B2A6F"/>
      </a:folHlink>
    </a:clrScheme>
    <a:fontScheme name="Infra Bleu">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Proposition – Infrastructure serveur pour PME</dc:title>
  <dc:subject>Proxmox, Windows Server, Active Directory, GPO, Tailscale</dc:subject>
  <dc:creator>PptxGenJS</dc:creator>
  <cp:lastModifiedBy>PptxGenJS</cp:lastModifiedBy>
  <cp:revision>1</cp:revision>
  <dcterms:created xsi:type="dcterms:W3CDTF">2026-10-30T03:00:51Z</dcterms:created>
  <dcterms:modified xsi:type="dcterms:W3CDTF">2026-10-30T03:00:51Z</dcterms:modified>
</cp:coreProperties>
</file>